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0E5"/>
        </a:solidFill>
      </p:bgPr>
    </p:bg>
    <p:spTree>
      <p:nvGrpSpPr>
        <p:cNvPr id="1" name=""/>
        <p:cNvGrpSpPr/>
        <p:nvPr/>
      </p:nvGrpSpPr>
      <p:grpSpPr>
        <a:xfrm>
          <a:off x="0" y="0"/>
          <a:ext cx="0" cy="0"/>
          <a:chOff x="0" y="0"/>
          <a:chExt cx="0" cy="0"/>
        </a:xfrm>
      </p:grpSpPr>
      <p:pic>
        <p:nvPicPr>
          <p:cNvPr id="2" name="Image 0" descr="/mnt/data/a_bright_outdoor_urban_plaza_or_public_square_scen.png">    </p:cNvPr>
          <p:cNvPicPr>
            <a:picLocks noChangeAspect="1"/>
          </p:cNvPicPr>
          <p:nvPr/>
        </p:nvPicPr>
        <p:blipFill>
          <a:blip r:embed="rId1"/>
          <a:srcRect l="23436" r="23436" t="0" b="0"/>
          <a:stretch/>
        </p:blipFill>
        <p:spPr>
          <a:xfrm>
            <a:off x="5715000" y="0"/>
            <a:ext cx="6473952" cy="6858000"/>
          </a:xfrm>
          <a:prstGeom prst="rect">
            <a:avLst/>
          </a:prstGeom>
        </p:spPr>
      </p:pic>
      <p:sp>
        <p:nvSpPr>
          <p:cNvPr id="3" name="Shape 0"/>
          <p:cNvSpPr/>
          <p:nvPr/>
        </p:nvSpPr>
        <p:spPr>
          <a:xfrm>
            <a:off x="0" y="0"/>
            <a:ext cx="6766560" cy="6858000"/>
          </a:xfrm>
          <a:prstGeom prst="rect">
            <a:avLst/>
          </a:prstGeom>
          <a:solidFill>
            <a:srgbClr val="F6F0E5"/>
          </a:solidFill>
          <a:ln w="12700">
            <a:solidFill>
              <a:srgbClr val="F6F0E5"/>
            </a:solidFill>
            <a:prstDash val="solid"/>
          </a:ln>
        </p:spPr>
      </p:sp>
      <p:sp>
        <p:nvSpPr>
          <p:cNvPr id="4" name="Text 1"/>
          <p:cNvSpPr/>
          <p:nvPr/>
        </p:nvSpPr>
        <p:spPr>
          <a:xfrm>
            <a:off x="594360" y="658368"/>
            <a:ext cx="4389120" cy="146304"/>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SELF-DIRECTED CONCEPT / BRAND, PRESENTATION, SOCIAL, PRINT, WAYFINDING</a:t>
            </a:r>
            <a:endParaRPr lang="en-US" sz="850" dirty="0"/>
          </a:p>
        </p:txBody>
      </p:sp>
      <p:sp>
        <p:nvSpPr>
          <p:cNvPr id="5" name="Text 2"/>
          <p:cNvSpPr/>
          <p:nvPr/>
        </p:nvSpPr>
        <p:spPr>
          <a:xfrm>
            <a:off x="548640" y="1078992"/>
            <a:ext cx="4846320" cy="1965960"/>
          </a:xfrm>
          <a:prstGeom prst="rect">
            <a:avLst/>
          </a:prstGeom>
          <a:noFill/>
          <a:ln/>
        </p:spPr>
        <p:txBody>
          <a:bodyPr wrap="square" lIns="0" tIns="0" rIns="0" bIns="0" rtlCol="0" anchor="t">
            <a:normAutofit/>
          </a:bodyPr>
          <a:lstStyle/>
          <a:p>
            <a:pPr algn="l" indent="0" marL="0">
              <a:buNone/>
            </a:pPr>
            <a:r>
              <a:rPr lang="en-US" sz="7200" dirty="0">
                <a:solidFill>
                  <a:srgbClr val="1D1D1F"/>
                </a:solidFill>
                <a:latin typeface="Georgia" pitchFamily="34" charset="0"/>
                <a:ea typeface="Georgia" pitchFamily="34" charset="-122"/>
                <a:cs typeface="Georgia" pitchFamily="34" charset="-120"/>
              </a:rPr>
              <a:t>Civic</a:t>
            </a:r>
            <a:endParaRPr lang="en-US" sz="7200" dirty="0"/>
          </a:p>
          <a:p>
            <a:pPr algn="l" indent="0" marL="0">
              <a:buNone/>
            </a:pPr>
            <a:r>
              <a:rPr lang="en-US" sz="7200" dirty="0">
                <a:solidFill>
                  <a:srgbClr val="1D1D1F"/>
                </a:solidFill>
                <a:latin typeface="Georgia" pitchFamily="34" charset="0"/>
                <a:ea typeface="Georgia" pitchFamily="34" charset="-122"/>
                <a:cs typeface="Georgia" pitchFamily="34" charset="-120"/>
              </a:rPr>
              <a:t>Bloom</a:t>
            </a:r>
            <a:endParaRPr lang="en-US" sz="7200" dirty="0"/>
          </a:p>
        </p:txBody>
      </p:sp>
      <p:sp>
        <p:nvSpPr>
          <p:cNvPr id="6" name="Text 3"/>
          <p:cNvSpPr/>
          <p:nvPr/>
        </p:nvSpPr>
        <p:spPr>
          <a:xfrm>
            <a:off x="621792" y="3474720"/>
            <a:ext cx="4297680" cy="777240"/>
          </a:xfrm>
          <a:prstGeom prst="rect">
            <a:avLst/>
          </a:prstGeom>
          <a:noFill/>
          <a:ln/>
        </p:spPr>
        <p:txBody>
          <a:bodyPr wrap="square" lIns="381" tIns="381" rIns="381" bIns="381" rtlCol="0" anchor="t">
            <a:normAutofit/>
          </a:bodyPr>
          <a:lstStyle/>
          <a:p>
            <a:pPr algn="l" indent="0" marL="0">
              <a:buNone/>
            </a:pPr>
            <a:r>
              <a:rPr lang="en-US" sz="1500" dirty="0">
                <a:solidFill>
                  <a:srgbClr val="6D6A66"/>
                </a:solidFill>
                <a:latin typeface="Aptos" pitchFamily="34" charset="0"/>
                <a:ea typeface="Aptos" pitchFamily="34" charset="-122"/>
                <a:cs typeface="Aptos" pitchFamily="34" charset="-120"/>
              </a:rPr>
              <a:t>A public-program communication system for a fictional design festival: client-ready deck, social campaign, print pack, large-format wayfinding, review workflow, and final QA.</a:t>
            </a:r>
            <a:endParaRPr lang="en-US" sz="1500" dirty="0"/>
          </a:p>
        </p:txBody>
      </p:sp>
      <p:sp>
        <p:nvSpPr>
          <p:cNvPr id="7" name="Shape 4"/>
          <p:cNvSpPr/>
          <p:nvPr/>
        </p:nvSpPr>
        <p:spPr>
          <a:xfrm>
            <a:off x="621792" y="4681728"/>
            <a:ext cx="1600200" cy="320040"/>
          </a:xfrm>
          <a:prstGeom prst="roundRect">
            <a:avLst>
              <a:gd name="adj" fmla="val 37143"/>
            </a:avLst>
          </a:prstGeom>
          <a:solidFill>
            <a:srgbClr val="1D1D1F"/>
          </a:solidFill>
          <a:ln w="12700">
            <a:solidFill>
              <a:srgbClr val="000000">
                <a:alpha val="10000"/>
              </a:srgbClr>
            </a:solidFill>
            <a:prstDash val="solid"/>
          </a:ln>
        </p:spPr>
      </p:sp>
      <p:sp>
        <p:nvSpPr>
          <p:cNvPr id="8" name="Text 5"/>
          <p:cNvSpPr/>
          <p:nvPr/>
        </p:nvSpPr>
        <p:spPr>
          <a:xfrm>
            <a:off x="731520" y="4759452"/>
            <a:ext cx="1380744" cy="146304"/>
          </a:xfrm>
          <a:prstGeom prst="rect">
            <a:avLst/>
          </a:prstGeom>
          <a:noFill/>
          <a:ln/>
        </p:spPr>
        <p:txBody>
          <a:bodyPr wrap="square" lIns="0" tIns="0" rIns="0" bIns="0" rtlCol="0" anchor="t">
            <a:normAutofit/>
          </a:bodyPr>
          <a:lstStyle/>
          <a:p>
            <a:pPr algn="ctr" indent="0" marL="0">
              <a:buNone/>
            </a:pPr>
            <a:r>
              <a:rPr lang="en-US" sz="750" b="1" dirty="0">
                <a:solidFill>
                  <a:srgbClr val="1D1D1F"/>
                </a:solidFill>
                <a:latin typeface="Aptos" pitchFamily="34" charset="0"/>
                <a:ea typeface="Aptos" pitchFamily="34" charset="-122"/>
                <a:cs typeface="Aptos" pitchFamily="34" charset="-120"/>
              </a:rPr>
              <a:t>Presentation system</a:t>
            </a:r>
            <a:endParaRPr lang="en-US" sz="750" dirty="0"/>
          </a:p>
        </p:txBody>
      </p:sp>
      <p:sp>
        <p:nvSpPr>
          <p:cNvPr id="9" name="Shape 6"/>
          <p:cNvSpPr/>
          <p:nvPr/>
        </p:nvSpPr>
        <p:spPr>
          <a:xfrm>
            <a:off x="2331720" y="4681728"/>
            <a:ext cx="1143000" cy="320040"/>
          </a:xfrm>
          <a:prstGeom prst="roundRect">
            <a:avLst>
              <a:gd name="adj" fmla="val 37143"/>
            </a:avLst>
          </a:prstGeom>
          <a:solidFill>
            <a:srgbClr val="1D1D1F"/>
          </a:solidFill>
          <a:ln w="12700">
            <a:solidFill>
              <a:srgbClr val="000000">
                <a:alpha val="10000"/>
              </a:srgbClr>
            </a:solidFill>
            <a:prstDash val="solid"/>
          </a:ln>
        </p:spPr>
      </p:sp>
      <p:sp>
        <p:nvSpPr>
          <p:cNvPr id="10" name="Text 7"/>
          <p:cNvSpPr/>
          <p:nvPr/>
        </p:nvSpPr>
        <p:spPr>
          <a:xfrm>
            <a:off x="2441448" y="4759452"/>
            <a:ext cx="923544" cy="146304"/>
          </a:xfrm>
          <a:prstGeom prst="rect">
            <a:avLst/>
          </a:prstGeom>
          <a:noFill/>
          <a:ln/>
        </p:spPr>
        <p:txBody>
          <a:bodyPr wrap="square" lIns="0" tIns="0" rIns="0" bIns="0" rtlCol="0" anchor="t">
            <a:normAutofit/>
          </a:bodyPr>
          <a:lstStyle/>
          <a:p>
            <a:pPr algn="ctr" indent="0" marL="0">
              <a:buNone/>
            </a:pPr>
            <a:r>
              <a:rPr lang="en-US" sz="750" b="1" dirty="0">
                <a:solidFill>
                  <a:srgbClr val="1D1D1F"/>
                </a:solidFill>
                <a:latin typeface="Aptos" pitchFamily="34" charset="0"/>
                <a:ea typeface="Aptos" pitchFamily="34" charset="-122"/>
                <a:cs typeface="Aptos" pitchFamily="34" charset="-120"/>
              </a:rPr>
              <a:t>Social assets</a:t>
            </a:r>
            <a:endParaRPr lang="en-US" sz="750" dirty="0"/>
          </a:p>
        </p:txBody>
      </p:sp>
      <p:sp>
        <p:nvSpPr>
          <p:cNvPr id="11" name="Shape 8"/>
          <p:cNvSpPr/>
          <p:nvPr/>
        </p:nvSpPr>
        <p:spPr>
          <a:xfrm>
            <a:off x="3584448" y="4681728"/>
            <a:ext cx="1143000" cy="320040"/>
          </a:xfrm>
          <a:prstGeom prst="roundRect">
            <a:avLst>
              <a:gd name="adj" fmla="val 37143"/>
            </a:avLst>
          </a:prstGeom>
          <a:solidFill>
            <a:srgbClr val="1D1D1F"/>
          </a:solidFill>
          <a:ln w="12700">
            <a:solidFill>
              <a:srgbClr val="000000">
                <a:alpha val="10000"/>
              </a:srgbClr>
            </a:solidFill>
            <a:prstDash val="solid"/>
          </a:ln>
        </p:spPr>
      </p:sp>
      <p:sp>
        <p:nvSpPr>
          <p:cNvPr id="12" name="Text 9"/>
          <p:cNvSpPr/>
          <p:nvPr/>
        </p:nvSpPr>
        <p:spPr>
          <a:xfrm>
            <a:off x="3694176" y="4759452"/>
            <a:ext cx="923544" cy="146304"/>
          </a:xfrm>
          <a:prstGeom prst="rect">
            <a:avLst/>
          </a:prstGeom>
          <a:noFill/>
          <a:ln/>
        </p:spPr>
        <p:txBody>
          <a:bodyPr wrap="square" lIns="0" tIns="0" rIns="0" bIns="0" rtlCol="0" anchor="t">
            <a:normAutofit/>
          </a:bodyPr>
          <a:lstStyle/>
          <a:p>
            <a:pPr algn="ctr" indent="0" marL="0">
              <a:buNone/>
            </a:pPr>
            <a:r>
              <a:rPr lang="en-US" sz="750" b="1" dirty="0">
                <a:solidFill>
                  <a:srgbClr val="1D1D1F"/>
                </a:solidFill>
                <a:latin typeface="Aptos" pitchFamily="34" charset="0"/>
                <a:ea typeface="Aptos" pitchFamily="34" charset="-122"/>
                <a:cs typeface="Aptos" pitchFamily="34" charset="-120"/>
              </a:rPr>
              <a:t>Print-ready</a:t>
            </a:r>
            <a:endParaRPr lang="en-US" sz="750" dirty="0"/>
          </a:p>
        </p:txBody>
      </p:sp>
      <p:sp>
        <p:nvSpPr>
          <p:cNvPr id="13" name="Shape 10"/>
          <p:cNvSpPr/>
          <p:nvPr/>
        </p:nvSpPr>
        <p:spPr>
          <a:xfrm>
            <a:off x="10789920" y="548640"/>
            <a:ext cx="731520" cy="5394960"/>
          </a:xfrm>
          <a:prstGeom prst="rect">
            <a:avLst/>
          </a:prstGeom>
          <a:solidFill>
            <a:srgbClr val="EF6548"/>
          </a:solidFill>
          <a:ln w="12700">
            <a:solidFill>
              <a:srgbClr val="EF6548"/>
            </a:solidFill>
            <a:prstDash val="solid"/>
          </a:ln>
        </p:spPr>
      </p:sp>
      <p:sp>
        <p:nvSpPr>
          <p:cNvPr id="14" name="Shape 11"/>
          <p:cNvSpPr/>
          <p:nvPr/>
        </p:nvSpPr>
        <p:spPr>
          <a:xfrm>
            <a:off x="10104120" y="4800600"/>
            <a:ext cx="1417320" cy="1417320"/>
          </a:xfrm>
          <a:prstGeom prst="ellipse">
            <a:avLst/>
          </a:prstGeom>
          <a:solidFill>
            <a:srgbClr val="F7C544"/>
          </a:solidFill>
          <a:ln w="12700">
            <a:solidFill>
              <a:srgbClr val="F7C544">
                <a:alpha val="0"/>
              </a:srgbClr>
            </a:solidFill>
            <a:prstDash val="solid"/>
          </a:ln>
        </p:spPr>
      </p:sp>
      <p:sp>
        <p:nvSpPr>
          <p:cNvPr id="15" name="Shape 12"/>
          <p:cNvSpPr/>
          <p:nvPr/>
        </p:nvSpPr>
        <p:spPr>
          <a:xfrm>
            <a:off x="9738360" y="4434840"/>
            <a:ext cx="1463040" cy="1463040"/>
          </a:xfrm>
          <a:prstGeom prst="ellipse">
            <a:avLst/>
          </a:prstGeom>
          <a:solidFill>
            <a:srgbClr val="1553A5"/>
          </a:solidFill>
          <a:ln w="12700">
            <a:solidFill>
              <a:srgbClr val="1553A5">
                <a:alpha val="0"/>
              </a:srgbClr>
            </a:solidFill>
            <a:prstDash val="solid"/>
          </a:ln>
        </p:spPr>
      </p:sp>
      <p:sp>
        <p:nvSpPr>
          <p:cNvPr id="16" name="Text 13"/>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17" name="Text 14"/>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6"/>
        </a:solidFill>
      </p:bgPr>
    </p:bg>
    <p:spTree>
      <p:nvGrpSpPr>
        <p:cNvPr id="1" name=""/>
        <p:cNvGrpSpPr/>
        <p:nvPr/>
      </p:nvGrpSpPr>
      <p:grpSpPr>
        <a:xfrm>
          <a:off x="0" y="0"/>
          <a:ext cx="0" cy="0"/>
          <a:chOff x="0" y="0"/>
          <a:chExt cx="0" cy="0"/>
        </a:xfrm>
      </p:grpSpPr>
      <p:sp>
        <p:nvSpPr>
          <p:cNvPr id="2" name="Text 0"/>
          <p:cNvSpPr/>
          <p:nvPr/>
        </p:nvSpPr>
        <p:spPr>
          <a:xfrm>
            <a:off x="594360" y="548640"/>
            <a:ext cx="1828800" cy="13716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01 / PROJECT BRIEF</a:t>
            </a:r>
            <a:endParaRPr lang="en-US" sz="850" dirty="0"/>
          </a:p>
        </p:txBody>
      </p:sp>
      <p:sp>
        <p:nvSpPr>
          <p:cNvPr id="3" name="Text 1"/>
          <p:cNvSpPr/>
          <p:nvPr/>
        </p:nvSpPr>
        <p:spPr>
          <a:xfrm>
            <a:off x="594360" y="932688"/>
            <a:ext cx="5943600" cy="914400"/>
          </a:xfrm>
          <a:prstGeom prst="rect">
            <a:avLst/>
          </a:prstGeom>
          <a:noFill/>
          <a:ln/>
        </p:spPr>
        <p:txBody>
          <a:bodyPr wrap="square" lIns="0" tIns="0" rIns="0" bIns="0" rtlCol="0" anchor="t">
            <a:normAutofit/>
          </a:bodyPr>
          <a:lstStyle/>
          <a:p>
            <a:pPr algn="l" indent="0" marL="0">
              <a:buNone/>
            </a:pPr>
            <a:r>
              <a:rPr lang="en-US" sz="4000" dirty="0">
                <a:solidFill>
                  <a:srgbClr val="1D1D1F"/>
                </a:solidFill>
                <a:latin typeface="Georgia" pitchFamily="34" charset="0"/>
                <a:ea typeface="Georgia" pitchFamily="34" charset="-122"/>
                <a:cs typeface="Georgia" pitchFamily="34" charset="-120"/>
              </a:rPr>
              <a:t>A civic event identity that needs to work everywhere.</a:t>
            </a:r>
            <a:endParaRPr lang="en-US" sz="4000" dirty="0"/>
          </a:p>
        </p:txBody>
      </p:sp>
      <p:sp>
        <p:nvSpPr>
          <p:cNvPr id="4" name="Text 2"/>
          <p:cNvSpPr/>
          <p:nvPr/>
        </p:nvSpPr>
        <p:spPr>
          <a:xfrm>
            <a:off x="621792" y="2148840"/>
            <a:ext cx="5394960" cy="914400"/>
          </a:xfrm>
          <a:prstGeom prst="rect">
            <a:avLst/>
          </a:prstGeom>
          <a:noFill/>
          <a:ln/>
        </p:spPr>
        <p:txBody>
          <a:bodyPr wrap="square" lIns="381" tIns="381" rIns="381" bIns="381" rtlCol="0" anchor="t">
            <a:normAutofit/>
          </a:bodyPr>
          <a:lstStyle/>
          <a:p>
            <a:pPr algn="l" indent="0" marL="0">
              <a:buNone/>
            </a:pPr>
            <a:r>
              <a:rPr lang="en-US" sz="1350" dirty="0">
                <a:solidFill>
                  <a:srgbClr val="6D6A66"/>
                </a:solidFill>
                <a:latin typeface="Aptos" pitchFamily="34" charset="0"/>
                <a:ea typeface="Aptos" pitchFamily="34" charset="-122"/>
                <a:cs typeface="Aptos" pitchFamily="34" charset="-120"/>
              </a:rPr>
              <a:t>The fictional program turns public plazas into a weekend of installations, workshops, talks, and guided walks. The design challenge was to create a system that feels joyful and public-facing while remaining practical for deck review, production, campaign rollout, and on-site navigation.</a:t>
            </a:r>
            <a:endParaRPr lang="en-US" sz="1350" dirty="0"/>
          </a:p>
        </p:txBody>
      </p:sp>
      <p:sp>
        <p:nvSpPr>
          <p:cNvPr id="5" name="Shape 3"/>
          <p:cNvSpPr/>
          <p:nvPr/>
        </p:nvSpPr>
        <p:spPr>
          <a:xfrm>
            <a:off x="6537960" y="640080"/>
            <a:ext cx="4846320" cy="5349240"/>
          </a:xfrm>
          <a:prstGeom prst="roundRect">
            <a:avLst>
              <a:gd name="adj" fmla="val 1698"/>
            </a:avLst>
          </a:prstGeom>
          <a:solidFill>
            <a:srgbClr val="E7EEF7"/>
          </a:solidFill>
          <a:ln w="12700">
            <a:solidFill>
              <a:srgbClr val="FFFFFF">
                <a:alpha val="25000"/>
              </a:srgbClr>
            </a:solidFill>
            <a:prstDash val="solid"/>
          </a:ln>
        </p:spPr>
      </p:sp>
      <p:sp>
        <p:nvSpPr>
          <p:cNvPr id="6" name="Text 4"/>
          <p:cNvSpPr/>
          <p:nvPr/>
        </p:nvSpPr>
        <p:spPr>
          <a:xfrm>
            <a:off x="6903720" y="987552"/>
            <a:ext cx="1920240" cy="91440"/>
          </a:xfrm>
          <a:prstGeom prst="rect">
            <a:avLst/>
          </a:prstGeom>
          <a:noFill/>
          <a:ln/>
        </p:spPr>
        <p:txBody>
          <a:bodyPr wrap="square" lIns="0" tIns="0" rIns="0" bIns="0" rtlCol="0" anchor="t">
            <a:normAutofit/>
          </a:bodyPr>
          <a:lstStyle/>
          <a:p>
            <a:pPr algn="l" indent="0" marL="0">
              <a:buNone/>
            </a:pPr>
            <a:r>
              <a:rPr lang="en-US" sz="850" b="1" dirty="0">
                <a:solidFill>
                  <a:srgbClr val="1553A5"/>
                </a:solidFill>
                <a:latin typeface="Aptos" pitchFamily="34" charset="0"/>
                <a:ea typeface="Aptos" pitchFamily="34" charset="-122"/>
                <a:cs typeface="Aptos" pitchFamily="34" charset="-120"/>
              </a:rPr>
              <a:t>COMMUNICATION JOBS</a:t>
            </a:r>
            <a:endParaRPr lang="en-US" sz="850" dirty="0"/>
          </a:p>
        </p:txBody>
      </p:sp>
      <p:sp>
        <p:nvSpPr>
          <p:cNvPr id="7" name="Text 5"/>
          <p:cNvSpPr/>
          <p:nvPr/>
        </p:nvSpPr>
        <p:spPr>
          <a:xfrm>
            <a:off x="6903720" y="1389888"/>
            <a:ext cx="411480" cy="292608"/>
          </a:xfrm>
          <a:prstGeom prst="rect">
            <a:avLst/>
          </a:prstGeom>
          <a:noFill/>
          <a:ln/>
        </p:spPr>
        <p:txBody>
          <a:bodyPr wrap="square" lIns="0" tIns="0" rIns="0" bIns="0" rtlCol="0" anchor="t">
            <a:normAutofit/>
          </a:bodyPr>
          <a:lstStyle/>
          <a:p>
            <a:pPr algn="l" indent="0" marL="0">
              <a:buNone/>
            </a:pPr>
            <a:r>
              <a:rPr lang="en-US" sz="1800" dirty="0">
                <a:solidFill>
                  <a:srgbClr val="1553A5"/>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7452360" y="1389888"/>
            <a:ext cx="1097280" cy="182880"/>
          </a:xfrm>
          <a:prstGeom prst="rect">
            <a:avLst/>
          </a:prstGeom>
          <a:noFill/>
          <a:ln/>
        </p:spPr>
        <p:txBody>
          <a:bodyPr wrap="square" lIns="0" tIns="0" rIns="0" bIns="0" rtlCol="0" anchor="t">
            <a:normAutofit/>
          </a:bodyPr>
          <a:lstStyle/>
          <a:p>
            <a:pPr algn="l" indent="0" marL="0">
              <a:buNone/>
            </a:pPr>
            <a:r>
              <a:rPr lang="en-US" sz="1100" b="1" dirty="0">
                <a:solidFill>
                  <a:srgbClr val="1D1D1F"/>
                </a:solidFill>
                <a:latin typeface="Aptos" pitchFamily="34" charset="0"/>
                <a:ea typeface="Aptos" pitchFamily="34" charset="-122"/>
                <a:cs typeface="Aptos" pitchFamily="34" charset="-120"/>
              </a:rPr>
              <a:t>Persuade</a:t>
            </a:r>
            <a:endParaRPr lang="en-US" sz="1100" dirty="0"/>
          </a:p>
        </p:txBody>
      </p:sp>
      <p:sp>
        <p:nvSpPr>
          <p:cNvPr id="9" name="Text 7"/>
          <p:cNvSpPr/>
          <p:nvPr/>
        </p:nvSpPr>
        <p:spPr>
          <a:xfrm>
            <a:off x="7452360" y="1645920"/>
            <a:ext cx="3337560" cy="301752"/>
          </a:xfrm>
          <a:prstGeom prst="rect">
            <a:avLst/>
          </a:prstGeom>
          <a:noFill/>
          <a:ln/>
        </p:spPr>
        <p:txBody>
          <a:bodyPr wrap="square" lIns="381" tIns="381" rIns="381" bIns="381" rtlCol="0" anchor="t">
            <a:normAutofit/>
          </a:bodyPr>
          <a:lstStyle/>
          <a:p>
            <a:pPr algn="l" indent="0" marL="0">
              <a:buNone/>
            </a:pPr>
            <a:r>
              <a:rPr lang="en-US" sz="930" dirty="0">
                <a:solidFill>
                  <a:srgbClr val="6D6A66"/>
                </a:solidFill>
                <a:latin typeface="Aptos" pitchFamily="34" charset="0"/>
                <a:ea typeface="Aptos" pitchFamily="34" charset="-122"/>
                <a:cs typeface="Aptos" pitchFamily="34" charset="-120"/>
              </a:rPr>
              <a:t>Introduce the festival concept and value to partners.</a:t>
            </a:r>
            <a:endParaRPr lang="en-US" sz="930" dirty="0"/>
          </a:p>
        </p:txBody>
      </p:sp>
      <p:sp>
        <p:nvSpPr>
          <p:cNvPr id="10" name="Text 8"/>
          <p:cNvSpPr/>
          <p:nvPr/>
        </p:nvSpPr>
        <p:spPr>
          <a:xfrm>
            <a:off x="6903720" y="2350008"/>
            <a:ext cx="411480" cy="292608"/>
          </a:xfrm>
          <a:prstGeom prst="rect">
            <a:avLst/>
          </a:prstGeom>
          <a:noFill/>
          <a:ln/>
        </p:spPr>
        <p:txBody>
          <a:bodyPr wrap="square" lIns="0" tIns="0" rIns="0" bIns="0" rtlCol="0" anchor="t">
            <a:normAutofit/>
          </a:bodyPr>
          <a:lstStyle/>
          <a:p>
            <a:pPr algn="l" indent="0" marL="0">
              <a:buNone/>
            </a:pPr>
            <a:r>
              <a:rPr lang="en-US" sz="1800" dirty="0">
                <a:solidFill>
                  <a:srgbClr val="1553A5"/>
                </a:solidFill>
                <a:latin typeface="Georgia" pitchFamily="34" charset="0"/>
                <a:ea typeface="Georgia" pitchFamily="34" charset="-122"/>
                <a:cs typeface="Georgia" pitchFamily="34" charset="-120"/>
              </a:rPr>
              <a:t>02</a:t>
            </a:r>
            <a:endParaRPr lang="en-US" sz="1800" dirty="0"/>
          </a:p>
        </p:txBody>
      </p:sp>
      <p:sp>
        <p:nvSpPr>
          <p:cNvPr id="11" name="Text 9"/>
          <p:cNvSpPr/>
          <p:nvPr/>
        </p:nvSpPr>
        <p:spPr>
          <a:xfrm>
            <a:off x="7452360" y="2350008"/>
            <a:ext cx="1097280" cy="182880"/>
          </a:xfrm>
          <a:prstGeom prst="rect">
            <a:avLst/>
          </a:prstGeom>
          <a:noFill/>
          <a:ln/>
        </p:spPr>
        <p:txBody>
          <a:bodyPr wrap="square" lIns="0" tIns="0" rIns="0" bIns="0" rtlCol="0" anchor="t">
            <a:normAutofit/>
          </a:bodyPr>
          <a:lstStyle/>
          <a:p>
            <a:pPr algn="l" indent="0" marL="0">
              <a:buNone/>
            </a:pPr>
            <a:r>
              <a:rPr lang="en-US" sz="1100" b="1" dirty="0">
                <a:solidFill>
                  <a:srgbClr val="1D1D1F"/>
                </a:solidFill>
                <a:latin typeface="Aptos" pitchFamily="34" charset="0"/>
                <a:ea typeface="Aptos" pitchFamily="34" charset="-122"/>
                <a:cs typeface="Aptos" pitchFamily="34" charset="-120"/>
              </a:rPr>
              <a:t>Promote</a:t>
            </a:r>
            <a:endParaRPr lang="en-US" sz="1100" dirty="0"/>
          </a:p>
        </p:txBody>
      </p:sp>
      <p:sp>
        <p:nvSpPr>
          <p:cNvPr id="12" name="Text 10"/>
          <p:cNvSpPr/>
          <p:nvPr/>
        </p:nvSpPr>
        <p:spPr>
          <a:xfrm>
            <a:off x="7452360" y="2606040"/>
            <a:ext cx="3337560" cy="301752"/>
          </a:xfrm>
          <a:prstGeom prst="rect">
            <a:avLst/>
          </a:prstGeom>
          <a:noFill/>
          <a:ln/>
        </p:spPr>
        <p:txBody>
          <a:bodyPr wrap="square" lIns="381" tIns="381" rIns="381" bIns="381" rtlCol="0" anchor="t">
            <a:normAutofit/>
          </a:bodyPr>
          <a:lstStyle/>
          <a:p>
            <a:pPr algn="l" indent="0" marL="0">
              <a:buNone/>
            </a:pPr>
            <a:r>
              <a:rPr lang="en-US" sz="930" dirty="0">
                <a:solidFill>
                  <a:srgbClr val="6D6A66"/>
                </a:solidFill>
                <a:latin typeface="Aptos" pitchFamily="34" charset="0"/>
                <a:ea typeface="Aptos" pitchFamily="34" charset="-122"/>
                <a:cs typeface="Aptos" pitchFamily="34" charset="-120"/>
              </a:rPr>
              <a:t>Adapt the identity into social posts, stories, and event assets.</a:t>
            </a:r>
            <a:endParaRPr lang="en-US" sz="930" dirty="0"/>
          </a:p>
        </p:txBody>
      </p:sp>
      <p:sp>
        <p:nvSpPr>
          <p:cNvPr id="13" name="Text 11"/>
          <p:cNvSpPr/>
          <p:nvPr/>
        </p:nvSpPr>
        <p:spPr>
          <a:xfrm>
            <a:off x="6903720" y="3310128"/>
            <a:ext cx="411480" cy="292608"/>
          </a:xfrm>
          <a:prstGeom prst="rect">
            <a:avLst/>
          </a:prstGeom>
          <a:noFill/>
          <a:ln/>
        </p:spPr>
        <p:txBody>
          <a:bodyPr wrap="square" lIns="0" tIns="0" rIns="0" bIns="0" rtlCol="0" anchor="t">
            <a:normAutofit/>
          </a:bodyPr>
          <a:lstStyle/>
          <a:p>
            <a:pPr algn="l" indent="0" marL="0">
              <a:buNone/>
            </a:pPr>
            <a:r>
              <a:rPr lang="en-US" sz="1800" dirty="0">
                <a:solidFill>
                  <a:srgbClr val="1553A5"/>
                </a:solidFill>
                <a:latin typeface="Georgia" pitchFamily="34" charset="0"/>
                <a:ea typeface="Georgia" pitchFamily="34" charset="-122"/>
                <a:cs typeface="Georgia" pitchFamily="34" charset="-120"/>
              </a:rPr>
              <a:t>03</a:t>
            </a:r>
            <a:endParaRPr lang="en-US" sz="1800" dirty="0"/>
          </a:p>
        </p:txBody>
      </p:sp>
      <p:sp>
        <p:nvSpPr>
          <p:cNvPr id="14" name="Text 12"/>
          <p:cNvSpPr/>
          <p:nvPr/>
        </p:nvSpPr>
        <p:spPr>
          <a:xfrm>
            <a:off x="7452360" y="3310128"/>
            <a:ext cx="1097280" cy="182880"/>
          </a:xfrm>
          <a:prstGeom prst="rect">
            <a:avLst/>
          </a:prstGeom>
          <a:noFill/>
          <a:ln/>
        </p:spPr>
        <p:txBody>
          <a:bodyPr wrap="square" lIns="0" tIns="0" rIns="0" bIns="0" rtlCol="0" anchor="t">
            <a:normAutofit/>
          </a:bodyPr>
          <a:lstStyle/>
          <a:p>
            <a:pPr algn="l" indent="0" marL="0">
              <a:buNone/>
            </a:pPr>
            <a:r>
              <a:rPr lang="en-US" sz="1100" b="1" dirty="0">
                <a:solidFill>
                  <a:srgbClr val="1D1D1F"/>
                </a:solidFill>
                <a:latin typeface="Aptos" pitchFamily="34" charset="0"/>
                <a:ea typeface="Aptos" pitchFamily="34" charset="-122"/>
                <a:cs typeface="Aptos" pitchFamily="34" charset="-120"/>
              </a:rPr>
              <a:t>Orient</a:t>
            </a:r>
            <a:endParaRPr lang="en-US" sz="1100" dirty="0"/>
          </a:p>
        </p:txBody>
      </p:sp>
      <p:sp>
        <p:nvSpPr>
          <p:cNvPr id="15" name="Text 13"/>
          <p:cNvSpPr/>
          <p:nvPr/>
        </p:nvSpPr>
        <p:spPr>
          <a:xfrm>
            <a:off x="7452360" y="3566160"/>
            <a:ext cx="3337560" cy="301752"/>
          </a:xfrm>
          <a:prstGeom prst="rect">
            <a:avLst/>
          </a:prstGeom>
          <a:noFill/>
          <a:ln/>
        </p:spPr>
        <p:txBody>
          <a:bodyPr wrap="square" lIns="381" tIns="381" rIns="381" bIns="381" rtlCol="0" anchor="t">
            <a:normAutofit/>
          </a:bodyPr>
          <a:lstStyle/>
          <a:p>
            <a:pPr algn="l" indent="0" marL="0">
              <a:buNone/>
            </a:pPr>
            <a:r>
              <a:rPr lang="en-US" sz="930" dirty="0">
                <a:solidFill>
                  <a:srgbClr val="6D6A66"/>
                </a:solidFill>
                <a:latin typeface="Aptos" pitchFamily="34" charset="0"/>
                <a:ea typeface="Aptos" pitchFamily="34" charset="-122"/>
                <a:cs typeface="Aptos" pitchFamily="34" charset="-120"/>
              </a:rPr>
              <a:t>Help visitors move between venues, schedules, and program types.</a:t>
            </a:r>
            <a:endParaRPr lang="en-US" sz="930" dirty="0"/>
          </a:p>
        </p:txBody>
      </p:sp>
      <p:sp>
        <p:nvSpPr>
          <p:cNvPr id="16" name="Text 14"/>
          <p:cNvSpPr/>
          <p:nvPr/>
        </p:nvSpPr>
        <p:spPr>
          <a:xfrm>
            <a:off x="6903720" y="4270248"/>
            <a:ext cx="411480" cy="292608"/>
          </a:xfrm>
          <a:prstGeom prst="rect">
            <a:avLst/>
          </a:prstGeom>
          <a:noFill/>
          <a:ln/>
        </p:spPr>
        <p:txBody>
          <a:bodyPr wrap="square" lIns="0" tIns="0" rIns="0" bIns="0" rtlCol="0" anchor="t">
            <a:normAutofit/>
          </a:bodyPr>
          <a:lstStyle/>
          <a:p>
            <a:pPr algn="l" indent="0" marL="0">
              <a:buNone/>
            </a:pPr>
            <a:r>
              <a:rPr lang="en-US" sz="1800" dirty="0">
                <a:solidFill>
                  <a:srgbClr val="1553A5"/>
                </a:solidFill>
                <a:latin typeface="Georgia" pitchFamily="34" charset="0"/>
                <a:ea typeface="Georgia" pitchFamily="34" charset="-122"/>
                <a:cs typeface="Georgia" pitchFamily="34" charset="-120"/>
              </a:rPr>
              <a:t>04</a:t>
            </a:r>
            <a:endParaRPr lang="en-US" sz="1800" dirty="0"/>
          </a:p>
        </p:txBody>
      </p:sp>
      <p:sp>
        <p:nvSpPr>
          <p:cNvPr id="17" name="Text 15"/>
          <p:cNvSpPr/>
          <p:nvPr/>
        </p:nvSpPr>
        <p:spPr>
          <a:xfrm>
            <a:off x="7452360" y="4270248"/>
            <a:ext cx="1097280" cy="182880"/>
          </a:xfrm>
          <a:prstGeom prst="rect">
            <a:avLst/>
          </a:prstGeom>
          <a:noFill/>
          <a:ln/>
        </p:spPr>
        <p:txBody>
          <a:bodyPr wrap="square" lIns="0" tIns="0" rIns="0" bIns="0" rtlCol="0" anchor="t">
            <a:normAutofit/>
          </a:bodyPr>
          <a:lstStyle/>
          <a:p>
            <a:pPr algn="l" indent="0" marL="0">
              <a:buNone/>
            </a:pPr>
            <a:r>
              <a:rPr lang="en-US" sz="1100" b="1" dirty="0">
                <a:solidFill>
                  <a:srgbClr val="1D1D1F"/>
                </a:solidFill>
                <a:latin typeface="Aptos" pitchFamily="34" charset="0"/>
                <a:ea typeface="Aptos" pitchFamily="34" charset="-122"/>
                <a:cs typeface="Aptos" pitchFamily="34" charset="-120"/>
              </a:rPr>
              <a:t>Deliver</a:t>
            </a:r>
            <a:endParaRPr lang="en-US" sz="1100" dirty="0"/>
          </a:p>
        </p:txBody>
      </p:sp>
      <p:sp>
        <p:nvSpPr>
          <p:cNvPr id="18" name="Text 16"/>
          <p:cNvSpPr/>
          <p:nvPr/>
        </p:nvSpPr>
        <p:spPr>
          <a:xfrm>
            <a:off x="7452360" y="4526280"/>
            <a:ext cx="3337560" cy="301752"/>
          </a:xfrm>
          <a:prstGeom prst="rect">
            <a:avLst/>
          </a:prstGeom>
          <a:noFill/>
          <a:ln/>
        </p:spPr>
        <p:txBody>
          <a:bodyPr wrap="square" lIns="381" tIns="381" rIns="381" bIns="381" rtlCol="0" anchor="t">
            <a:normAutofit/>
          </a:bodyPr>
          <a:lstStyle/>
          <a:p>
            <a:pPr algn="l" indent="0" marL="0">
              <a:buNone/>
            </a:pPr>
            <a:r>
              <a:rPr lang="en-US" sz="930" dirty="0">
                <a:solidFill>
                  <a:srgbClr val="6D6A66"/>
                </a:solidFill>
                <a:latin typeface="Aptos" pitchFamily="34" charset="0"/>
                <a:ea typeface="Aptos" pitchFamily="34" charset="-122"/>
                <a:cs typeface="Aptos" pitchFamily="34" charset="-120"/>
              </a:rPr>
              <a:t>Create print-ready files and clean handoffs that survive revision.</a:t>
            </a:r>
            <a:endParaRPr lang="en-US" sz="930" dirty="0"/>
          </a:p>
        </p:txBody>
      </p:sp>
      <p:sp>
        <p:nvSpPr>
          <p:cNvPr id="19" name="Text 17"/>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20" name="Text 18"/>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5"/>
        </a:solidFill>
      </p:bgPr>
    </p:bg>
    <p:spTree>
      <p:nvGrpSpPr>
        <p:cNvPr id="1" name=""/>
        <p:cNvGrpSpPr/>
        <p:nvPr/>
      </p:nvGrpSpPr>
      <p:grpSpPr>
        <a:xfrm>
          <a:off x="0" y="0"/>
          <a:ext cx="0" cy="0"/>
          <a:chOff x="0" y="0"/>
          <a:chExt cx="0" cy="0"/>
        </a:xfrm>
      </p:grpSpPr>
      <p:sp>
        <p:nvSpPr>
          <p:cNvPr id="2" name="Text 0"/>
          <p:cNvSpPr/>
          <p:nvPr/>
        </p:nvSpPr>
        <p:spPr>
          <a:xfrm>
            <a:off x="594360" y="548640"/>
            <a:ext cx="3017520" cy="13716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02 / AUDIENCE &amp; STAKEHOLDER MAP</a:t>
            </a:r>
            <a:endParaRPr lang="en-US" sz="850" dirty="0"/>
          </a:p>
        </p:txBody>
      </p:sp>
      <p:sp>
        <p:nvSpPr>
          <p:cNvPr id="3" name="Text 1"/>
          <p:cNvSpPr/>
          <p:nvPr/>
        </p:nvSpPr>
        <p:spPr>
          <a:xfrm>
            <a:off x="594360" y="932688"/>
            <a:ext cx="4754880" cy="731520"/>
          </a:xfrm>
          <a:prstGeom prst="rect">
            <a:avLst/>
          </a:prstGeom>
          <a:noFill/>
          <a:ln/>
        </p:spPr>
        <p:txBody>
          <a:bodyPr wrap="square" lIns="0" tIns="0" rIns="0" bIns="0" rtlCol="0" anchor="t">
            <a:normAutofit/>
          </a:bodyPr>
          <a:lstStyle/>
          <a:p>
            <a:pPr algn="l" indent="0" marL="0">
              <a:buNone/>
            </a:pPr>
            <a:r>
              <a:rPr lang="en-US" sz="4300" dirty="0">
                <a:solidFill>
                  <a:srgbClr val="1D1D1F"/>
                </a:solidFill>
                <a:latin typeface="Georgia" pitchFamily="34" charset="0"/>
                <a:ea typeface="Georgia" pitchFamily="34" charset="-122"/>
                <a:cs typeface="Georgia" pitchFamily="34" charset="-120"/>
              </a:rPr>
              <a:t>Different readers, one system.</a:t>
            </a:r>
            <a:endParaRPr lang="en-US" sz="4300" dirty="0"/>
          </a:p>
        </p:txBody>
      </p:sp>
      <p:sp>
        <p:nvSpPr>
          <p:cNvPr id="4" name="Text 2"/>
          <p:cNvSpPr/>
          <p:nvPr/>
        </p:nvSpPr>
        <p:spPr>
          <a:xfrm>
            <a:off x="621792" y="1810512"/>
            <a:ext cx="4480560" cy="731520"/>
          </a:xfrm>
          <a:prstGeom prst="rect">
            <a:avLst/>
          </a:prstGeom>
          <a:noFill/>
          <a:ln/>
        </p:spPr>
        <p:txBody>
          <a:bodyPr wrap="square" lIns="381" tIns="381" rIns="381" bIns="381" rtlCol="0" anchor="t">
            <a:normAutofit/>
          </a:bodyPr>
          <a:lstStyle/>
          <a:p>
            <a:pPr algn="l" indent="0" marL="0">
              <a:buNone/>
            </a:pPr>
            <a:r>
              <a:rPr lang="en-US" sz="1300" dirty="0">
                <a:solidFill>
                  <a:srgbClr val="6D6A66"/>
                </a:solidFill>
                <a:latin typeface="Aptos" pitchFamily="34" charset="0"/>
                <a:ea typeface="Aptos" pitchFamily="34" charset="-122"/>
                <a:cs typeface="Aptos" pitchFamily="34" charset="-120"/>
              </a:rPr>
              <a:t>The system has to speak to leadership during review, production teams during handoff, and the public during the event. The visual language stays consistent, but the hierarchy shifts by use case.</a:t>
            </a:r>
            <a:endParaRPr lang="en-US" sz="1300" dirty="0"/>
          </a:p>
        </p:txBody>
      </p:sp>
      <p:sp>
        <p:nvSpPr>
          <p:cNvPr id="5" name="Shape 3"/>
          <p:cNvSpPr/>
          <p:nvPr/>
        </p:nvSpPr>
        <p:spPr>
          <a:xfrm>
            <a:off x="685800" y="2971800"/>
            <a:ext cx="3273552" cy="2377440"/>
          </a:xfrm>
          <a:prstGeom prst="roundRect">
            <a:avLst>
              <a:gd name="adj" fmla="val 3462"/>
            </a:avLst>
          </a:prstGeom>
          <a:solidFill>
            <a:srgbClr val="FFFFFF"/>
          </a:solidFill>
          <a:ln w="12700">
            <a:solidFill>
              <a:srgbClr val="FFFFFF">
                <a:alpha val="25000"/>
              </a:srgbClr>
            </a:solidFill>
            <a:prstDash val="solid"/>
          </a:ln>
        </p:spPr>
      </p:sp>
      <p:sp>
        <p:nvSpPr>
          <p:cNvPr id="6" name="Shape 4"/>
          <p:cNvSpPr/>
          <p:nvPr/>
        </p:nvSpPr>
        <p:spPr>
          <a:xfrm>
            <a:off x="914400" y="3246120"/>
            <a:ext cx="475488" cy="475488"/>
          </a:xfrm>
          <a:prstGeom prst="ellipse">
            <a:avLst/>
          </a:prstGeom>
          <a:solidFill>
            <a:srgbClr val="EF6548"/>
          </a:solidFill>
          <a:ln w="12700">
            <a:solidFill>
              <a:srgbClr val="EF6548">
                <a:alpha val="0"/>
              </a:srgbClr>
            </a:solidFill>
            <a:prstDash val="solid"/>
          </a:ln>
        </p:spPr>
      </p:sp>
      <p:sp>
        <p:nvSpPr>
          <p:cNvPr id="7" name="Text 5"/>
          <p:cNvSpPr/>
          <p:nvPr/>
        </p:nvSpPr>
        <p:spPr>
          <a:xfrm>
            <a:off x="914400" y="3886200"/>
            <a:ext cx="2651760" cy="274320"/>
          </a:xfrm>
          <a:prstGeom prst="rect">
            <a:avLst/>
          </a:prstGeom>
          <a:noFill/>
          <a:ln/>
        </p:spPr>
        <p:txBody>
          <a:bodyPr wrap="square" lIns="0" tIns="0" rIns="0" bIns="0" rtlCol="0" anchor="t">
            <a:normAutofit/>
          </a:bodyPr>
          <a:lstStyle/>
          <a:p>
            <a:pPr algn="l" indent="0" marL="0">
              <a:buNone/>
            </a:pPr>
            <a:r>
              <a:rPr lang="en-US" sz="1500" b="1" dirty="0">
                <a:solidFill>
                  <a:srgbClr val="1D1D1F"/>
                </a:solidFill>
                <a:latin typeface="Aptos" pitchFamily="34" charset="0"/>
                <a:ea typeface="Aptos" pitchFamily="34" charset="-122"/>
                <a:cs typeface="Aptos" pitchFamily="34" charset="-120"/>
              </a:rPr>
              <a:t>Leadership review</a:t>
            </a:r>
            <a:endParaRPr lang="en-US" sz="1500" dirty="0"/>
          </a:p>
        </p:txBody>
      </p:sp>
      <p:sp>
        <p:nvSpPr>
          <p:cNvPr id="8" name="Text 6"/>
          <p:cNvSpPr/>
          <p:nvPr/>
        </p:nvSpPr>
        <p:spPr>
          <a:xfrm>
            <a:off x="914400" y="4343400"/>
            <a:ext cx="2606040" cy="777240"/>
          </a:xfrm>
          <a:prstGeom prst="rect">
            <a:avLst/>
          </a:prstGeom>
          <a:noFill/>
          <a:ln/>
        </p:spPr>
        <p:txBody>
          <a:bodyPr wrap="square" lIns="381" tIns="381" rIns="381" bIns="381" rtlCol="0" anchor="t">
            <a:normAutofit/>
          </a:bodyPr>
          <a:lstStyle/>
          <a:p>
            <a:pPr algn="l" indent="0" marL="0">
              <a:buNone/>
            </a:pPr>
            <a:r>
              <a:rPr lang="en-US" sz="1040" dirty="0">
                <a:solidFill>
                  <a:srgbClr val="6D6A66"/>
                </a:solidFill>
                <a:latin typeface="Aptos" pitchFamily="34" charset="0"/>
                <a:ea typeface="Aptos" pitchFamily="34" charset="-122"/>
                <a:cs typeface="Aptos" pitchFamily="34" charset="-120"/>
              </a:rPr>
              <a:t>Needs the idea, budget logic, program value, and visual confidence.</a:t>
            </a:r>
            <a:endParaRPr lang="en-US" sz="1040" dirty="0"/>
          </a:p>
        </p:txBody>
      </p:sp>
      <p:sp>
        <p:nvSpPr>
          <p:cNvPr id="9" name="Shape 7"/>
          <p:cNvSpPr/>
          <p:nvPr/>
        </p:nvSpPr>
        <p:spPr>
          <a:xfrm>
            <a:off x="4480560" y="2971800"/>
            <a:ext cx="3273552" cy="2377440"/>
          </a:xfrm>
          <a:prstGeom prst="roundRect">
            <a:avLst>
              <a:gd name="adj" fmla="val 3462"/>
            </a:avLst>
          </a:prstGeom>
          <a:solidFill>
            <a:srgbClr val="FFFFFF"/>
          </a:solidFill>
          <a:ln w="12700">
            <a:solidFill>
              <a:srgbClr val="FFFFFF">
                <a:alpha val="25000"/>
              </a:srgbClr>
            </a:solidFill>
            <a:prstDash val="solid"/>
          </a:ln>
        </p:spPr>
      </p:sp>
      <p:sp>
        <p:nvSpPr>
          <p:cNvPr id="10" name="Shape 8"/>
          <p:cNvSpPr/>
          <p:nvPr/>
        </p:nvSpPr>
        <p:spPr>
          <a:xfrm>
            <a:off x="4709160" y="3246120"/>
            <a:ext cx="475488" cy="475488"/>
          </a:xfrm>
          <a:prstGeom prst="ellipse">
            <a:avLst/>
          </a:prstGeom>
          <a:solidFill>
            <a:srgbClr val="1553A5"/>
          </a:solidFill>
          <a:ln w="12700">
            <a:solidFill>
              <a:srgbClr val="1553A5">
                <a:alpha val="0"/>
              </a:srgbClr>
            </a:solidFill>
            <a:prstDash val="solid"/>
          </a:ln>
        </p:spPr>
      </p:sp>
      <p:sp>
        <p:nvSpPr>
          <p:cNvPr id="11" name="Text 9"/>
          <p:cNvSpPr/>
          <p:nvPr/>
        </p:nvSpPr>
        <p:spPr>
          <a:xfrm>
            <a:off x="4709160" y="3886200"/>
            <a:ext cx="2651760" cy="274320"/>
          </a:xfrm>
          <a:prstGeom prst="rect">
            <a:avLst/>
          </a:prstGeom>
          <a:noFill/>
          <a:ln/>
        </p:spPr>
        <p:txBody>
          <a:bodyPr wrap="square" lIns="0" tIns="0" rIns="0" bIns="0" rtlCol="0" anchor="t">
            <a:normAutofit/>
          </a:bodyPr>
          <a:lstStyle/>
          <a:p>
            <a:pPr algn="l" indent="0" marL="0">
              <a:buNone/>
            </a:pPr>
            <a:r>
              <a:rPr lang="en-US" sz="1500" b="1" dirty="0">
                <a:solidFill>
                  <a:srgbClr val="1D1D1F"/>
                </a:solidFill>
                <a:latin typeface="Aptos" pitchFamily="34" charset="0"/>
                <a:ea typeface="Aptos" pitchFamily="34" charset="-122"/>
                <a:cs typeface="Aptos" pitchFamily="34" charset="-120"/>
              </a:rPr>
              <a:t>Production team</a:t>
            </a:r>
            <a:endParaRPr lang="en-US" sz="1500" dirty="0"/>
          </a:p>
        </p:txBody>
      </p:sp>
      <p:sp>
        <p:nvSpPr>
          <p:cNvPr id="12" name="Text 10"/>
          <p:cNvSpPr/>
          <p:nvPr/>
        </p:nvSpPr>
        <p:spPr>
          <a:xfrm>
            <a:off x="4709160" y="4343400"/>
            <a:ext cx="2606040" cy="777240"/>
          </a:xfrm>
          <a:prstGeom prst="rect">
            <a:avLst/>
          </a:prstGeom>
          <a:noFill/>
          <a:ln/>
        </p:spPr>
        <p:txBody>
          <a:bodyPr wrap="square" lIns="381" tIns="381" rIns="381" bIns="381" rtlCol="0" anchor="t">
            <a:normAutofit/>
          </a:bodyPr>
          <a:lstStyle/>
          <a:p>
            <a:pPr algn="l" indent="0" marL="0">
              <a:buNone/>
            </a:pPr>
            <a:r>
              <a:rPr lang="en-US" sz="1040" dirty="0">
                <a:solidFill>
                  <a:srgbClr val="6D6A66"/>
                </a:solidFill>
                <a:latin typeface="Aptos" pitchFamily="34" charset="0"/>
                <a:ea typeface="Aptos" pitchFamily="34" charset="-122"/>
                <a:cs typeface="Aptos" pitchFamily="34" charset="-120"/>
              </a:rPr>
              <a:t>Needs clean specs, naming, export status, and editable source logic.</a:t>
            </a:r>
            <a:endParaRPr lang="en-US" sz="1040" dirty="0"/>
          </a:p>
        </p:txBody>
      </p:sp>
      <p:sp>
        <p:nvSpPr>
          <p:cNvPr id="13" name="Shape 11"/>
          <p:cNvSpPr/>
          <p:nvPr/>
        </p:nvSpPr>
        <p:spPr>
          <a:xfrm>
            <a:off x="8275320" y="2971800"/>
            <a:ext cx="3273552" cy="2377440"/>
          </a:xfrm>
          <a:prstGeom prst="roundRect">
            <a:avLst>
              <a:gd name="adj" fmla="val 3462"/>
            </a:avLst>
          </a:prstGeom>
          <a:solidFill>
            <a:srgbClr val="FFFFFF"/>
          </a:solidFill>
          <a:ln w="12700">
            <a:solidFill>
              <a:srgbClr val="FFFFFF">
                <a:alpha val="25000"/>
              </a:srgbClr>
            </a:solidFill>
            <a:prstDash val="solid"/>
          </a:ln>
        </p:spPr>
      </p:sp>
      <p:sp>
        <p:nvSpPr>
          <p:cNvPr id="14" name="Shape 12"/>
          <p:cNvSpPr/>
          <p:nvPr/>
        </p:nvSpPr>
        <p:spPr>
          <a:xfrm>
            <a:off x="8503920" y="3246120"/>
            <a:ext cx="475488" cy="475488"/>
          </a:xfrm>
          <a:prstGeom prst="ellipse">
            <a:avLst/>
          </a:prstGeom>
          <a:solidFill>
            <a:srgbClr val="F7C544"/>
          </a:solidFill>
          <a:ln w="12700">
            <a:solidFill>
              <a:srgbClr val="F7C544">
                <a:alpha val="0"/>
              </a:srgbClr>
            </a:solidFill>
            <a:prstDash val="solid"/>
          </a:ln>
        </p:spPr>
      </p:sp>
      <p:sp>
        <p:nvSpPr>
          <p:cNvPr id="15" name="Text 13"/>
          <p:cNvSpPr/>
          <p:nvPr/>
        </p:nvSpPr>
        <p:spPr>
          <a:xfrm>
            <a:off x="8503920" y="3886200"/>
            <a:ext cx="2651760" cy="274320"/>
          </a:xfrm>
          <a:prstGeom prst="rect">
            <a:avLst/>
          </a:prstGeom>
          <a:noFill/>
          <a:ln/>
        </p:spPr>
        <p:txBody>
          <a:bodyPr wrap="square" lIns="0" tIns="0" rIns="0" bIns="0" rtlCol="0" anchor="t">
            <a:normAutofit/>
          </a:bodyPr>
          <a:lstStyle/>
          <a:p>
            <a:pPr algn="l" indent="0" marL="0">
              <a:buNone/>
            </a:pPr>
            <a:r>
              <a:rPr lang="en-US" sz="1500" b="1" dirty="0">
                <a:solidFill>
                  <a:srgbClr val="1D1D1F"/>
                </a:solidFill>
                <a:latin typeface="Aptos" pitchFamily="34" charset="0"/>
                <a:ea typeface="Aptos" pitchFamily="34" charset="-122"/>
                <a:cs typeface="Aptos" pitchFamily="34" charset="-120"/>
              </a:rPr>
              <a:t>Visitors</a:t>
            </a:r>
            <a:endParaRPr lang="en-US" sz="1500" dirty="0"/>
          </a:p>
        </p:txBody>
      </p:sp>
      <p:sp>
        <p:nvSpPr>
          <p:cNvPr id="16" name="Text 14"/>
          <p:cNvSpPr/>
          <p:nvPr/>
        </p:nvSpPr>
        <p:spPr>
          <a:xfrm>
            <a:off x="8503920" y="4343400"/>
            <a:ext cx="2606040" cy="777240"/>
          </a:xfrm>
          <a:prstGeom prst="rect">
            <a:avLst/>
          </a:prstGeom>
          <a:noFill/>
          <a:ln/>
        </p:spPr>
        <p:txBody>
          <a:bodyPr wrap="square" lIns="381" tIns="381" rIns="381" bIns="381" rtlCol="0" anchor="t">
            <a:normAutofit/>
          </a:bodyPr>
          <a:lstStyle/>
          <a:p>
            <a:pPr algn="l" indent="0" marL="0">
              <a:buNone/>
            </a:pPr>
            <a:r>
              <a:rPr lang="en-US" sz="1040" dirty="0">
                <a:solidFill>
                  <a:srgbClr val="6D6A66"/>
                </a:solidFill>
                <a:latin typeface="Aptos" pitchFamily="34" charset="0"/>
                <a:ea typeface="Aptos" pitchFamily="34" charset="-122"/>
                <a:cs typeface="Aptos" pitchFamily="34" charset="-120"/>
              </a:rPr>
              <a:t>Need a quick read: what is happening, where to go, and what comes next.</a:t>
            </a:r>
            <a:endParaRPr lang="en-US" sz="1040" dirty="0"/>
          </a:p>
        </p:txBody>
      </p:sp>
      <p:sp>
        <p:nvSpPr>
          <p:cNvPr id="17" name="Text 15"/>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18" name="Text 16"/>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6"/>
        </a:solidFill>
      </p:bgPr>
    </p:bg>
    <p:spTree>
      <p:nvGrpSpPr>
        <p:cNvPr id="1" name=""/>
        <p:cNvGrpSpPr/>
        <p:nvPr/>
      </p:nvGrpSpPr>
      <p:grpSpPr>
        <a:xfrm>
          <a:off x="0" y="0"/>
          <a:ext cx="0" cy="0"/>
          <a:chOff x="0" y="0"/>
          <a:chExt cx="0" cy="0"/>
        </a:xfrm>
      </p:grpSpPr>
      <p:pic>
        <p:nvPicPr>
          <p:cNvPr id="2" name="Image 0" descr="/mnt/data/a_top_down_flat_lay_studio_photo_of_a_graphic_de.png">    </p:cNvPr>
          <p:cNvPicPr>
            <a:picLocks noChangeAspect="1"/>
          </p:cNvPicPr>
          <p:nvPr/>
        </p:nvPicPr>
        <p:blipFill>
          <a:blip r:embed="rId1"/>
          <a:srcRect l="28238" r="28238" t="0" b="0"/>
          <a:stretch/>
        </p:blipFill>
        <p:spPr>
          <a:xfrm>
            <a:off x="0" y="0"/>
            <a:ext cx="5303520" cy="6858000"/>
          </a:xfrm>
          <a:prstGeom prst="rect">
            <a:avLst/>
          </a:prstGeom>
        </p:spPr>
      </p:pic>
      <p:sp>
        <p:nvSpPr>
          <p:cNvPr id="3" name="Shape 0"/>
          <p:cNvSpPr/>
          <p:nvPr/>
        </p:nvSpPr>
        <p:spPr>
          <a:xfrm>
            <a:off x="5175504" y="0"/>
            <a:ext cx="7004304" cy="6858000"/>
          </a:xfrm>
          <a:prstGeom prst="rect">
            <a:avLst/>
          </a:prstGeom>
          <a:solidFill>
            <a:srgbClr val="FFFDF6"/>
          </a:solidFill>
          <a:ln w="12700">
            <a:solidFill>
              <a:srgbClr val="FFFDF6"/>
            </a:solidFill>
            <a:prstDash val="solid"/>
          </a:ln>
        </p:spPr>
      </p:sp>
      <p:sp>
        <p:nvSpPr>
          <p:cNvPr id="4" name="Text 1"/>
          <p:cNvSpPr/>
          <p:nvPr/>
        </p:nvSpPr>
        <p:spPr>
          <a:xfrm>
            <a:off x="5715000" y="640080"/>
            <a:ext cx="2011680" cy="13716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03 / BRAND SYSTEM</a:t>
            </a:r>
            <a:endParaRPr lang="en-US" sz="850" dirty="0"/>
          </a:p>
        </p:txBody>
      </p:sp>
      <p:sp>
        <p:nvSpPr>
          <p:cNvPr id="5" name="Text 2"/>
          <p:cNvSpPr/>
          <p:nvPr/>
        </p:nvSpPr>
        <p:spPr>
          <a:xfrm>
            <a:off x="5715000" y="1051560"/>
            <a:ext cx="4937760" cy="914400"/>
          </a:xfrm>
          <a:prstGeom prst="rect">
            <a:avLst/>
          </a:prstGeom>
          <a:noFill/>
          <a:ln/>
        </p:spPr>
        <p:txBody>
          <a:bodyPr wrap="square" lIns="0" tIns="0" rIns="0" bIns="0" rtlCol="0" anchor="t">
            <a:normAutofit/>
          </a:bodyPr>
          <a:lstStyle/>
          <a:p>
            <a:pPr algn="l" indent="0" marL="0">
              <a:buNone/>
            </a:pPr>
            <a:r>
              <a:rPr lang="en-US" sz="4200" dirty="0">
                <a:solidFill>
                  <a:srgbClr val="1D1D1F"/>
                </a:solidFill>
                <a:latin typeface="Georgia" pitchFamily="34" charset="0"/>
                <a:ea typeface="Georgia" pitchFamily="34" charset="-122"/>
                <a:cs typeface="Georgia" pitchFamily="34" charset="-120"/>
              </a:rPr>
              <a:t>A modular language of civic shapes.</a:t>
            </a:r>
            <a:endParaRPr lang="en-US" sz="4200" dirty="0"/>
          </a:p>
        </p:txBody>
      </p:sp>
      <p:sp>
        <p:nvSpPr>
          <p:cNvPr id="6" name="Text 3"/>
          <p:cNvSpPr/>
          <p:nvPr/>
        </p:nvSpPr>
        <p:spPr>
          <a:xfrm>
            <a:off x="5742432" y="2057400"/>
            <a:ext cx="4937760" cy="777240"/>
          </a:xfrm>
          <a:prstGeom prst="rect">
            <a:avLst/>
          </a:prstGeom>
          <a:noFill/>
          <a:ln/>
        </p:spPr>
        <p:txBody>
          <a:bodyPr wrap="square" lIns="381" tIns="381" rIns="381" bIns="381" rtlCol="0" anchor="t">
            <a:normAutofit/>
          </a:bodyPr>
          <a:lstStyle/>
          <a:p>
            <a:pPr algn="l" indent="0" marL="0">
              <a:buNone/>
            </a:pPr>
            <a:r>
              <a:rPr lang="en-US" sz="1250" dirty="0">
                <a:solidFill>
                  <a:srgbClr val="6D6A66"/>
                </a:solidFill>
                <a:latin typeface="Aptos" pitchFamily="34" charset="0"/>
                <a:ea typeface="Aptos" pitchFamily="34" charset="-122"/>
                <a:cs typeface="Aptos" pitchFamily="34" charset="-120"/>
              </a:rPr>
              <a:t>The identity uses public-space geometry - arches, circles, leaves, directional arrows, and civic blocks - to create a flexible system for presentation, social, print, and wayfinding.</a:t>
            </a:r>
            <a:endParaRPr lang="en-US" sz="1250" dirty="0"/>
          </a:p>
        </p:txBody>
      </p:sp>
      <p:sp>
        <p:nvSpPr>
          <p:cNvPr id="7" name="Shape 4"/>
          <p:cNvSpPr/>
          <p:nvPr/>
        </p:nvSpPr>
        <p:spPr>
          <a:xfrm>
            <a:off x="5806440" y="3255264"/>
            <a:ext cx="347472" cy="347472"/>
          </a:xfrm>
          <a:prstGeom prst="ellipse">
            <a:avLst/>
          </a:prstGeom>
          <a:solidFill>
            <a:srgbClr val="EF6548"/>
          </a:solidFill>
          <a:ln w="12700">
            <a:solidFill>
              <a:srgbClr val="EF6548">
                <a:alpha val="0"/>
              </a:srgbClr>
            </a:solidFill>
            <a:prstDash val="solid"/>
          </a:ln>
        </p:spPr>
      </p:sp>
      <p:sp>
        <p:nvSpPr>
          <p:cNvPr id="8" name="Shape 5"/>
          <p:cNvSpPr/>
          <p:nvPr/>
        </p:nvSpPr>
        <p:spPr>
          <a:xfrm>
            <a:off x="6400800" y="3255264"/>
            <a:ext cx="347472" cy="347472"/>
          </a:xfrm>
          <a:prstGeom prst="ellipse">
            <a:avLst/>
          </a:prstGeom>
          <a:solidFill>
            <a:srgbClr val="1553A5"/>
          </a:solidFill>
          <a:ln w="12700">
            <a:solidFill>
              <a:srgbClr val="1553A5">
                <a:alpha val="0"/>
              </a:srgbClr>
            </a:solidFill>
            <a:prstDash val="solid"/>
          </a:ln>
        </p:spPr>
      </p:sp>
      <p:sp>
        <p:nvSpPr>
          <p:cNvPr id="9" name="Shape 6"/>
          <p:cNvSpPr/>
          <p:nvPr/>
        </p:nvSpPr>
        <p:spPr>
          <a:xfrm>
            <a:off x="6995160" y="3255264"/>
            <a:ext cx="347472" cy="347472"/>
          </a:xfrm>
          <a:prstGeom prst="ellipse">
            <a:avLst/>
          </a:prstGeom>
          <a:solidFill>
            <a:srgbClr val="F7C544"/>
          </a:solidFill>
          <a:ln w="12700">
            <a:solidFill>
              <a:srgbClr val="F7C544">
                <a:alpha val="0"/>
              </a:srgbClr>
            </a:solidFill>
            <a:prstDash val="solid"/>
          </a:ln>
        </p:spPr>
      </p:sp>
      <p:sp>
        <p:nvSpPr>
          <p:cNvPr id="10" name="Shape 7"/>
          <p:cNvSpPr/>
          <p:nvPr/>
        </p:nvSpPr>
        <p:spPr>
          <a:xfrm>
            <a:off x="7589520" y="3255264"/>
            <a:ext cx="347472" cy="347472"/>
          </a:xfrm>
          <a:prstGeom prst="ellipse">
            <a:avLst/>
          </a:prstGeom>
          <a:solidFill>
            <a:srgbClr val="6C826D"/>
          </a:solidFill>
          <a:ln w="12700">
            <a:solidFill>
              <a:srgbClr val="6C826D">
                <a:alpha val="0"/>
              </a:srgbClr>
            </a:solidFill>
            <a:prstDash val="solid"/>
          </a:ln>
        </p:spPr>
      </p:sp>
      <p:sp>
        <p:nvSpPr>
          <p:cNvPr id="11" name="Shape 8"/>
          <p:cNvSpPr/>
          <p:nvPr/>
        </p:nvSpPr>
        <p:spPr>
          <a:xfrm>
            <a:off x="8183880" y="3255264"/>
            <a:ext cx="347472" cy="347472"/>
          </a:xfrm>
          <a:prstGeom prst="ellipse">
            <a:avLst/>
          </a:prstGeom>
          <a:solidFill>
            <a:srgbClr val="252628"/>
          </a:solidFill>
          <a:ln w="12700">
            <a:solidFill>
              <a:srgbClr val="252628">
                <a:alpha val="0"/>
              </a:srgbClr>
            </a:solidFill>
            <a:prstDash val="solid"/>
          </a:ln>
        </p:spPr>
      </p:sp>
      <p:sp>
        <p:nvSpPr>
          <p:cNvPr id="12" name="Shape 9"/>
          <p:cNvSpPr/>
          <p:nvPr/>
        </p:nvSpPr>
        <p:spPr>
          <a:xfrm>
            <a:off x="5715000" y="3858768"/>
            <a:ext cx="5120640" cy="0"/>
          </a:xfrm>
          <a:prstGeom prst="line">
            <a:avLst/>
          </a:prstGeom>
          <a:noFill/>
          <a:ln w="12700">
            <a:solidFill>
              <a:srgbClr val="ECE6DC"/>
            </a:solidFill>
            <a:prstDash val="solid"/>
          </a:ln>
        </p:spPr>
      </p:sp>
      <p:sp>
        <p:nvSpPr>
          <p:cNvPr id="13" name="Text 10"/>
          <p:cNvSpPr/>
          <p:nvPr/>
        </p:nvSpPr>
        <p:spPr>
          <a:xfrm>
            <a:off x="5742432" y="3995928"/>
            <a:ext cx="960120" cy="182880"/>
          </a:xfrm>
          <a:prstGeom prst="rect">
            <a:avLst/>
          </a:prstGeom>
          <a:noFill/>
          <a:ln/>
        </p:spPr>
        <p:txBody>
          <a:bodyPr wrap="square" lIns="0" tIns="0" rIns="0" bIns="0" rtlCol="0" anchor="t">
            <a:normAutofit/>
          </a:bodyPr>
          <a:lstStyle/>
          <a:p>
            <a:pPr algn="l" indent="0" marL="0">
              <a:buNone/>
            </a:pPr>
            <a:r>
              <a:rPr lang="en-US" sz="850" b="1" dirty="0">
                <a:solidFill>
                  <a:srgbClr val="1D1D1F"/>
                </a:solidFill>
                <a:latin typeface="Aptos" pitchFamily="34" charset="0"/>
                <a:ea typeface="Aptos" pitchFamily="34" charset="-122"/>
                <a:cs typeface="Aptos" pitchFamily="34" charset="-120"/>
              </a:rPr>
              <a:t>Color role</a:t>
            </a:r>
            <a:endParaRPr lang="en-US" sz="850" dirty="0"/>
          </a:p>
        </p:txBody>
      </p:sp>
      <p:sp>
        <p:nvSpPr>
          <p:cNvPr id="14" name="Text 11"/>
          <p:cNvSpPr/>
          <p:nvPr/>
        </p:nvSpPr>
        <p:spPr>
          <a:xfrm>
            <a:off x="7205472" y="3968496"/>
            <a:ext cx="3337560" cy="274320"/>
          </a:xfrm>
          <a:prstGeom prst="rect">
            <a:avLst/>
          </a:prstGeom>
          <a:noFill/>
          <a:ln/>
        </p:spPr>
        <p:txBody>
          <a:bodyPr wrap="square" lIns="381" tIns="381" rIns="381" bIns="381" rtlCol="0" anchor="t">
            <a:normAutofit/>
          </a:bodyPr>
          <a:lstStyle/>
          <a:p>
            <a:pPr algn="l" indent="0" marL="0">
              <a:buNone/>
            </a:pPr>
            <a:r>
              <a:rPr lang="en-US" sz="840" dirty="0">
                <a:solidFill>
                  <a:srgbClr val="6D6A66"/>
                </a:solidFill>
                <a:latin typeface="Aptos" pitchFamily="34" charset="0"/>
                <a:ea typeface="Aptos" pitchFamily="34" charset="-122"/>
                <a:cs typeface="Aptos" pitchFamily="34" charset="-120"/>
              </a:rPr>
              <a:t>Coral for attention, blue for civic structure, yellow for energy, sage for public space, charcoal for grounding.</a:t>
            </a:r>
            <a:endParaRPr lang="en-US" sz="840" dirty="0"/>
          </a:p>
        </p:txBody>
      </p:sp>
      <p:sp>
        <p:nvSpPr>
          <p:cNvPr id="15" name="Shape 12"/>
          <p:cNvSpPr/>
          <p:nvPr/>
        </p:nvSpPr>
        <p:spPr>
          <a:xfrm>
            <a:off x="5715000" y="4517136"/>
            <a:ext cx="5120640" cy="0"/>
          </a:xfrm>
          <a:prstGeom prst="line">
            <a:avLst/>
          </a:prstGeom>
          <a:noFill/>
          <a:ln w="12700">
            <a:solidFill>
              <a:srgbClr val="ECE6DC"/>
            </a:solidFill>
            <a:prstDash val="solid"/>
          </a:ln>
        </p:spPr>
      </p:sp>
      <p:sp>
        <p:nvSpPr>
          <p:cNvPr id="16" name="Text 13"/>
          <p:cNvSpPr/>
          <p:nvPr/>
        </p:nvSpPr>
        <p:spPr>
          <a:xfrm>
            <a:off x="5742432" y="4654296"/>
            <a:ext cx="960120" cy="182880"/>
          </a:xfrm>
          <a:prstGeom prst="rect">
            <a:avLst/>
          </a:prstGeom>
          <a:noFill/>
          <a:ln/>
        </p:spPr>
        <p:txBody>
          <a:bodyPr wrap="square" lIns="0" tIns="0" rIns="0" bIns="0" rtlCol="0" anchor="t">
            <a:normAutofit/>
          </a:bodyPr>
          <a:lstStyle/>
          <a:p>
            <a:pPr algn="l" indent="0" marL="0">
              <a:buNone/>
            </a:pPr>
            <a:r>
              <a:rPr lang="en-US" sz="850" b="1" dirty="0">
                <a:solidFill>
                  <a:srgbClr val="1D1D1F"/>
                </a:solidFill>
                <a:latin typeface="Aptos" pitchFamily="34" charset="0"/>
                <a:ea typeface="Aptos" pitchFamily="34" charset="-122"/>
                <a:cs typeface="Aptos" pitchFamily="34" charset="-120"/>
              </a:rPr>
              <a:t>Typography role</a:t>
            </a:r>
            <a:endParaRPr lang="en-US" sz="850" dirty="0"/>
          </a:p>
        </p:txBody>
      </p:sp>
      <p:sp>
        <p:nvSpPr>
          <p:cNvPr id="17" name="Text 14"/>
          <p:cNvSpPr/>
          <p:nvPr/>
        </p:nvSpPr>
        <p:spPr>
          <a:xfrm>
            <a:off x="7205472" y="4626864"/>
            <a:ext cx="3337560" cy="274320"/>
          </a:xfrm>
          <a:prstGeom prst="rect">
            <a:avLst/>
          </a:prstGeom>
          <a:noFill/>
          <a:ln/>
        </p:spPr>
        <p:txBody>
          <a:bodyPr wrap="square" lIns="381" tIns="381" rIns="381" bIns="381" rtlCol="0" anchor="t">
            <a:normAutofit/>
          </a:bodyPr>
          <a:lstStyle/>
          <a:p>
            <a:pPr algn="l" indent="0" marL="0">
              <a:buNone/>
            </a:pPr>
            <a:r>
              <a:rPr lang="en-US" sz="840" dirty="0">
                <a:solidFill>
                  <a:srgbClr val="6D6A66"/>
                </a:solidFill>
                <a:latin typeface="Aptos" pitchFamily="34" charset="0"/>
                <a:ea typeface="Aptos" pitchFamily="34" charset="-122"/>
                <a:cs typeface="Aptos" pitchFamily="34" charset="-120"/>
              </a:rPr>
              <a:t>High-impact headings paired with a functional sans serif for schedules, labels, and production specs.</a:t>
            </a:r>
            <a:endParaRPr lang="en-US" sz="840" dirty="0"/>
          </a:p>
        </p:txBody>
      </p:sp>
      <p:sp>
        <p:nvSpPr>
          <p:cNvPr id="18" name="Shape 15"/>
          <p:cNvSpPr/>
          <p:nvPr/>
        </p:nvSpPr>
        <p:spPr>
          <a:xfrm>
            <a:off x="5715000" y="5175504"/>
            <a:ext cx="5120640" cy="0"/>
          </a:xfrm>
          <a:prstGeom prst="line">
            <a:avLst/>
          </a:prstGeom>
          <a:noFill/>
          <a:ln w="12700">
            <a:solidFill>
              <a:srgbClr val="ECE6DC"/>
            </a:solidFill>
            <a:prstDash val="solid"/>
          </a:ln>
        </p:spPr>
      </p:sp>
      <p:sp>
        <p:nvSpPr>
          <p:cNvPr id="19" name="Text 16"/>
          <p:cNvSpPr/>
          <p:nvPr/>
        </p:nvSpPr>
        <p:spPr>
          <a:xfrm>
            <a:off x="5742432" y="5312664"/>
            <a:ext cx="960120" cy="182880"/>
          </a:xfrm>
          <a:prstGeom prst="rect">
            <a:avLst/>
          </a:prstGeom>
          <a:noFill/>
          <a:ln/>
        </p:spPr>
        <p:txBody>
          <a:bodyPr wrap="square" lIns="0" tIns="0" rIns="0" bIns="0" rtlCol="0" anchor="t">
            <a:normAutofit/>
          </a:bodyPr>
          <a:lstStyle/>
          <a:p>
            <a:pPr algn="l" indent="0" marL="0">
              <a:buNone/>
            </a:pPr>
            <a:r>
              <a:rPr lang="en-US" sz="850" b="1" dirty="0">
                <a:solidFill>
                  <a:srgbClr val="1D1D1F"/>
                </a:solidFill>
                <a:latin typeface="Aptos" pitchFamily="34" charset="0"/>
                <a:ea typeface="Aptos" pitchFamily="34" charset="-122"/>
                <a:cs typeface="Aptos" pitchFamily="34" charset="-120"/>
              </a:rPr>
              <a:t>Image role</a:t>
            </a:r>
            <a:endParaRPr lang="en-US" sz="850" dirty="0"/>
          </a:p>
        </p:txBody>
      </p:sp>
      <p:sp>
        <p:nvSpPr>
          <p:cNvPr id="20" name="Text 17"/>
          <p:cNvSpPr/>
          <p:nvPr/>
        </p:nvSpPr>
        <p:spPr>
          <a:xfrm>
            <a:off x="7205472" y="5285232"/>
            <a:ext cx="3337560" cy="274320"/>
          </a:xfrm>
          <a:prstGeom prst="rect">
            <a:avLst/>
          </a:prstGeom>
          <a:noFill/>
          <a:ln/>
        </p:spPr>
        <p:txBody>
          <a:bodyPr wrap="square" lIns="381" tIns="381" rIns="381" bIns="381" rtlCol="0" anchor="t">
            <a:normAutofit/>
          </a:bodyPr>
          <a:lstStyle/>
          <a:p>
            <a:pPr algn="l" indent="0" marL="0">
              <a:buNone/>
            </a:pPr>
            <a:r>
              <a:rPr lang="en-US" sz="840" dirty="0">
                <a:solidFill>
                  <a:srgbClr val="6D6A66"/>
                </a:solidFill>
                <a:latin typeface="Aptos" pitchFamily="34" charset="0"/>
                <a:ea typeface="Aptos" pitchFamily="34" charset="-122"/>
                <a:cs typeface="Aptos" pitchFamily="34" charset="-120"/>
              </a:rPr>
              <a:t>Bright public-space photography and clean cutouts create an optimistic civic tone.</a:t>
            </a:r>
            <a:endParaRPr lang="en-US" sz="840" dirty="0"/>
          </a:p>
        </p:txBody>
      </p:sp>
      <p:sp>
        <p:nvSpPr>
          <p:cNvPr id="21" name="Text 18"/>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22" name="Text 19"/>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7EEF7"/>
        </a:solidFill>
      </p:bgPr>
    </p:bg>
    <p:spTree>
      <p:nvGrpSpPr>
        <p:cNvPr id="1" name=""/>
        <p:cNvGrpSpPr/>
        <p:nvPr/>
      </p:nvGrpSpPr>
      <p:grpSpPr>
        <a:xfrm>
          <a:off x="0" y="0"/>
          <a:ext cx="0" cy="0"/>
          <a:chOff x="0" y="0"/>
          <a:chExt cx="0" cy="0"/>
        </a:xfrm>
      </p:grpSpPr>
      <p:sp>
        <p:nvSpPr>
          <p:cNvPr id="2" name="Text 0"/>
          <p:cNvSpPr/>
          <p:nvPr/>
        </p:nvSpPr>
        <p:spPr>
          <a:xfrm>
            <a:off x="594360" y="566928"/>
            <a:ext cx="2286000" cy="137160"/>
          </a:xfrm>
          <a:prstGeom prst="rect">
            <a:avLst/>
          </a:prstGeom>
          <a:noFill/>
          <a:ln/>
        </p:spPr>
        <p:txBody>
          <a:bodyPr wrap="square" lIns="0" tIns="0" rIns="0" bIns="0" rtlCol="0" anchor="t">
            <a:normAutofit/>
          </a:bodyPr>
          <a:lstStyle/>
          <a:p>
            <a:pPr algn="l" indent="0" marL="0">
              <a:buNone/>
            </a:pPr>
            <a:r>
              <a:rPr lang="en-US" sz="850" b="1" dirty="0">
                <a:solidFill>
                  <a:srgbClr val="1553A5"/>
                </a:solidFill>
                <a:latin typeface="Aptos" pitchFamily="34" charset="0"/>
                <a:ea typeface="Aptos" pitchFamily="34" charset="-122"/>
                <a:cs typeface="Aptos" pitchFamily="34" charset="-120"/>
              </a:rPr>
              <a:t>04 / PRESENTATION SYSTEM</a:t>
            </a:r>
            <a:endParaRPr lang="en-US" sz="850" dirty="0"/>
          </a:p>
        </p:txBody>
      </p:sp>
      <p:sp>
        <p:nvSpPr>
          <p:cNvPr id="3" name="Text 1"/>
          <p:cNvSpPr/>
          <p:nvPr/>
        </p:nvSpPr>
        <p:spPr>
          <a:xfrm>
            <a:off x="594360" y="960120"/>
            <a:ext cx="5349240" cy="914400"/>
          </a:xfrm>
          <a:prstGeom prst="rect">
            <a:avLst/>
          </a:prstGeom>
          <a:noFill/>
          <a:ln/>
        </p:spPr>
        <p:txBody>
          <a:bodyPr wrap="square" lIns="0" tIns="0" rIns="0" bIns="0" rtlCol="0" anchor="t">
            <a:normAutofit/>
          </a:bodyPr>
          <a:lstStyle/>
          <a:p>
            <a:pPr algn="l" indent="0" marL="0">
              <a:buNone/>
            </a:pPr>
            <a:r>
              <a:rPr lang="en-US" sz="4200" dirty="0">
                <a:solidFill>
                  <a:srgbClr val="1D1D1F"/>
                </a:solidFill>
                <a:latin typeface="Georgia" pitchFamily="34" charset="0"/>
                <a:ea typeface="Georgia" pitchFamily="34" charset="-122"/>
                <a:cs typeface="Georgia" pitchFamily="34" charset="-120"/>
              </a:rPr>
              <a:t>Decks as tools for decision-making.</a:t>
            </a:r>
            <a:endParaRPr lang="en-US" sz="4200" dirty="0"/>
          </a:p>
        </p:txBody>
      </p:sp>
      <p:sp>
        <p:nvSpPr>
          <p:cNvPr id="4" name="Text 2"/>
          <p:cNvSpPr/>
          <p:nvPr/>
        </p:nvSpPr>
        <p:spPr>
          <a:xfrm>
            <a:off x="621792" y="1901952"/>
            <a:ext cx="4846320" cy="713232"/>
          </a:xfrm>
          <a:prstGeom prst="rect">
            <a:avLst/>
          </a:prstGeom>
          <a:noFill/>
          <a:ln/>
        </p:spPr>
        <p:txBody>
          <a:bodyPr wrap="square" lIns="381" tIns="381" rIns="381" bIns="381" rtlCol="0" anchor="t">
            <a:normAutofit/>
          </a:bodyPr>
          <a:lstStyle/>
          <a:p>
            <a:pPr algn="l" indent="0" marL="0">
              <a:buNone/>
            </a:pPr>
            <a:r>
              <a:rPr lang="en-US" sz="1230" dirty="0">
                <a:solidFill>
                  <a:srgbClr val="6D6A66"/>
                </a:solidFill>
                <a:latin typeface="Aptos" pitchFamily="34" charset="0"/>
                <a:ea typeface="Aptos" pitchFamily="34" charset="-122"/>
                <a:cs typeface="Aptos" pitchFamily="34" charset="-120"/>
              </a:rPr>
              <a:t>The presentation design is modular: cover, section divider, visual concept, schedule/timeline, stakeholder review, and production checklist. Each format uses consistent positioning so updates are fast and accurate.</a:t>
            </a:r>
            <a:endParaRPr lang="en-US" sz="1230" dirty="0"/>
          </a:p>
        </p:txBody>
      </p:sp>
      <p:sp>
        <p:nvSpPr>
          <p:cNvPr id="5" name="Shape 3"/>
          <p:cNvSpPr/>
          <p:nvPr/>
        </p:nvSpPr>
        <p:spPr>
          <a:xfrm>
            <a:off x="6172200" y="777240"/>
            <a:ext cx="2240280" cy="1508760"/>
          </a:xfrm>
          <a:prstGeom prst="roundRect">
            <a:avLst>
              <a:gd name="adj" fmla="val 5455"/>
            </a:avLst>
          </a:prstGeom>
          <a:solidFill>
            <a:srgbClr val="FFFFFF"/>
          </a:solidFill>
          <a:ln w="12700">
            <a:solidFill>
              <a:srgbClr val="FFFFFF">
                <a:alpha val="25000"/>
              </a:srgbClr>
            </a:solidFill>
            <a:prstDash val="solid"/>
          </a:ln>
        </p:spPr>
      </p:sp>
      <p:sp>
        <p:nvSpPr>
          <p:cNvPr id="6" name="Shape 4"/>
          <p:cNvSpPr/>
          <p:nvPr/>
        </p:nvSpPr>
        <p:spPr>
          <a:xfrm>
            <a:off x="6327648" y="941832"/>
            <a:ext cx="749808" cy="1115568"/>
          </a:xfrm>
          <a:prstGeom prst="rect">
            <a:avLst/>
          </a:prstGeom>
          <a:solidFill>
            <a:srgbClr val="EF6548"/>
          </a:solidFill>
          <a:ln w="12700">
            <a:solidFill>
              <a:srgbClr val="EF6548"/>
            </a:solidFill>
            <a:prstDash val="solid"/>
          </a:ln>
        </p:spPr>
      </p:sp>
      <p:sp>
        <p:nvSpPr>
          <p:cNvPr id="7" name="Shape 5"/>
          <p:cNvSpPr/>
          <p:nvPr/>
        </p:nvSpPr>
        <p:spPr>
          <a:xfrm>
            <a:off x="7251192" y="1161288"/>
            <a:ext cx="822960" cy="0"/>
          </a:xfrm>
          <a:prstGeom prst="line">
            <a:avLst/>
          </a:prstGeom>
          <a:noFill/>
          <a:ln w="12700">
            <a:solidFill>
              <a:srgbClr val="1D1D1F"/>
            </a:solidFill>
            <a:prstDash val="solid"/>
          </a:ln>
        </p:spPr>
      </p:sp>
      <p:sp>
        <p:nvSpPr>
          <p:cNvPr id="8" name="Shape 6"/>
          <p:cNvSpPr/>
          <p:nvPr/>
        </p:nvSpPr>
        <p:spPr>
          <a:xfrm>
            <a:off x="7251192" y="1371600"/>
            <a:ext cx="594360" cy="0"/>
          </a:xfrm>
          <a:prstGeom prst="line">
            <a:avLst/>
          </a:prstGeom>
          <a:noFill/>
          <a:ln w="12700">
            <a:solidFill>
              <a:srgbClr val="6D6A66"/>
            </a:solidFill>
            <a:prstDash val="solid"/>
          </a:ln>
        </p:spPr>
      </p:sp>
      <p:sp>
        <p:nvSpPr>
          <p:cNvPr id="9" name="Shape 7"/>
          <p:cNvSpPr/>
          <p:nvPr/>
        </p:nvSpPr>
        <p:spPr>
          <a:xfrm>
            <a:off x="7251192" y="1581912"/>
            <a:ext cx="777240" cy="0"/>
          </a:xfrm>
          <a:prstGeom prst="line">
            <a:avLst/>
          </a:prstGeom>
          <a:noFill/>
          <a:ln w="12700">
            <a:solidFill>
              <a:srgbClr val="6D6A66"/>
            </a:solidFill>
            <a:prstDash val="solid"/>
          </a:ln>
        </p:spPr>
      </p:sp>
      <p:sp>
        <p:nvSpPr>
          <p:cNvPr id="10" name="Text 8"/>
          <p:cNvSpPr/>
          <p:nvPr/>
        </p:nvSpPr>
        <p:spPr>
          <a:xfrm>
            <a:off x="6327648" y="2167128"/>
            <a:ext cx="1280160" cy="9144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COVER</a:t>
            </a:r>
            <a:endParaRPr lang="en-US" sz="850" dirty="0"/>
          </a:p>
        </p:txBody>
      </p:sp>
      <p:sp>
        <p:nvSpPr>
          <p:cNvPr id="11" name="Shape 9"/>
          <p:cNvSpPr/>
          <p:nvPr/>
        </p:nvSpPr>
        <p:spPr>
          <a:xfrm>
            <a:off x="8778240" y="777240"/>
            <a:ext cx="2240280" cy="1508760"/>
          </a:xfrm>
          <a:prstGeom prst="roundRect">
            <a:avLst>
              <a:gd name="adj" fmla="val 5455"/>
            </a:avLst>
          </a:prstGeom>
          <a:solidFill>
            <a:srgbClr val="FFFFFF"/>
          </a:solidFill>
          <a:ln w="12700">
            <a:solidFill>
              <a:srgbClr val="FFFFFF">
                <a:alpha val="25000"/>
              </a:srgbClr>
            </a:solidFill>
            <a:prstDash val="solid"/>
          </a:ln>
        </p:spPr>
      </p:sp>
      <p:sp>
        <p:nvSpPr>
          <p:cNvPr id="12" name="Shape 10"/>
          <p:cNvSpPr/>
          <p:nvPr/>
        </p:nvSpPr>
        <p:spPr>
          <a:xfrm>
            <a:off x="8933688" y="941832"/>
            <a:ext cx="749808" cy="1115568"/>
          </a:xfrm>
          <a:prstGeom prst="rect">
            <a:avLst/>
          </a:prstGeom>
          <a:solidFill>
            <a:srgbClr val="1553A5"/>
          </a:solidFill>
          <a:ln w="12700">
            <a:solidFill>
              <a:srgbClr val="1553A5"/>
            </a:solidFill>
            <a:prstDash val="solid"/>
          </a:ln>
        </p:spPr>
      </p:sp>
      <p:sp>
        <p:nvSpPr>
          <p:cNvPr id="13" name="Shape 11"/>
          <p:cNvSpPr/>
          <p:nvPr/>
        </p:nvSpPr>
        <p:spPr>
          <a:xfrm>
            <a:off x="9857232" y="1161288"/>
            <a:ext cx="822960" cy="0"/>
          </a:xfrm>
          <a:prstGeom prst="line">
            <a:avLst/>
          </a:prstGeom>
          <a:noFill/>
          <a:ln w="12700">
            <a:solidFill>
              <a:srgbClr val="1D1D1F"/>
            </a:solidFill>
            <a:prstDash val="solid"/>
          </a:ln>
        </p:spPr>
      </p:sp>
      <p:sp>
        <p:nvSpPr>
          <p:cNvPr id="14" name="Shape 12"/>
          <p:cNvSpPr/>
          <p:nvPr/>
        </p:nvSpPr>
        <p:spPr>
          <a:xfrm>
            <a:off x="9857232" y="1371600"/>
            <a:ext cx="594360" cy="0"/>
          </a:xfrm>
          <a:prstGeom prst="line">
            <a:avLst/>
          </a:prstGeom>
          <a:noFill/>
          <a:ln w="12700">
            <a:solidFill>
              <a:srgbClr val="6D6A66"/>
            </a:solidFill>
            <a:prstDash val="solid"/>
          </a:ln>
        </p:spPr>
      </p:sp>
      <p:sp>
        <p:nvSpPr>
          <p:cNvPr id="15" name="Shape 13"/>
          <p:cNvSpPr/>
          <p:nvPr/>
        </p:nvSpPr>
        <p:spPr>
          <a:xfrm>
            <a:off x="9857232" y="1581912"/>
            <a:ext cx="777240" cy="0"/>
          </a:xfrm>
          <a:prstGeom prst="line">
            <a:avLst/>
          </a:prstGeom>
          <a:noFill/>
          <a:ln w="12700">
            <a:solidFill>
              <a:srgbClr val="6D6A66"/>
            </a:solidFill>
            <a:prstDash val="solid"/>
          </a:ln>
        </p:spPr>
      </p:sp>
      <p:sp>
        <p:nvSpPr>
          <p:cNvPr id="16" name="Text 14"/>
          <p:cNvSpPr/>
          <p:nvPr/>
        </p:nvSpPr>
        <p:spPr>
          <a:xfrm>
            <a:off x="8933688" y="2167128"/>
            <a:ext cx="1280160" cy="91440"/>
          </a:xfrm>
          <a:prstGeom prst="rect">
            <a:avLst/>
          </a:prstGeom>
          <a:noFill/>
          <a:ln/>
        </p:spPr>
        <p:txBody>
          <a:bodyPr wrap="square" lIns="0" tIns="0" rIns="0" bIns="0" rtlCol="0" anchor="t">
            <a:normAutofit/>
          </a:bodyPr>
          <a:lstStyle/>
          <a:p>
            <a:pPr algn="l" indent="0" marL="0">
              <a:buNone/>
            </a:pPr>
            <a:r>
              <a:rPr lang="en-US" sz="850" b="1" dirty="0">
                <a:solidFill>
                  <a:srgbClr val="1553A5"/>
                </a:solidFill>
                <a:latin typeface="Aptos" pitchFamily="34" charset="0"/>
                <a:ea typeface="Aptos" pitchFamily="34" charset="-122"/>
                <a:cs typeface="Aptos" pitchFamily="34" charset="-120"/>
              </a:rPr>
              <a:t>TIMELINE</a:t>
            </a:r>
            <a:endParaRPr lang="en-US" sz="850" dirty="0"/>
          </a:p>
        </p:txBody>
      </p:sp>
      <p:sp>
        <p:nvSpPr>
          <p:cNvPr id="17" name="Shape 15"/>
          <p:cNvSpPr/>
          <p:nvPr/>
        </p:nvSpPr>
        <p:spPr>
          <a:xfrm>
            <a:off x="6172200" y="2880360"/>
            <a:ext cx="2240280" cy="1508760"/>
          </a:xfrm>
          <a:prstGeom prst="roundRect">
            <a:avLst>
              <a:gd name="adj" fmla="val 5455"/>
            </a:avLst>
          </a:prstGeom>
          <a:solidFill>
            <a:srgbClr val="FFFFFF"/>
          </a:solidFill>
          <a:ln w="12700">
            <a:solidFill>
              <a:srgbClr val="FFFFFF">
                <a:alpha val="25000"/>
              </a:srgbClr>
            </a:solidFill>
            <a:prstDash val="solid"/>
          </a:ln>
        </p:spPr>
      </p:sp>
      <p:sp>
        <p:nvSpPr>
          <p:cNvPr id="18" name="Shape 16"/>
          <p:cNvSpPr/>
          <p:nvPr/>
        </p:nvSpPr>
        <p:spPr>
          <a:xfrm>
            <a:off x="6327648" y="3044952"/>
            <a:ext cx="749808" cy="1115568"/>
          </a:xfrm>
          <a:prstGeom prst="rect">
            <a:avLst/>
          </a:prstGeom>
          <a:solidFill>
            <a:srgbClr val="F7C544"/>
          </a:solidFill>
          <a:ln w="12700">
            <a:solidFill>
              <a:srgbClr val="F7C544"/>
            </a:solidFill>
            <a:prstDash val="solid"/>
          </a:ln>
        </p:spPr>
      </p:sp>
      <p:sp>
        <p:nvSpPr>
          <p:cNvPr id="19" name="Shape 17"/>
          <p:cNvSpPr/>
          <p:nvPr/>
        </p:nvSpPr>
        <p:spPr>
          <a:xfrm>
            <a:off x="7251192" y="3264408"/>
            <a:ext cx="822960" cy="0"/>
          </a:xfrm>
          <a:prstGeom prst="line">
            <a:avLst/>
          </a:prstGeom>
          <a:noFill/>
          <a:ln w="12700">
            <a:solidFill>
              <a:srgbClr val="1D1D1F"/>
            </a:solidFill>
            <a:prstDash val="solid"/>
          </a:ln>
        </p:spPr>
      </p:sp>
      <p:sp>
        <p:nvSpPr>
          <p:cNvPr id="20" name="Shape 18"/>
          <p:cNvSpPr/>
          <p:nvPr/>
        </p:nvSpPr>
        <p:spPr>
          <a:xfrm>
            <a:off x="7251192" y="3474720"/>
            <a:ext cx="594360" cy="0"/>
          </a:xfrm>
          <a:prstGeom prst="line">
            <a:avLst/>
          </a:prstGeom>
          <a:noFill/>
          <a:ln w="12700">
            <a:solidFill>
              <a:srgbClr val="6D6A66"/>
            </a:solidFill>
            <a:prstDash val="solid"/>
          </a:ln>
        </p:spPr>
      </p:sp>
      <p:sp>
        <p:nvSpPr>
          <p:cNvPr id="21" name="Shape 19"/>
          <p:cNvSpPr/>
          <p:nvPr/>
        </p:nvSpPr>
        <p:spPr>
          <a:xfrm>
            <a:off x="7251192" y="3685032"/>
            <a:ext cx="777240" cy="0"/>
          </a:xfrm>
          <a:prstGeom prst="line">
            <a:avLst/>
          </a:prstGeom>
          <a:noFill/>
          <a:ln w="12700">
            <a:solidFill>
              <a:srgbClr val="6D6A66"/>
            </a:solidFill>
            <a:prstDash val="solid"/>
          </a:ln>
        </p:spPr>
      </p:sp>
      <p:sp>
        <p:nvSpPr>
          <p:cNvPr id="22" name="Text 20"/>
          <p:cNvSpPr/>
          <p:nvPr/>
        </p:nvSpPr>
        <p:spPr>
          <a:xfrm>
            <a:off x="6327648" y="4270248"/>
            <a:ext cx="1280160" cy="91440"/>
          </a:xfrm>
          <a:prstGeom prst="rect">
            <a:avLst/>
          </a:prstGeom>
          <a:noFill/>
          <a:ln/>
        </p:spPr>
        <p:txBody>
          <a:bodyPr wrap="square" lIns="0" tIns="0" rIns="0" bIns="0" rtlCol="0" anchor="t">
            <a:normAutofit/>
          </a:bodyPr>
          <a:lstStyle/>
          <a:p>
            <a:pPr algn="l" indent="0" marL="0">
              <a:buNone/>
            </a:pPr>
            <a:r>
              <a:rPr lang="en-US" sz="850" b="1" dirty="0">
                <a:solidFill>
                  <a:srgbClr val="F7C544"/>
                </a:solidFill>
                <a:latin typeface="Aptos" pitchFamily="34" charset="0"/>
                <a:ea typeface="Aptos" pitchFamily="34" charset="-122"/>
                <a:cs typeface="Aptos" pitchFamily="34" charset="-120"/>
              </a:rPr>
              <a:t>CHECKLIST</a:t>
            </a:r>
            <a:endParaRPr lang="en-US" sz="850" dirty="0"/>
          </a:p>
        </p:txBody>
      </p:sp>
      <p:sp>
        <p:nvSpPr>
          <p:cNvPr id="23" name="Shape 21"/>
          <p:cNvSpPr/>
          <p:nvPr/>
        </p:nvSpPr>
        <p:spPr>
          <a:xfrm>
            <a:off x="6172200" y="4791456"/>
            <a:ext cx="4846320" cy="1051560"/>
          </a:xfrm>
          <a:prstGeom prst="roundRect">
            <a:avLst>
              <a:gd name="adj" fmla="val 7826"/>
            </a:avLst>
          </a:prstGeom>
          <a:solidFill>
            <a:srgbClr val="1D1D1F"/>
          </a:solidFill>
          <a:ln w="12700">
            <a:solidFill>
              <a:srgbClr val="FFFFFF">
                <a:alpha val="25000"/>
              </a:srgbClr>
            </a:solidFill>
            <a:prstDash val="solid"/>
          </a:ln>
        </p:spPr>
      </p:sp>
      <p:sp>
        <p:nvSpPr>
          <p:cNvPr id="24" name="Text 22"/>
          <p:cNvSpPr/>
          <p:nvPr/>
        </p:nvSpPr>
        <p:spPr>
          <a:xfrm>
            <a:off x="6446520" y="5047488"/>
            <a:ext cx="4251960" cy="320040"/>
          </a:xfrm>
          <a:prstGeom prst="rect">
            <a:avLst/>
          </a:prstGeom>
          <a:noFill/>
          <a:ln/>
        </p:spPr>
        <p:txBody>
          <a:bodyPr wrap="square" lIns="381" tIns="381" rIns="381" bIns="381" rtlCol="0" anchor="t">
            <a:normAutofit/>
          </a:bodyPr>
          <a:lstStyle/>
          <a:p>
            <a:pPr algn="l" indent="0" marL="0">
              <a:buNone/>
            </a:pPr>
            <a:r>
              <a:rPr lang="en-US" sz="1100" dirty="0">
                <a:solidFill>
                  <a:srgbClr val="FFFFFF"/>
                </a:solidFill>
                <a:latin typeface="Aptos" pitchFamily="34" charset="0"/>
                <a:ea typeface="Aptos" pitchFamily="34" charset="-122"/>
                <a:cs typeface="Aptos" pitchFamily="34" charset="-120"/>
              </a:rPr>
              <a:t>Presentation rule: each slide should have one dominant message, one supporting visual system, and no more than three secondary points.</a:t>
            </a:r>
            <a:endParaRPr lang="en-US" sz="1100" dirty="0"/>
          </a:p>
        </p:txBody>
      </p:sp>
      <p:sp>
        <p:nvSpPr>
          <p:cNvPr id="25" name="Text 23"/>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26" name="Text 24"/>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6"/>
        </a:solidFill>
      </p:bgPr>
    </p:bg>
    <p:spTree>
      <p:nvGrpSpPr>
        <p:cNvPr id="1" name=""/>
        <p:cNvGrpSpPr/>
        <p:nvPr/>
      </p:nvGrpSpPr>
      <p:grpSpPr>
        <a:xfrm>
          <a:off x="0" y="0"/>
          <a:ext cx="0" cy="0"/>
          <a:chOff x="0" y="0"/>
          <a:chExt cx="0" cy="0"/>
        </a:xfrm>
      </p:grpSpPr>
      <p:pic>
        <p:nvPicPr>
          <p:cNvPr id="2" name="Image 0" descr="/mnt/data/a_high_resolution_top_down_angled_flat_lay_scene.png">    </p:cNvPr>
          <p:cNvPicPr>
            <a:picLocks noChangeAspect="1"/>
          </p:cNvPicPr>
          <p:nvPr/>
        </p:nvPicPr>
        <p:blipFill>
          <a:blip r:embed="rId1"/>
          <a:srcRect l="20023" r="20023" t="0" b="0"/>
          <a:stretch/>
        </p:blipFill>
        <p:spPr>
          <a:xfrm>
            <a:off x="502920" y="713232"/>
            <a:ext cx="5669280" cy="5321808"/>
          </a:xfrm>
          <a:prstGeom prst="rect">
            <a:avLst/>
          </a:prstGeom>
        </p:spPr>
      </p:pic>
      <p:sp>
        <p:nvSpPr>
          <p:cNvPr id="3" name="Text 0"/>
          <p:cNvSpPr/>
          <p:nvPr/>
        </p:nvSpPr>
        <p:spPr>
          <a:xfrm>
            <a:off x="6537960" y="731520"/>
            <a:ext cx="3017520" cy="13716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05 / SOCIAL MEDIA &amp; DIGITAL PRODUCTION</a:t>
            </a:r>
            <a:endParaRPr lang="en-US" sz="850" dirty="0"/>
          </a:p>
        </p:txBody>
      </p:sp>
      <p:sp>
        <p:nvSpPr>
          <p:cNvPr id="4" name="Text 1"/>
          <p:cNvSpPr/>
          <p:nvPr/>
        </p:nvSpPr>
        <p:spPr>
          <a:xfrm>
            <a:off x="6537960" y="1115568"/>
            <a:ext cx="4206240" cy="914400"/>
          </a:xfrm>
          <a:prstGeom prst="rect">
            <a:avLst/>
          </a:prstGeom>
          <a:noFill/>
          <a:ln/>
        </p:spPr>
        <p:txBody>
          <a:bodyPr wrap="square" lIns="0" tIns="0" rIns="0" bIns="0" rtlCol="0" anchor="t">
            <a:normAutofit/>
          </a:bodyPr>
          <a:lstStyle/>
          <a:p>
            <a:pPr algn="l" indent="0" marL="0">
              <a:buNone/>
            </a:pPr>
            <a:r>
              <a:rPr lang="en-US" sz="4000" dirty="0">
                <a:solidFill>
                  <a:srgbClr val="1D1D1F"/>
                </a:solidFill>
                <a:latin typeface="Georgia" pitchFamily="34" charset="0"/>
                <a:ea typeface="Georgia" pitchFamily="34" charset="-122"/>
                <a:cs typeface="Georgia" pitchFamily="34" charset="-120"/>
              </a:rPr>
              <a:t>Fast variations, protected hierarchy.</a:t>
            </a:r>
            <a:endParaRPr lang="en-US" sz="4000" dirty="0"/>
          </a:p>
        </p:txBody>
      </p:sp>
      <p:sp>
        <p:nvSpPr>
          <p:cNvPr id="5" name="Text 2"/>
          <p:cNvSpPr/>
          <p:nvPr/>
        </p:nvSpPr>
        <p:spPr>
          <a:xfrm>
            <a:off x="6565392" y="2029968"/>
            <a:ext cx="4160520" cy="822960"/>
          </a:xfrm>
          <a:prstGeom prst="rect">
            <a:avLst/>
          </a:prstGeom>
          <a:noFill/>
          <a:ln/>
        </p:spPr>
        <p:txBody>
          <a:bodyPr wrap="square" lIns="381" tIns="381" rIns="381" bIns="381" rtlCol="0" anchor="t">
            <a:normAutofit/>
          </a:bodyPr>
          <a:lstStyle/>
          <a:p>
            <a:pPr algn="l" indent="0" marL="0">
              <a:buNone/>
            </a:pPr>
            <a:r>
              <a:rPr lang="en-US" sz="1220" dirty="0">
                <a:solidFill>
                  <a:srgbClr val="6D6A66"/>
                </a:solidFill>
                <a:latin typeface="Aptos" pitchFamily="34" charset="0"/>
                <a:ea typeface="Aptos" pitchFamily="34" charset="-122"/>
                <a:cs typeface="Aptos" pitchFamily="34" charset="-120"/>
              </a:rPr>
              <a:t>A social system should give the designer room to produce quickly without letting brand consistency fall apart. Civic Bloom includes modular crops, safe zones, post families, and campaign-specific cutdowns.</a:t>
            </a:r>
            <a:endParaRPr lang="en-US" sz="1220" dirty="0"/>
          </a:p>
        </p:txBody>
      </p:sp>
      <p:sp>
        <p:nvSpPr>
          <p:cNvPr id="6" name="Shape 3"/>
          <p:cNvSpPr/>
          <p:nvPr/>
        </p:nvSpPr>
        <p:spPr>
          <a:xfrm>
            <a:off x="6565392" y="3401568"/>
            <a:ext cx="1627632" cy="320040"/>
          </a:xfrm>
          <a:prstGeom prst="roundRect">
            <a:avLst>
              <a:gd name="adj" fmla="val 37143"/>
            </a:avLst>
          </a:prstGeom>
          <a:solidFill>
            <a:srgbClr val="1D1D1F"/>
          </a:solidFill>
          <a:ln w="12700">
            <a:solidFill>
              <a:srgbClr val="000000">
                <a:alpha val="10000"/>
              </a:srgbClr>
            </a:solidFill>
            <a:prstDash val="solid"/>
          </a:ln>
        </p:spPr>
      </p:sp>
      <p:sp>
        <p:nvSpPr>
          <p:cNvPr id="7" name="Text 4"/>
          <p:cNvSpPr/>
          <p:nvPr/>
        </p:nvSpPr>
        <p:spPr>
          <a:xfrm>
            <a:off x="6675120" y="3479292"/>
            <a:ext cx="1408176" cy="146304"/>
          </a:xfrm>
          <a:prstGeom prst="rect">
            <a:avLst/>
          </a:prstGeom>
          <a:noFill/>
          <a:ln/>
        </p:spPr>
        <p:txBody>
          <a:bodyPr wrap="square" lIns="0" tIns="0" rIns="0" bIns="0" rtlCol="0" anchor="t">
            <a:normAutofit/>
          </a:bodyPr>
          <a:lstStyle/>
          <a:p>
            <a:pPr algn="ctr" indent="0" marL="0">
              <a:buNone/>
            </a:pPr>
            <a:r>
              <a:rPr lang="en-US" sz="750" b="1" dirty="0">
                <a:solidFill>
                  <a:srgbClr val="1D1D1F"/>
                </a:solidFill>
                <a:latin typeface="Aptos" pitchFamily="34" charset="0"/>
                <a:ea typeface="Aptos" pitchFamily="34" charset="-122"/>
                <a:cs typeface="Aptos" pitchFamily="34" charset="-120"/>
              </a:rPr>
              <a:t>IG Feed · 1080 × 1080</a:t>
            </a:r>
            <a:endParaRPr lang="en-US" sz="750" dirty="0"/>
          </a:p>
        </p:txBody>
      </p:sp>
      <p:sp>
        <p:nvSpPr>
          <p:cNvPr id="8" name="Shape 5"/>
          <p:cNvSpPr/>
          <p:nvPr/>
        </p:nvSpPr>
        <p:spPr>
          <a:xfrm>
            <a:off x="8394192" y="3401568"/>
            <a:ext cx="1627632" cy="320040"/>
          </a:xfrm>
          <a:prstGeom prst="roundRect">
            <a:avLst>
              <a:gd name="adj" fmla="val 37143"/>
            </a:avLst>
          </a:prstGeom>
          <a:solidFill>
            <a:srgbClr val="1D1D1F"/>
          </a:solidFill>
          <a:ln w="12700">
            <a:solidFill>
              <a:srgbClr val="000000">
                <a:alpha val="10000"/>
              </a:srgbClr>
            </a:solidFill>
            <a:prstDash val="solid"/>
          </a:ln>
        </p:spPr>
      </p:sp>
      <p:sp>
        <p:nvSpPr>
          <p:cNvPr id="9" name="Text 6"/>
          <p:cNvSpPr/>
          <p:nvPr/>
        </p:nvSpPr>
        <p:spPr>
          <a:xfrm>
            <a:off x="8503920" y="3479292"/>
            <a:ext cx="1408176" cy="146304"/>
          </a:xfrm>
          <a:prstGeom prst="rect">
            <a:avLst/>
          </a:prstGeom>
          <a:noFill/>
          <a:ln/>
        </p:spPr>
        <p:txBody>
          <a:bodyPr wrap="square" lIns="0" tIns="0" rIns="0" bIns="0" rtlCol="0" anchor="t">
            <a:normAutofit/>
          </a:bodyPr>
          <a:lstStyle/>
          <a:p>
            <a:pPr algn="ctr" indent="0" marL="0">
              <a:buNone/>
            </a:pPr>
            <a:r>
              <a:rPr lang="en-US" sz="750" b="1" dirty="0">
                <a:solidFill>
                  <a:srgbClr val="1D1D1F"/>
                </a:solidFill>
                <a:latin typeface="Aptos" pitchFamily="34" charset="0"/>
                <a:ea typeface="Aptos" pitchFamily="34" charset="-122"/>
                <a:cs typeface="Aptos" pitchFamily="34" charset="-120"/>
              </a:rPr>
              <a:t>Story/Reel · 1080 × 1920</a:t>
            </a:r>
            <a:endParaRPr lang="en-US" sz="750" dirty="0"/>
          </a:p>
        </p:txBody>
      </p:sp>
      <p:sp>
        <p:nvSpPr>
          <p:cNvPr id="10" name="Shape 7"/>
          <p:cNvSpPr/>
          <p:nvPr/>
        </p:nvSpPr>
        <p:spPr>
          <a:xfrm>
            <a:off x="6565392" y="3968496"/>
            <a:ext cx="1627632" cy="320040"/>
          </a:xfrm>
          <a:prstGeom prst="roundRect">
            <a:avLst>
              <a:gd name="adj" fmla="val 37143"/>
            </a:avLst>
          </a:prstGeom>
          <a:solidFill>
            <a:srgbClr val="1D1D1F"/>
          </a:solidFill>
          <a:ln w="12700">
            <a:solidFill>
              <a:srgbClr val="000000">
                <a:alpha val="10000"/>
              </a:srgbClr>
            </a:solidFill>
            <a:prstDash val="solid"/>
          </a:ln>
        </p:spPr>
      </p:sp>
      <p:sp>
        <p:nvSpPr>
          <p:cNvPr id="11" name="Text 8"/>
          <p:cNvSpPr/>
          <p:nvPr/>
        </p:nvSpPr>
        <p:spPr>
          <a:xfrm>
            <a:off x="6675120" y="4046220"/>
            <a:ext cx="1408176" cy="146304"/>
          </a:xfrm>
          <a:prstGeom prst="rect">
            <a:avLst/>
          </a:prstGeom>
          <a:noFill/>
          <a:ln/>
        </p:spPr>
        <p:txBody>
          <a:bodyPr wrap="square" lIns="0" tIns="0" rIns="0" bIns="0" rtlCol="0" anchor="t">
            <a:normAutofit/>
          </a:bodyPr>
          <a:lstStyle/>
          <a:p>
            <a:pPr algn="ctr" indent="0" marL="0">
              <a:buNone/>
            </a:pPr>
            <a:r>
              <a:rPr lang="en-US" sz="750" b="1" dirty="0">
                <a:solidFill>
                  <a:srgbClr val="1D1D1F"/>
                </a:solidFill>
                <a:latin typeface="Aptos" pitchFamily="34" charset="0"/>
                <a:ea typeface="Aptos" pitchFamily="34" charset="-122"/>
                <a:cs typeface="Aptos" pitchFamily="34" charset="-120"/>
              </a:rPr>
              <a:t>LinkedIn · 1600 × 900</a:t>
            </a:r>
            <a:endParaRPr lang="en-US" sz="750" dirty="0"/>
          </a:p>
        </p:txBody>
      </p:sp>
      <p:sp>
        <p:nvSpPr>
          <p:cNvPr id="12" name="Shape 9"/>
          <p:cNvSpPr/>
          <p:nvPr/>
        </p:nvSpPr>
        <p:spPr>
          <a:xfrm>
            <a:off x="8394192" y="3968496"/>
            <a:ext cx="1627632" cy="320040"/>
          </a:xfrm>
          <a:prstGeom prst="roundRect">
            <a:avLst>
              <a:gd name="adj" fmla="val 37143"/>
            </a:avLst>
          </a:prstGeom>
          <a:solidFill>
            <a:srgbClr val="1D1D1F"/>
          </a:solidFill>
          <a:ln w="12700">
            <a:solidFill>
              <a:srgbClr val="000000">
                <a:alpha val="10000"/>
              </a:srgbClr>
            </a:solidFill>
            <a:prstDash val="solid"/>
          </a:ln>
        </p:spPr>
      </p:sp>
      <p:sp>
        <p:nvSpPr>
          <p:cNvPr id="13" name="Text 10"/>
          <p:cNvSpPr/>
          <p:nvPr/>
        </p:nvSpPr>
        <p:spPr>
          <a:xfrm>
            <a:off x="8503920" y="4046220"/>
            <a:ext cx="1408176" cy="146304"/>
          </a:xfrm>
          <a:prstGeom prst="rect">
            <a:avLst/>
          </a:prstGeom>
          <a:noFill/>
          <a:ln/>
        </p:spPr>
        <p:txBody>
          <a:bodyPr wrap="square" lIns="0" tIns="0" rIns="0" bIns="0" rtlCol="0" anchor="t">
            <a:normAutofit/>
          </a:bodyPr>
          <a:lstStyle/>
          <a:p>
            <a:pPr algn="ctr" indent="0" marL="0">
              <a:buNone/>
            </a:pPr>
            <a:r>
              <a:rPr lang="en-US" sz="750" b="1" dirty="0">
                <a:solidFill>
                  <a:srgbClr val="1D1D1F"/>
                </a:solidFill>
                <a:latin typeface="Aptos" pitchFamily="34" charset="0"/>
                <a:ea typeface="Aptos" pitchFamily="34" charset="-122"/>
                <a:cs typeface="Aptos" pitchFamily="34" charset="-120"/>
              </a:rPr>
              <a:t>Carousel · 5–8 cards</a:t>
            </a:r>
            <a:endParaRPr lang="en-US" sz="750" dirty="0"/>
          </a:p>
        </p:txBody>
      </p:sp>
      <p:sp>
        <p:nvSpPr>
          <p:cNvPr id="14" name="Text 11"/>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15" name="Text 12"/>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0E5"/>
        </a:solidFill>
      </p:bgPr>
    </p:bg>
    <p:spTree>
      <p:nvGrpSpPr>
        <p:cNvPr id="1" name=""/>
        <p:cNvGrpSpPr/>
        <p:nvPr/>
      </p:nvGrpSpPr>
      <p:grpSpPr>
        <a:xfrm>
          <a:off x="0" y="0"/>
          <a:ext cx="0" cy="0"/>
          <a:chOff x="0" y="0"/>
          <a:chExt cx="0" cy="0"/>
        </a:xfrm>
      </p:grpSpPr>
      <p:sp>
        <p:nvSpPr>
          <p:cNvPr id="2" name="Text 0"/>
          <p:cNvSpPr/>
          <p:nvPr/>
        </p:nvSpPr>
        <p:spPr>
          <a:xfrm>
            <a:off x="594360" y="530352"/>
            <a:ext cx="2926080" cy="13716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06 / PRINT ASSETS &amp; SUBMISSION SUPPORT</a:t>
            </a:r>
            <a:endParaRPr lang="en-US" sz="850" dirty="0"/>
          </a:p>
        </p:txBody>
      </p:sp>
      <p:sp>
        <p:nvSpPr>
          <p:cNvPr id="3" name="Text 1"/>
          <p:cNvSpPr/>
          <p:nvPr/>
        </p:nvSpPr>
        <p:spPr>
          <a:xfrm>
            <a:off x="594360" y="896112"/>
            <a:ext cx="5212080" cy="822960"/>
          </a:xfrm>
          <a:prstGeom prst="rect">
            <a:avLst/>
          </a:prstGeom>
          <a:noFill/>
          <a:ln/>
        </p:spPr>
        <p:txBody>
          <a:bodyPr wrap="square" lIns="0" tIns="0" rIns="0" bIns="0" rtlCol="0" anchor="t">
            <a:normAutofit/>
          </a:bodyPr>
          <a:lstStyle/>
          <a:p>
            <a:pPr algn="l" indent="0" marL="0">
              <a:buNone/>
            </a:pPr>
            <a:r>
              <a:rPr lang="en-US" sz="3900" dirty="0">
                <a:solidFill>
                  <a:srgbClr val="1D1D1F"/>
                </a:solidFill>
                <a:latin typeface="Georgia" pitchFamily="34" charset="0"/>
                <a:ea typeface="Georgia" pitchFamily="34" charset="-122"/>
                <a:cs typeface="Georgia" pitchFamily="34" charset="-120"/>
              </a:rPr>
              <a:t>Print-ready thinking from the first layout.</a:t>
            </a:r>
            <a:endParaRPr lang="en-US" sz="3900" dirty="0"/>
          </a:p>
        </p:txBody>
      </p:sp>
      <p:sp>
        <p:nvSpPr>
          <p:cNvPr id="4" name="Text 2"/>
          <p:cNvSpPr/>
          <p:nvPr/>
        </p:nvSpPr>
        <p:spPr>
          <a:xfrm>
            <a:off x="621792" y="1783080"/>
            <a:ext cx="5074920" cy="685800"/>
          </a:xfrm>
          <a:prstGeom prst="rect">
            <a:avLst/>
          </a:prstGeom>
          <a:noFill/>
          <a:ln/>
        </p:spPr>
        <p:txBody>
          <a:bodyPr wrap="square" lIns="381" tIns="381" rIns="381" bIns="381" rtlCol="0" anchor="t">
            <a:normAutofit/>
          </a:bodyPr>
          <a:lstStyle/>
          <a:p>
            <a:pPr algn="l" indent="0" marL="0">
              <a:buNone/>
            </a:pPr>
            <a:r>
              <a:rPr lang="en-US" sz="1240" dirty="0">
                <a:solidFill>
                  <a:srgbClr val="6D6A66"/>
                </a:solidFill>
                <a:latin typeface="Aptos" pitchFamily="34" charset="0"/>
                <a:ea typeface="Aptos" pitchFamily="34" charset="-122"/>
                <a:cs typeface="Aptos" pitchFamily="34" charset="-120"/>
              </a:rPr>
              <a:t>The system includes posters, one-pagers, leave-behinds, badges, and signage-style pieces. Production notes are not treated as an afterthought; bleeds, trims, resolution, and final export settings are built into the workflow.</a:t>
            </a:r>
            <a:endParaRPr lang="en-US" sz="1240" dirty="0"/>
          </a:p>
        </p:txBody>
      </p:sp>
      <p:pic>
        <p:nvPicPr>
          <p:cNvPr id="5" name="Image 0" descr="/mnt/data/a_high_resolution_overhead_angled_studio_photo_of.png">    </p:cNvPr>
          <p:cNvPicPr>
            <a:picLocks noChangeAspect="1"/>
          </p:cNvPicPr>
          <p:nvPr/>
        </p:nvPicPr>
        <p:blipFill>
          <a:blip r:embed="rId1"/>
          <a:srcRect l="23752" r="23752" t="0" b="0"/>
          <a:stretch/>
        </p:blipFill>
        <p:spPr>
          <a:xfrm>
            <a:off x="6446520" y="594360"/>
            <a:ext cx="5074920" cy="5440680"/>
          </a:xfrm>
          <a:prstGeom prst="rect">
            <a:avLst/>
          </a:prstGeom>
        </p:spPr>
      </p:pic>
      <p:sp>
        <p:nvSpPr>
          <p:cNvPr id="6" name="Shape 3"/>
          <p:cNvSpPr/>
          <p:nvPr/>
        </p:nvSpPr>
        <p:spPr>
          <a:xfrm>
            <a:off x="658368" y="3127248"/>
            <a:ext cx="5029200" cy="2057400"/>
          </a:xfrm>
          <a:prstGeom prst="roundRect">
            <a:avLst>
              <a:gd name="adj" fmla="val 4000"/>
            </a:avLst>
          </a:prstGeom>
          <a:solidFill>
            <a:srgbClr val="FFFFFF"/>
          </a:solidFill>
          <a:ln w="12700">
            <a:solidFill>
              <a:srgbClr val="FFFFFF">
                <a:alpha val="25000"/>
              </a:srgbClr>
            </a:solidFill>
            <a:prstDash val="solid"/>
          </a:ln>
        </p:spPr>
      </p:sp>
      <p:sp>
        <p:nvSpPr>
          <p:cNvPr id="7" name="Text 4"/>
          <p:cNvSpPr/>
          <p:nvPr/>
        </p:nvSpPr>
        <p:spPr>
          <a:xfrm>
            <a:off x="914400" y="3429000"/>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D1D1F"/>
                </a:solidFill>
                <a:latin typeface="Aptos" pitchFamily="34" charset="0"/>
                <a:ea typeface="Aptos" pitchFamily="34" charset="-122"/>
                <a:cs typeface="Aptos" pitchFamily="34" charset="-120"/>
              </a:rPr>
              <a:t>Bleed</a:t>
            </a:r>
            <a:endParaRPr lang="en-US" sz="900" dirty="0"/>
          </a:p>
        </p:txBody>
      </p:sp>
      <p:sp>
        <p:nvSpPr>
          <p:cNvPr id="8" name="Text 5"/>
          <p:cNvSpPr/>
          <p:nvPr/>
        </p:nvSpPr>
        <p:spPr>
          <a:xfrm>
            <a:off x="1828800" y="3401568"/>
            <a:ext cx="3200400" cy="182880"/>
          </a:xfrm>
          <a:prstGeom prst="rect">
            <a:avLst/>
          </a:prstGeom>
          <a:noFill/>
          <a:ln/>
        </p:spPr>
        <p:txBody>
          <a:bodyPr wrap="square" lIns="381" tIns="381" rIns="381" bIns="381" rtlCol="0" anchor="t">
            <a:normAutofit/>
          </a:bodyPr>
          <a:lstStyle/>
          <a:p>
            <a:pPr algn="l" indent="0" marL="0">
              <a:buNone/>
            </a:pPr>
            <a:r>
              <a:rPr lang="en-US" sz="860" dirty="0">
                <a:solidFill>
                  <a:srgbClr val="6D6A66"/>
                </a:solidFill>
                <a:latin typeface="Aptos" pitchFamily="34" charset="0"/>
                <a:ea typeface="Aptos" pitchFamily="34" charset="-122"/>
                <a:cs typeface="Aptos" pitchFamily="34" charset="-120"/>
              </a:rPr>
              <a:t>0.125 in for standard print pieces</a:t>
            </a:r>
            <a:endParaRPr lang="en-US" sz="860" dirty="0"/>
          </a:p>
        </p:txBody>
      </p:sp>
      <p:sp>
        <p:nvSpPr>
          <p:cNvPr id="9" name="Text 6"/>
          <p:cNvSpPr/>
          <p:nvPr/>
        </p:nvSpPr>
        <p:spPr>
          <a:xfrm>
            <a:off x="914400" y="3813048"/>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D1D1F"/>
                </a:solidFill>
                <a:latin typeface="Aptos" pitchFamily="34" charset="0"/>
                <a:ea typeface="Aptos" pitchFamily="34" charset="-122"/>
                <a:cs typeface="Aptos" pitchFamily="34" charset="-120"/>
              </a:rPr>
              <a:t>Resolution</a:t>
            </a:r>
            <a:endParaRPr lang="en-US" sz="900" dirty="0"/>
          </a:p>
        </p:txBody>
      </p:sp>
      <p:sp>
        <p:nvSpPr>
          <p:cNvPr id="10" name="Text 7"/>
          <p:cNvSpPr/>
          <p:nvPr/>
        </p:nvSpPr>
        <p:spPr>
          <a:xfrm>
            <a:off x="1828800" y="3785616"/>
            <a:ext cx="3200400" cy="182880"/>
          </a:xfrm>
          <a:prstGeom prst="rect">
            <a:avLst/>
          </a:prstGeom>
          <a:noFill/>
          <a:ln/>
        </p:spPr>
        <p:txBody>
          <a:bodyPr wrap="square" lIns="381" tIns="381" rIns="381" bIns="381" rtlCol="0" anchor="t">
            <a:normAutofit/>
          </a:bodyPr>
          <a:lstStyle/>
          <a:p>
            <a:pPr algn="l" indent="0" marL="0">
              <a:buNone/>
            </a:pPr>
            <a:r>
              <a:rPr lang="en-US" sz="860" dirty="0">
                <a:solidFill>
                  <a:srgbClr val="6D6A66"/>
                </a:solidFill>
                <a:latin typeface="Aptos" pitchFamily="34" charset="0"/>
                <a:ea typeface="Aptos" pitchFamily="34" charset="-122"/>
                <a:cs typeface="Aptos" pitchFamily="34" charset="-120"/>
              </a:rPr>
              <a:t>300 DPI effective image check</a:t>
            </a:r>
            <a:endParaRPr lang="en-US" sz="860" dirty="0"/>
          </a:p>
        </p:txBody>
      </p:sp>
      <p:sp>
        <p:nvSpPr>
          <p:cNvPr id="11" name="Text 8"/>
          <p:cNvSpPr/>
          <p:nvPr/>
        </p:nvSpPr>
        <p:spPr>
          <a:xfrm>
            <a:off x="914400" y="4197096"/>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D1D1F"/>
                </a:solidFill>
                <a:latin typeface="Aptos" pitchFamily="34" charset="0"/>
                <a:ea typeface="Aptos" pitchFamily="34" charset="-122"/>
                <a:cs typeface="Aptos" pitchFamily="34" charset="-120"/>
              </a:rPr>
              <a:t>Color</a:t>
            </a:r>
            <a:endParaRPr lang="en-US" sz="900" dirty="0"/>
          </a:p>
        </p:txBody>
      </p:sp>
      <p:sp>
        <p:nvSpPr>
          <p:cNvPr id="12" name="Text 9"/>
          <p:cNvSpPr/>
          <p:nvPr/>
        </p:nvSpPr>
        <p:spPr>
          <a:xfrm>
            <a:off x="1828800" y="4169664"/>
            <a:ext cx="3200400" cy="182880"/>
          </a:xfrm>
          <a:prstGeom prst="rect">
            <a:avLst/>
          </a:prstGeom>
          <a:noFill/>
          <a:ln/>
        </p:spPr>
        <p:txBody>
          <a:bodyPr wrap="square" lIns="381" tIns="381" rIns="381" bIns="381" rtlCol="0" anchor="t">
            <a:normAutofit/>
          </a:bodyPr>
          <a:lstStyle/>
          <a:p>
            <a:pPr algn="l" indent="0" marL="0">
              <a:buNone/>
            </a:pPr>
            <a:r>
              <a:rPr lang="en-US" sz="860" dirty="0">
                <a:solidFill>
                  <a:srgbClr val="6D6A66"/>
                </a:solidFill>
                <a:latin typeface="Aptos" pitchFamily="34" charset="0"/>
                <a:ea typeface="Aptos" pitchFamily="34" charset="-122"/>
                <a:cs typeface="Aptos" pitchFamily="34" charset="-120"/>
              </a:rPr>
              <a:t>CMYK / printer profile before final export</a:t>
            </a:r>
            <a:endParaRPr lang="en-US" sz="860" dirty="0"/>
          </a:p>
        </p:txBody>
      </p:sp>
      <p:sp>
        <p:nvSpPr>
          <p:cNvPr id="13" name="Text 10"/>
          <p:cNvSpPr/>
          <p:nvPr/>
        </p:nvSpPr>
        <p:spPr>
          <a:xfrm>
            <a:off x="914400" y="458114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D1D1F"/>
                </a:solidFill>
                <a:latin typeface="Aptos" pitchFamily="34" charset="0"/>
                <a:ea typeface="Aptos" pitchFamily="34" charset="-122"/>
                <a:cs typeface="Aptos" pitchFamily="34" charset="-120"/>
              </a:rPr>
              <a:t>Packaging</a:t>
            </a:r>
            <a:endParaRPr lang="en-US" sz="900" dirty="0"/>
          </a:p>
        </p:txBody>
      </p:sp>
      <p:sp>
        <p:nvSpPr>
          <p:cNvPr id="14" name="Text 11"/>
          <p:cNvSpPr/>
          <p:nvPr/>
        </p:nvSpPr>
        <p:spPr>
          <a:xfrm>
            <a:off x="1828800" y="4553712"/>
            <a:ext cx="3200400" cy="182880"/>
          </a:xfrm>
          <a:prstGeom prst="rect">
            <a:avLst/>
          </a:prstGeom>
          <a:noFill/>
          <a:ln/>
        </p:spPr>
        <p:txBody>
          <a:bodyPr wrap="square" lIns="381" tIns="381" rIns="381" bIns="381" rtlCol="0" anchor="t">
            <a:normAutofit/>
          </a:bodyPr>
          <a:lstStyle/>
          <a:p>
            <a:pPr algn="l" indent="0" marL="0">
              <a:buNone/>
            </a:pPr>
            <a:r>
              <a:rPr lang="en-US" sz="860" dirty="0">
                <a:solidFill>
                  <a:srgbClr val="6D6A66"/>
                </a:solidFill>
                <a:latin typeface="Aptos" pitchFamily="34" charset="0"/>
                <a:ea typeface="Aptos" pitchFamily="34" charset="-122"/>
                <a:cs typeface="Aptos" pitchFamily="34" charset="-120"/>
              </a:rPr>
              <a:t>Linked assets, fonts, exports, and archive copy</a:t>
            </a:r>
            <a:endParaRPr lang="en-US" sz="860" dirty="0"/>
          </a:p>
        </p:txBody>
      </p:sp>
      <p:sp>
        <p:nvSpPr>
          <p:cNvPr id="15" name="Text 12"/>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16" name="Text 13"/>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6"/>
        </a:solidFill>
      </p:bgPr>
    </p:bg>
    <p:spTree>
      <p:nvGrpSpPr>
        <p:cNvPr id="1" name=""/>
        <p:cNvGrpSpPr/>
        <p:nvPr/>
      </p:nvGrpSpPr>
      <p:grpSpPr>
        <a:xfrm>
          <a:off x="0" y="0"/>
          <a:ext cx="0" cy="0"/>
          <a:chOff x="0" y="0"/>
          <a:chExt cx="0" cy="0"/>
        </a:xfrm>
      </p:grpSpPr>
      <p:pic>
        <p:nvPicPr>
          <p:cNvPr id="2" name="Image 0" descr="/mnt/data/a_bright_outdoor_urban_plaza_or_public_square_scen.png">    </p:cNvPr>
          <p:cNvPicPr>
            <a:picLocks noChangeAspect="1"/>
          </p:cNvPicPr>
          <p:nvPr/>
        </p:nvPicPr>
        <p:blipFill>
          <a:blip r:embed="rId1"/>
          <a:srcRect l="19421" r="19421" t="0" b="0"/>
          <a:stretch/>
        </p:blipFill>
        <p:spPr>
          <a:xfrm>
            <a:off x="0" y="0"/>
            <a:ext cx="7452360" cy="6858000"/>
          </a:xfrm>
          <a:prstGeom prst="rect">
            <a:avLst/>
          </a:prstGeom>
        </p:spPr>
      </p:pic>
      <p:sp>
        <p:nvSpPr>
          <p:cNvPr id="3" name="Shape 0"/>
          <p:cNvSpPr/>
          <p:nvPr/>
        </p:nvSpPr>
        <p:spPr>
          <a:xfrm>
            <a:off x="6995160" y="0"/>
            <a:ext cx="5193792" cy="6858000"/>
          </a:xfrm>
          <a:prstGeom prst="rect">
            <a:avLst/>
          </a:prstGeom>
          <a:solidFill>
            <a:srgbClr val="1D1D1F">
              <a:alpha val="95000"/>
            </a:srgbClr>
          </a:solidFill>
          <a:ln w="12700">
            <a:solidFill>
              <a:srgbClr val="1D1D1F"/>
            </a:solidFill>
            <a:prstDash val="solid"/>
          </a:ln>
        </p:spPr>
      </p:sp>
      <p:sp>
        <p:nvSpPr>
          <p:cNvPr id="4" name="Text 1"/>
          <p:cNvSpPr/>
          <p:nvPr/>
        </p:nvSpPr>
        <p:spPr>
          <a:xfrm>
            <a:off x="7406640" y="658368"/>
            <a:ext cx="2286000" cy="137160"/>
          </a:xfrm>
          <a:prstGeom prst="rect">
            <a:avLst/>
          </a:prstGeom>
          <a:noFill/>
          <a:ln/>
        </p:spPr>
        <p:txBody>
          <a:bodyPr wrap="square" lIns="0" tIns="0" rIns="0" bIns="0" rtlCol="0" anchor="t">
            <a:normAutofit/>
          </a:bodyPr>
          <a:lstStyle/>
          <a:p>
            <a:pPr algn="l" indent="0" marL="0">
              <a:buNone/>
            </a:pPr>
            <a:r>
              <a:rPr lang="en-US" sz="850" b="1" dirty="0">
                <a:solidFill>
                  <a:srgbClr val="F7C544"/>
                </a:solidFill>
                <a:latin typeface="Aptos" pitchFamily="34" charset="0"/>
                <a:ea typeface="Aptos" pitchFamily="34" charset="-122"/>
                <a:cs typeface="Aptos" pitchFamily="34" charset="-120"/>
              </a:rPr>
              <a:t>07 / ENVIRONMENTAL GRAPHICS</a:t>
            </a:r>
            <a:endParaRPr lang="en-US" sz="850" dirty="0"/>
          </a:p>
        </p:txBody>
      </p:sp>
      <p:sp>
        <p:nvSpPr>
          <p:cNvPr id="5" name="Text 2"/>
          <p:cNvSpPr/>
          <p:nvPr/>
        </p:nvSpPr>
        <p:spPr>
          <a:xfrm>
            <a:off x="7406640" y="1033272"/>
            <a:ext cx="3840480" cy="1005840"/>
          </a:xfrm>
          <a:prstGeom prst="rect">
            <a:avLst/>
          </a:prstGeom>
          <a:noFill/>
          <a:ln/>
        </p:spPr>
        <p:txBody>
          <a:bodyPr wrap="square" lIns="0" tIns="0" rIns="0" bIns="0" rtlCol="0" anchor="t">
            <a:normAutofit/>
          </a:bodyPr>
          <a:lstStyle/>
          <a:p>
            <a:pPr algn="l" indent="0" marL="0">
              <a:buNone/>
            </a:pPr>
            <a:r>
              <a:rPr lang="en-US" sz="3700" dirty="0">
                <a:solidFill>
                  <a:srgbClr val="FFFFFF"/>
                </a:solidFill>
                <a:latin typeface="Georgia" pitchFamily="34" charset="0"/>
                <a:ea typeface="Georgia" pitchFamily="34" charset="-122"/>
                <a:cs typeface="Georgia" pitchFamily="34" charset="-120"/>
              </a:rPr>
              <a:t>A system for distance, speed, and place.</a:t>
            </a:r>
            <a:endParaRPr lang="en-US" sz="3700" dirty="0"/>
          </a:p>
        </p:txBody>
      </p:sp>
      <p:sp>
        <p:nvSpPr>
          <p:cNvPr id="6" name="Text 3"/>
          <p:cNvSpPr/>
          <p:nvPr/>
        </p:nvSpPr>
        <p:spPr>
          <a:xfrm>
            <a:off x="7443216" y="2176272"/>
            <a:ext cx="3657600" cy="868680"/>
          </a:xfrm>
          <a:prstGeom prst="rect">
            <a:avLst/>
          </a:prstGeom>
          <a:noFill/>
          <a:ln/>
        </p:spPr>
        <p:txBody>
          <a:bodyPr wrap="square" lIns="381" tIns="381" rIns="381" bIns="381" rtlCol="0" anchor="t">
            <a:normAutofit/>
          </a:bodyPr>
          <a:lstStyle/>
          <a:p>
            <a:pPr algn="l" indent="0" marL="0">
              <a:buNone/>
            </a:pPr>
            <a:r>
              <a:rPr lang="en-US" sz="1150" dirty="0">
                <a:solidFill>
                  <a:srgbClr val="DCD7CF"/>
                </a:solidFill>
                <a:latin typeface="Aptos" pitchFamily="34" charset="0"/>
                <a:ea typeface="Aptos" pitchFamily="34" charset="-122"/>
                <a:cs typeface="Aptos" pitchFamily="34" charset="-120"/>
              </a:rPr>
              <a:t>Large-format graphics rely on simplified geometry, high contrast, and directional cues. The goal is not only decoration; it is orientation, recognition, and movement across a public route.</a:t>
            </a:r>
            <a:endParaRPr lang="en-US" sz="1150" dirty="0"/>
          </a:p>
        </p:txBody>
      </p:sp>
      <p:sp>
        <p:nvSpPr>
          <p:cNvPr id="7" name="Shape 4"/>
          <p:cNvSpPr/>
          <p:nvPr/>
        </p:nvSpPr>
        <p:spPr>
          <a:xfrm>
            <a:off x="7452360" y="3611880"/>
            <a:ext cx="3566160" cy="0"/>
          </a:xfrm>
          <a:prstGeom prst="line">
            <a:avLst/>
          </a:prstGeom>
          <a:noFill/>
          <a:ln w="12700">
            <a:solidFill>
              <a:srgbClr val="514A46"/>
            </a:solidFill>
            <a:prstDash val="solid"/>
          </a:ln>
        </p:spPr>
      </p:sp>
      <p:sp>
        <p:nvSpPr>
          <p:cNvPr id="8" name="Text 5"/>
          <p:cNvSpPr/>
          <p:nvPr/>
        </p:nvSpPr>
        <p:spPr>
          <a:xfrm>
            <a:off x="7461504" y="3749040"/>
            <a:ext cx="1143000" cy="182880"/>
          </a:xfrm>
          <a:prstGeom prst="rect">
            <a:avLst/>
          </a:prstGeom>
          <a:noFill/>
          <a:ln/>
        </p:spPr>
        <p:txBody>
          <a:bodyPr wrap="square" lIns="0" tIns="0" rIns="0" bIns="0" rtlCol="0" anchor="t">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Banners</a:t>
            </a:r>
            <a:endParaRPr lang="en-US" sz="880" dirty="0"/>
          </a:p>
        </p:txBody>
      </p:sp>
      <p:sp>
        <p:nvSpPr>
          <p:cNvPr id="9" name="Text 6"/>
          <p:cNvSpPr/>
          <p:nvPr/>
        </p:nvSpPr>
        <p:spPr>
          <a:xfrm>
            <a:off x="8732520" y="3721608"/>
            <a:ext cx="2194560" cy="228600"/>
          </a:xfrm>
          <a:prstGeom prst="rect">
            <a:avLst/>
          </a:prstGeom>
          <a:noFill/>
          <a:ln/>
        </p:spPr>
        <p:txBody>
          <a:bodyPr wrap="square" lIns="381" tIns="381" rIns="381" bIns="381" rtlCol="0" anchor="t">
            <a:normAutofit/>
          </a:bodyPr>
          <a:lstStyle/>
          <a:p>
            <a:pPr algn="l" indent="0" marL="0">
              <a:buNone/>
            </a:pPr>
            <a:r>
              <a:rPr lang="en-US" sz="850" dirty="0">
                <a:solidFill>
                  <a:srgbClr val="DCD7CF"/>
                </a:solidFill>
                <a:latin typeface="Aptos" pitchFamily="34" charset="0"/>
                <a:ea typeface="Aptos" pitchFamily="34" charset="-122"/>
                <a:cs typeface="Aptos" pitchFamily="34" charset="-120"/>
              </a:rPr>
              <a:t>Long-distance identity and event recognition.</a:t>
            </a:r>
            <a:endParaRPr lang="en-US" sz="850" dirty="0"/>
          </a:p>
        </p:txBody>
      </p:sp>
      <p:sp>
        <p:nvSpPr>
          <p:cNvPr id="10" name="Shape 7"/>
          <p:cNvSpPr/>
          <p:nvPr/>
        </p:nvSpPr>
        <p:spPr>
          <a:xfrm>
            <a:off x="7452360" y="4297680"/>
            <a:ext cx="3566160" cy="0"/>
          </a:xfrm>
          <a:prstGeom prst="line">
            <a:avLst/>
          </a:prstGeom>
          <a:noFill/>
          <a:ln w="12700">
            <a:solidFill>
              <a:srgbClr val="514A46"/>
            </a:solidFill>
            <a:prstDash val="solid"/>
          </a:ln>
        </p:spPr>
      </p:sp>
      <p:sp>
        <p:nvSpPr>
          <p:cNvPr id="11" name="Text 8"/>
          <p:cNvSpPr/>
          <p:nvPr/>
        </p:nvSpPr>
        <p:spPr>
          <a:xfrm>
            <a:off x="7461504" y="4434840"/>
            <a:ext cx="1143000" cy="182880"/>
          </a:xfrm>
          <a:prstGeom prst="rect">
            <a:avLst/>
          </a:prstGeom>
          <a:noFill/>
          <a:ln/>
        </p:spPr>
        <p:txBody>
          <a:bodyPr wrap="square" lIns="0" tIns="0" rIns="0" bIns="0" rtlCol="0" anchor="t">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Directional signs</a:t>
            </a:r>
            <a:endParaRPr lang="en-US" sz="880" dirty="0"/>
          </a:p>
        </p:txBody>
      </p:sp>
      <p:sp>
        <p:nvSpPr>
          <p:cNvPr id="12" name="Text 9"/>
          <p:cNvSpPr/>
          <p:nvPr/>
        </p:nvSpPr>
        <p:spPr>
          <a:xfrm>
            <a:off x="8732520" y="4407408"/>
            <a:ext cx="2194560" cy="228600"/>
          </a:xfrm>
          <a:prstGeom prst="rect">
            <a:avLst/>
          </a:prstGeom>
          <a:noFill/>
          <a:ln/>
        </p:spPr>
        <p:txBody>
          <a:bodyPr wrap="square" lIns="381" tIns="381" rIns="381" bIns="381" rtlCol="0" anchor="t">
            <a:normAutofit/>
          </a:bodyPr>
          <a:lstStyle/>
          <a:p>
            <a:pPr algn="l" indent="0" marL="0">
              <a:buNone/>
            </a:pPr>
            <a:r>
              <a:rPr lang="en-US" sz="850" dirty="0">
                <a:solidFill>
                  <a:srgbClr val="DCD7CF"/>
                </a:solidFill>
                <a:latin typeface="Aptos" pitchFamily="34" charset="0"/>
                <a:ea typeface="Aptos" pitchFamily="34" charset="-122"/>
                <a:cs typeface="Aptos" pitchFamily="34" charset="-120"/>
              </a:rPr>
              <a:t>Arrow-first hierarchy for movement.</a:t>
            </a:r>
            <a:endParaRPr lang="en-US" sz="850" dirty="0"/>
          </a:p>
        </p:txBody>
      </p:sp>
      <p:sp>
        <p:nvSpPr>
          <p:cNvPr id="13" name="Shape 10"/>
          <p:cNvSpPr/>
          <p:nvPr/>
        </p:nvSpPr>
        <p:spPr>
          <a:xfrm>
            <a:off x="7452360" y="4983480"/>
            <a:ext cx="3566160" cy="0"/>
          </a:xfrm>
          <a:prstGeom prst="line">
            <a:avLst/>
          </a:prstGeom>
          <a:noFill/>
          <a:ln w="12700">
            <a:solidFill>
              <a:srgbClr val="514A46"/>
            </a:solidFill>
            <a:prstDash val="solid"/>
          </a:ln>
        </p:spPr>
      </p:sp>
      <p:sp>
        <p:nvSpPr>
          <p:cNvPr id="14" name="Text 11"/>
          <p:cNvSpPr/>
          <p:nvPr/>
        </p:nvSpPr>
        <p:spPr>
          <a:xfrm>
            <a:off x="7461504" y="5120640"/>
            <a:ext cx="1143000" cy="182880"/>
          </a:xfrm>
          <a:prstGeom prst="rect">
            <a:avLst/>
          </a:prstGeom>
          <a:noFill/>
          <a:ln/>
        </p:spPr>
        <p:txBody>
          <a:bodyPr wrap="square" lIns="0" tIns="0" rIns="0" bIns="0" rtlCol="0" anchor="t">
            <a:normAutofit/>
          </a:bodyPr>
          <a:lstStyle/>
          <a:p>
            <a:pPr algn="l" indent="0" marL="0">
              <a:buNone/>
            </a:pPr>
            <a:r>
              <a:rPr lang="en-US" sz="880" b="1" dirty="0">
                <a:solidFill>
                  <a:srgbClr val="FFFFFF"/>
                </a:solidFill>
                <a:latin typeface="Aptos" pitchFamily="34" charset="0"/>
                <a:ea typeface="Aptos" pitchFamily="34" charset="-122"/>
                <a:cs typeface="Aptos" pitchFamily="34" charset="-120"/>
              </a:rPr>
              <a:t>Zone markers</a:t>
            </a:r>
            <a:endParaRPr lang="en-US" sz="880" dirty="0"/>
          </a:p>
        </p:txBody>
      </p:sp>
      <p:sp>
        <p:nvSpPr>
          <p:cNvPr id="15" name="Text 12"/>
          <p:cNvSpPr/>
          <p:nvPr/>
        </p:nvSpPr>
        <p:spPr>
          <a:xfrm>
            <a:off x="8732520" y="5093208"/>
            <a:ext cx="2194560" cy="228600"/>
          </a:xfrm>
          <a:prstGeom prst="rect">
            <a:avLst/>
          </a:prstGeom>
          <a:noFill/>
          <a:ln/>
        </p:spPr>
        <p:txBody>
          <a:bodyPr wrap="square" lIns="381" tIns="381" rIns="381" bIns="381" rtlCol="0" anchor="t">
            <a:normAutofit/>
          </a:bodyPr>
          <a:lstStyle/>
          <a:p>
            <a:pPr algn="l" indent="0" marL="0">
              <a:buNone/>
            </a:pPr>
            <a:r>
              <a:rPr lang="en-US" sz="850" dirty="0">
                <a:solidFill>
                  <a:srgbClr val="DCD7CF"/>
                </a:solidFill>
                <a:latin typeface="Aptos" pitchFamily="34" charset="0"/>
                <a:ea typeface="Aptos" pitchFamily="34" charset="-122"/>
                <a:cs typeface="Aptos" pitchFamily="34" charset="-120"/>
              </a:rPr>
              <a:t>Color-coded program areas and venue entrances.</a:t>
            </a:r>
            <a:endParaRPr lang="en-US" sz="850" dirty="0"/>
          </a:p>
        </p:txBody>
      </p:sp>
      <p:sp>
        <p:nvSpPr>
          <p:cNvPr id="16" name="Text 13"/>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17" name="Text 14"/>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0E5"/>
        </a:solidFill>
      </p:bgPr>
    </p:bg>
    <p:spTree>
      <p:nvGrpSpPr>
        <p:cNvPr id="1" name=""/>
        <p:cNvGrpSpPr/>
        <p:nvPr/>
      </p:nvGrpSpPr>
      <p:grpSpPr>
        <a:xfrm>
          <a:off x="0" y="0"/>
          <a:ext cx="0" cy="0"/>
          <a:chOff x="0" y="0"/>
          <a:chExt cx="0" cy="0"/>
        </a:xfrm>
      </p:grpSpPr>
      <p:sp>
        <p:nvSpPr>
          <p:cNvPr id="2" name="Text 0"/>
          <p:cNvSpPr/>
          <p:nvPr/>
        </p:nvSpPr>
        <p:spPr>
          <a:xfrm>
            <a:off x="594360" y="548640"/>
            <a:ext cx="2926080" cy="13716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08 / COLLABORATION &amp; REVIEW</a:t>
            </a:r>
            <a:endParaRPr lang="en-US" sz="850" dirty="0"/>
          </a:p>
        </p:txBody>
      </p:sp>
      <p:sp>
        <p:nvSpPr>
          <p:cNvPr id="3" name="Text 1"/>
          <p:cNvSpPr/>
          <p:nvPr/>
        </p:nvSpPr>
        <p:spPr>
          <a:xfrm>
            <a:off x="594360" y="960120"/>
            <a:ext cx="5852160" cy="914400"/>
          </a:xfrm>
          <a:prstGeom prst="rect">
            <a:avLst/>
          </a:prstGeom>
          <a:noFill/>
          <a:ln/>
        </p:spPr>
        <p:txBody>
          <a:bodyPr wrap="square" lIns="0" tIns="0" rIns="0" bIns="0" rtlCol="0" anchor="t">
            <a:normAutofit/>
          </a:bodyPr>
          <a:lstStyle/>
          <a:p>
            <a:pPr algn="l" indent="0" marL="0">
              <a:buNone/>
            </a:pPr>
            <a:r>
              <a:rPr lang="en-US" sz="4000" dirty="0">
                <a:solidFill>
                  <a:srgbClr val="1D1D1F"/>
                </a:solidFill>
                <a:latin typeface="Georgia" pitchFamily="34" charset="0"/>
                <a:ea typeface="Georgia" pitchFamily="34" charset="-122"/>
                <a:cs typeface="Georgia" pitchFamily="34" charset="-120"/>
              </a:rPr>
              <a:t>Designed for feedback without losing momentum.</a:t>
            </a:r>
            <a:endParaRPr lang="en-US" sz="4000" dirty="0"/>
          </a:p>
        </p:txBody>
      </p:sp>
      <p:sp>
        <p:nvSpPr>
          <p:cNvPr id="4" name="Text 2"/>
          <p:cNvSpPr/>
          <p:nvPr/>
        </p:nvSpPr>
        <p:spPr>
          <a:xfrm>
            <a:off x="621792" y="1920240"/>
            <a:ext cx="5303520" cy="777240"/>
          </a:xfrm>
          <a:prstGeom prst="rect">
            <a:avLst/>
          </a:prstGeom>
          <a:noFill/>
          <a:ln/>
        </p:spPr>
        <p:txBody>
          <a:bodyPr wrap="square" lIns="381" tIns="381" rIns="381" bIns="381" rtlCol="0" anchor="t">
            <a:normAutofit/>
          </a:bodyPr>
          <a:lstStyle/>
          <a:p>
            <a:pPr algn="l" indent="0" marL="0">
              <a:buNone/>
            </a:pPr>
            <a:r>
              <a:rPr lang="en-US" sz="1230" dirty="0">
                <a:solidFill>
                  <a:srgbClr val="6D6A66"/>
                </a:solidFill>
                <a:latin typeface="Aptos" pitchFamily="34" charset="0"/>
                <a:ea typeface="Aptos" pitchFamily="34" charset="-122"/>
                <a:cs typeface="Aptos" pitchFamily="34" charset="-120"/>
              </a:rPr>
              <a:t>A junior designer often owns production detail while collaborating with leadership, strategy, and project teams. Civic Bloom includes review checkpoints, open questions, and version rules so feedback can move quickly.</a:t>
            </a:r>
            <a:endParaRPr lang="en-US" sz="1230" dirty="0"/>
          </a:p>
        </p:txBody>
      </p:sp>
      <p:sp>
        <p:nvSpPr>
          <p:cNvPr id="5" name="Shape 3"/>
          <p:cNvSpPr/>
          <p:nvPr/>
        </p:nvSpPr>
        <p:spPr>
          <a:xfrm>
            <a:off x="685800" y="3657600"/>
            <a:ext cx="1920240" cy="1691640"/>
          </a:xfrm>
          <a:prstGeom prst="roundRect">
            <a:avLst>
              <a:gd name="adj" fmla="val 4865"/>
            </a:avLst>
          </a:prstGeom>
          <a:solidFill>
            <a:srgbClr val="FFFFFF"/>
          </a:solidFill>
          <a:ln w="12700">
            <a:solidFill>
              <a:srgbClr val="FFFFFF">
                <a:alpha val="25000"/>
              </a:srgbClr>
            </a:solidFill>
            <a:prstDash val="solid"/>
          </a:ln>
        </p:spPr>
      </p:sp>
      <p:sp>
        <p:nvSpPr>
          <p:cNvPr id="6" name="Text 4"/>
          <p:cNvSpPr/>
          <p:nvPr/>
        </p:nvSpPr>
        <p:spPr>
          <a:xfrm>
            <a:off x="850392" y="3867912"/>
            <a:ext cx="365760" cy="274320"/>
          </a:xfrm>
          <a:prstGeom prst="rect">
            <a:avLst/>
          </a:prstGeom>
          <a:noFill/>
          <a:ln/>
        </p:spPr>
        <p:txBody>
          <a:bodyPr wrap="square" lIns="0" tIns="0" rIns="0" bIns="0" rtlCol="0" anchor="t">
            <a:normAutofit/>
          </a:bodyPr>
          <a:lstStyle/>
          <a:p>
            <a:pPr algn="l" indent="0" marL="0">
              <a:buNone/>
            </a:pPr>
            <a:r>
              <a:rPr lang="en-US" sz="2000" dirty="0">
                <a:solidFill>
                  <a:srgbClr val="EF6548"/>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850392" y="4407408"/>
            <a:ext cx="1371600" cy="182880"/>
          </a:xfrm>
          <a:prstGeom prst="rect">
            <a:avLst/>
          </a:prstGeom>
          <a:noFill/>
          <a:ln/>
        </p:spPr>
        <p:txBody>
          <a:bodyPr wrap="square" lIns="0" tIns="0" rIns="0" bIns="0" rtlCol="0" anchor="t">
            <a:normAutofit/>
          </a:bodyPr>
          <a:lstStyle/>
          <a:p>
            <a:pPr algn="l" indent="0" marL="0">
              <a:buNone/>
            </a:pPr>
            <a:r>
              <a:rPr lang="en-US" sz="980" b="1" dirty="0">
                <a:solidFill>
                  <a:srgbClr val="1D1D1F"/>
                </a:solidFill>
                <a:latin typeface="Aptos" pitchFamily="34" charset="0"/>
                <a:ea typeface="Aptos" pitchFamily="34" charset="-122"/>
                <a:cs typeface="Aptos" pitchFamily="34" charset="-120"/>
              </a:rPr>
              <a:t>Intake</a:t>
            </a:r>
            <a:endParaRPr lang="en-US" sz="980" dirty="0"/>
          </a:p>
        </p:txBody>
      </p:sp>
      <p:sp>
        <p:nvSpPr>
          <p:cNvPr id="8" name="Text 6"/>
          <p:cNvSpPr/>
          <p:nvPr/>
        </p:nvSpPr>
        <p:spPr>
          <a:xfrm>
            <a:off x="850392" y="4754880"/>
            <a:ext cx="1417320" cy="347472"/>
          </a:xfrm>
          <a:prstGeom prst="rect">
            <a:avLst/>
          </a:prstGeom>
          <a:noFill/>
          <a:ln/>
        </p:spPr>
        <p:txBody>
          <a:bodyPr wrap="square" lIns="381" tIns="381" rIns="381" bIns="381" rtlCol="0" anchor="t">
            <a:normAutofit/>
          </a:bodyPr>
          <a:lstStyle/>
          <a:p>
            <a:pPr algn="l" indent="0" marL="0">
              <a:buNone/>
            </a:pPr>
            <a:r>
              <a:rPr lang="en-US" sz="750" dirty="0">
                <a:solidFill>
                  <a:srgbClr val="6D6A66"/>
                </a:solidFill>
                <a:latin typeface="Aptos" pitchFamily="34" charset="0"/>
                <a:ea typeface="Aptos" pitchFamily="34" charset="-122"/>
                <a:cs typeface="Aptos" pitchFamily="34" charset="-120"/>
              </a:rPr>
              <a:t>Clarify audience, format, deadline, and owner.</a:t>
            </a:r>
            <a:endParaRPr lang="en-US" sz="750" dirty="0"/>
          </a:p>
        </p:txBody>
      </p:sp>
      <p:sp>
        <p:nvSpPr>
          <p:cNvPr id="9" name="Shape 7"/>
          <p:cNvSpPr/>
          <p:nvPr/>
        </p:nvSpPr>
        <p:spPr>
          <a:xfrm>
            <a:off x="2926080" y="3657600"/>
            <a:ext cx="1920240" cy="1691640"/>
          </a:xfrm>
          <a:prstGeom prst="roundRect">
            <a:avLst>
              <a:gd name="adj" fmla="val 4865"/>
            </a:avLst>
          </a:prstGeom>
          <a:solidFill>
            <a:srgbClr val="FFFFFF"/>
          </a:solidFill>
          <a:ln w="12700">
            <a:solidFill>
              <a:srgbClr val="FFFFFF">
                <a:alpha val="25000"/>
              </a:srgbClr>
            </a:solidFill>
            <a:prstDash val="solid"/>
          </a:ln>
        </p:spPr>
      </p:sp>
      <p:sp>
        <p:nvSpPr>
          <p:cNvPr id="10" name="Text 8"/>
          <p:cNvSpPr/>
          <p:nvPr/>
        </p:nvSpPr>
        <p:spPr>
          <a:xfrm>
            <a:off x="3090672" y="3867912"/>
            <a:ext cx="365760" cy="274320"/>
          </a:xfrm>
          <a:prstGeom prst="rect">
            <a:avLst/>
          </a:prstGeom>
          <a:noFill/>
          <a:ln/>
        </p:spPr>
        <p:txBody>
          <a:bodyPr wrap="square" lIns="0" tIns="0" rIns="0" bIns="0" rtlCol="0" anchor="t">
            <a:normAutofit/>
          </a:bodyPr>
          <a:lstStyle/>
          <a:p>
            <a:pPr algn="l" indent="0" marL="0">
              <a:buNone/>
            </a:pPr>
            <a:r>
              <a:rPr lang="en-US" sz="2000" dirty="0">
                <a:solidFill>
                  <a:srgbClr val="EF6548"/>
                </a:solidFill>
                <a:latin typeface="Georgia" pitchFamily="34" charset="0"/>
                <a:ea typeface="Georgia" pitchFamily="34" charset="-122"/>
                <a:cs typeface="Georgia" pitchFamily="34" charset="-120"/>
              </a:rPr>
              <a:t>2</a:t>
            </a:r>
            <a:endParaRPr lang="en-US" sz="2000" dirty="0"/>
          </a:p>
        </p:txBody>
      </p:sp>
      <p:sp>
        <p:nvSpPr>
          <p:cNvPr id="11" name="Text 9"/>
          <p:cNvSpPr/>
          <p:nvPr/>
        </p:nvSpPr>
        <p:spPr>
          <a:xfrm>
            <a:off x="3090672" y="4407408"/>
            <a:ext cx="1371600" cy="182880"/>
          </a:xfrm>
          <a:prstGeom prst="rect">
            <a:avLst/>
          </a:prstGeom>
          <a:noFill/>
          <a:ln/>
        </p:spPr>
        <p:txBody>
          <a:bodyPr wrap="square" lIns="0" tIns="0" rIns="0" bIns="0" rtlCol="0" anchor="t">
            <a:normAutofit/>
          </a:bodyPr>
          <a:lstStyle/>
          <a:p>
            <a:pPr algn="l" indent="0" marL="0">
              <a:buNone/>
            </a:pPr>
            <a:r>
              <a:rPr lang="en-US" sz="980" b="1" dirty="0">
                <a:solidFill>
                  <a:srgbClr val="1D1D1F"/>
                </a:solidFill>
                <a:latin typeface="Aptos" pitchFamily="34" charset="0"/>
                <a:ea typeface="Aptos" pitchFamily="34" charset="-122"/>
                <a:cs typeface="Aptos" pitchFamily="34" charset="-120"/>
              </a:rPr>
              <a:t>Draft</a:t>
            </a:r>
            <a:endParaRPr lang="en-US" sz="980" dirty="0"/>
          </a:p>
        </p:txBody>
      </p:sp>
      <p:sp>
        <p:nvSpPr>
          <p:cNvPr id="12" name="Text 10"/>
          <p:cNvSpPr/>
          <p:nvPr/>
        </p:nvSpPr>
        <p:spPr>
          <a:xfrm>
            <a:off x="3090672" y="4754880"/>
            <a:ext cx="1417320" cy="347472"/>
          </a:xfrm>
          <a:prstGeom prst="rect">
            <a:avLst/>
          </a:prstGeom>
          <a:noFill/>
          <a:ln/>
        </p:spPr>
        <p:txBody>
          <a:bodyPr wrap="square" lIns="381" tIns="381" rIns="381" bIns="381" rtlCol="0" anchor="t">
            <a:normAutofit/>
          </a:bodyPr>
          <a:lstStyle/>
          <a:p>
            <a:pPr algn="l" indent="0" marL="0">
              <a:buNone/>
            </a:pPr>
            <a:r>
              <a:rPr lang="en-US" sz="750" dirty="0">
                <a:solidFill>
                  <a:srgbClr val="6D6A66"/>
                </a:solidFill>
                <a:latin typeface="Aptos" pitchFamily="34" charset="0"/>
                <a:ea typeface="Aptos" pitchFamily="34" charset="-122"/>
                <a:cs typeface="Aptos" pitchFamily="34" charset="-120"/>
              </a:rPr>
              <a:t>Create first pass with notes on open decisions.</a:t>
            </a:r>
            <a:endParaRPr lang="en-US" sz="750" dirty="0"/>
          </a:p>
        </p:txBody>
      </p:sp>
      <p:sp>
        <p:nvSpPr>
          <p:cNvPr id="13" name="Shape 11"/>
          <p:cNvSpPr/>
          <p:nvPr/>
        </p:nvSpPr>
        <p:spPr>
          <a:xfrm>
            <a:off x="5166360" y="3657600"/>
            <a:ext cx="1920240" cy="1691640"/>
          </a:xfrm>
          <a:prstGeom prst="roundRect">
            <a:avLst>
              <a:gd name="adj" fmla="val 4865"/>
            </a:avLst>
          </a:prstGeom>
          <a:solidFill>
            <a:srgbClr val="FFFFFF"/>
          </a:solidFill>
          <a:ln w="12700">
            <a:solidFill>
              <a:srgbClr val="FFFFFF">
                <a:alpha val="25000"/>
              </a:srgbClr>
            </a:solidFill>
            <a:prstDash val="solid"/>
          </a:ln>
        </p:spPr>
      </p:sp>
      <p:sp>
        <p:nvSpPr>
          <p:cNvPr id="14" name="Text 12"/>
          <p:cNvSpPr/>
          <p:nvPr/>
        </p:nvSpPr>
        <p:spPr>
          <a:xfrm>
            <a:off x="5330952" y="3867912"/>
            <a:ext cx="365760" cy="274320"/>
          </a:xfrm>
          <a:prstGeom prst="rect">
            <a:avLst/>
          </a:prstGeom>
          <a:noFill/>
          <a:ln/>
        </p:spPr>
        <p:txBody>
          <a:bodyPr wrap="square" lIns="0" tIns="0" rIns="0" bIns="0" rtlCol="0" anchor="t">
            <a:normAutofit/>
          </a:bodyPr>
          <a:lstStyle/>
          <a:p>
            <a:pPr algn="l" indent="0" marL="0">
              <a:buNone/>
            </a:pPr>
            <a:r>
              <a:rPr lang="en-US" sz="2000" dirty="0">
                <a:solidFill>
                  <a:srgbClr val="EF6548"/>
                </a:solidFill>
                <a:latin typeface="Georgia" pitchFamily="34" charset="0"/>
                <a:ea typeface="Georgia" pitchFamily="34" charset="-122"/>
                <a:cs typeface="Georgia" pitchFamily="34" charset="-120"/>
              </a:rPr>
              <a:t>3</a:t>
            </a:r>
            <a:endParaRPr lang="en-US" sz="2000" dirty="0"/>
          </a:p>
        </p:txBody>
      </p:sp>
      <p:sp>
        <p:nvSpPr>
          <p:cNvPr id="15" name="Text 13"/>
          <p:cNvSpPr/>
          <p:nvPr/>
        </p:nvSpPr>
        <p:spPr>
          <a:xfrm>
            <a:off x="5330952" y="4407408"/>
            <a:ext cx="1371600" cy="182880"/>
          </a:xfrm>
          <a:prstGeom prst="rect">
            <a:avLst/>
          </a:prstGeom>
          <a:noFill/>
          <a:ln/>
        </p:spPr>
        <p:txBody>
          <a:bodyPr wrap="square" lIns="0" tIns="0" rIns="0" bIns="0" rtlCol="0" anchor="t">
            <a:normAutofit/>
          </a:bodyPr>
          <a:lstStyle/>
          <a:p>
            <a:pPr algn="l" indent="0" marL="0">
              <a:buNone/>
            </a:pPr>
            <a:r>
              <a:rPr lang="en-US" sz="980" b="1" dirty="0">
                <a:solidFill>
                  <a:srgbClr val="1D1D1F"/>
                </a:solidFill>
                <a:latin typeface="Aptos" pitchFamily="34" charset="0"/>
                <a:ea typeface="Aptos" pitchFamily="34" charset="-122"/>
                <a:cs typeface="Aptos" pitchFamily="34" charset="-120"/>
              </a:rPr>
              <a:t>Review</a:t>
            </a:r>
            <a:endParaRPr lang="en-US" sz="980" dirty="0"/>
          </a:p>
        </p:txBody>
      </p:sp>
      <p:sp>
        <p:nvSpPr>
          <p:cNvPr id="16" name="Text 14"/>
          <p:cNvSpPr/>
          <p:nvPr/>
        </p:nvSpPr>
        <p:spPr>
          <a:xfrm>
            <a:off x="5330952" y="4754880"/>
            <a:ext cx="1417320" cy="347472"/>
          </a:xfrm>
          <a:prstGeom prst="rect">
            <a:avLst/>
          </a:prstGeom>
          <a:noFill/>
          <a:ln/>
        </p:spPr>
        <p:txBody>
          <a:bodyPr wrap="square" lIns="381" tIns="381" rIns="381" bIns="381" rtlCol="0" anchor="t">
            <a:normAutofit/>
          </a:bodyPr>
          <a:lstStyle/>
          <a:p>
            <a:pPr algn="l" indent="0" marL="0">
              <a:buNone/>
            </a:pPr>
            <a:r>
              <a:rPr lang="en-US" sz="750" dirty="0">
                <a:solidFill>
                  <a:srgbClr val="6D6A66"/>
                </a:solidFill>
                <a:latin typeface="Aptos" pitchFamily="34" charset="0"/>
                <a:ea typeface="Aptos" pitchFamily="34" charset="-122"/>
                <a:cs typeface="Aptos" pitchFamily="34" charset="-120"/>
              </a:rPr>
              <a:t>Capture comments by page, format, and priority.</a:t>
            </a:r>
            <a:endParaRPr lang="en-US" sz="750" dirty="0"/>
          </a:p>
        </p:txBody>
      </p:sp>
      <p:sp>
        <p:nvSpPr>
          <p:cNvPr id="17" name="Shape 15"/>
          <p:cNvSpPr/>
          <p:nvPr/>
        </p:nvSpPr>
        <p:spPr>
          <a:xfrm>
            <a:off x="7406640" y="3657600"/>
            <a:ext cx="1920240" cy="1691640"/>
          </a:xfrm>
          <a:prstGeom prst="roundRect">
            <a:avLst>
              <a:gd name="adj" fmla="val 4865"/>
            </a:avLst>
          </a:prstGeom>
          <a:solidFill>
            <a:srgbClr val="FFFFFF"/>
          </a:solidFill>
          <a:ln w="12700">
            <a:solidFill>
              <a:srgbClr val="FFFFFF">
                <a:alpha val="25000"/>
              </a:srgbClr>
            </a:solidFill>
            <a:prstDash val="solid"/>
          </a:ln>
        </p:spPr>
      </p:sp>
      <p:sp>
        <p:nvSpPr>
          <p:cNvPr id="18" name="Text 16"/>
          <p:cNvSpPr/>
          <p:nvPr/>
        </p:nvSpPr>
        <p:spPr>
          <a:xfrm>
            <a:off x="7571232" y="3867912"/>
            <a:ext cx="365760" cy="274320"/>
          </a:xfrm>
          <a:prstGeom prst="rect">
            <a:avLst/>
          </a:prstGeom>
          <a:noFill/>
          <a:ln/>
        </p:spPr>
        <p:txBody>
          <a:bodyPr wrap="square" lIns="0" tIns="0" rIns="0" bIns="0" rtlCol="0" anchor="t">
            <a:normAutofit/>
          </a:bodyPr>
          <a:lstStyle/>
          <a:p>
            <a:pPr algn="l" indent="0" marL="0">
              <a:buNone/>
            </a:pPr>
            <a:r>
              <a:rPr lang="en-US" sz="2000" dirty="0">
                <a:solidFill>
                  <a:srgbClr val="EF6548"/>
                </a:solidFill>
                <a:latin typeface="Georgia" pitchFamily="34" charset="0"/>
                <a:ea typeface="Georgia" pitchFamily="34" charset="-122"/>
                <a:cs typeface="Georgia" pitchFamily="34" charset="-120"/>
              </a:rPr>
              <a:t>4</a:t>
            </a:r>
            <a:endParaRPr lang="en-US" sz="2000" dirty="0"/>
          </a:p>
        </p:txBody>
      </p:sp>
      <p:sp>
        <p:nvSpPr>
          <p:cNvPr id="19" name="Text 17"/>
          <p:cNvSpPr/>
          <p:nvPr/>
        </p:nvSpPr>
        <p:spPr>
          <a:xfrm>
            <a:off x="7571232" y="4407408"/>
            <a:ext cx="1371600" cy="182880"/>
          </a:xfrm>
          <a:prstGeom prst="rect">
            <a:avLst/>
          </a:prstGeom>
          <a:noFill/>
          <a:ln/>
        </p:spPr>
        <p:txBody>
          <a:bodyPr wrap="square" lIns="0" tIns="0" rIns="0" bIns="0" rtlCol="0" anchor="t">
            <a:normAutofit/>
          </a:bodyPr>
          <a:lstStyle/>
          <a:p>
            <a:pPr algn="l" indent="0" marL="0">
              <a:buNone/>
            </a:pPr>
            <a:r>
              <a:rPr lang="en-US" sz="980" b="1" dirty="0">
                <a:solidFill>
                  <a:srgbClr val="1D1D1F"/>
                </a:solidFill>
                <a:latin typeface="Aptos" pitchFamily="34" charset="0"/>
                <a:ea typeface="Aptos" pitchFamily="34" charset="-122"/>
                <a:cs typeface="Aptos" pitchFamily="34" charset="-120"/>
              </a:rPr>
              <a:t>Revise</a:t>
            </a:r>
            <a:endParaRPr lang="en-US" sz="980" dirty="0"/>
          </a:p>
        </p:txBody>
      </p:sp>
      <p:sp>
        <p:nvSpPr>
          <p:cNvPr id="20" name="Text 18"/>
          <p:cNvSpPr/>
          <p:nvPr/>
        </p:nvSpPr>
        <p:spPr>
          <a:xfrm>
            <a:off x="7571232" y="4754880"/>
            <a:ext cx="1417320" cy="347472"/>
          </a:xfrm>
          <a:prstGeom prst="rect">
            <a:avLst/>
          </a:prstGeom>
          <a:noFill/>
          <a:ln/>
        </p:spPr>
        <p:txBody>
          <a:bodyPr wrap="square" lIns="381" tIns="381" rIns="381" bIns="381" rtlCol="0" anchor="t">
            <a:normAutofit/>
          </a:bodyPr>
          <a:lstStyle/>
          <a:p>
            <a:pPr algn="l" indent="0" marL="0">
              <a:buNone/>
            </a:pPr>
            <a:r>
              <a:rPr lang="en-US" sz="750" dirty="0">
                <a:solidFill>
                  <a:srgbClr val="6D6A66"/>
                </a:solidFill>
                <a:latin typeface="Aptos" pitchFamily="34" charset="0"/>
                <a:ea typeface="Aptos" pitchFamily="34" charset="-122"/>
                <a:cs typeface="Aptos" pitchFamily="34" charset="-120"/>
              </a:rPr>
              <a:t>Resolve comments, update exports, and mark changes.</a:t>
            </a:r>
            <a:endParaRPr lang="en-US" sz="750" dirty="0"/>
          </a:p>
        </p:txBody>
      </p:sp>
      <p:sp>
        <p:nvSpPr>
          <p:cNvPr id="21" name="Shape 19"/>
          <p:cNvSpPr/>
          <p:nvPr/>
        </p:nvSpPr>
        <p:spPr>
          <a:xfrm>
            <a:off x="9646920" y="3657600"/>
            <a:ext cx="1920240" cy="1691640"/>
          </a:xfrm>
          <a:prstGeom prst="roundRect">
            <a:avLst>
              <a:gd name="adj" fmla="val 4865"/>
            </a:avLst>
          </a:prstGeom>
          <a:solidFill>
            <a:srgbClr val="1D1D1F"/>
          </a:solidFill>
          <a:ln w="12700">
            <a:solidFill>
              <a:srgbClr val="FFFFFF">
                <a:alpha val="25000"/>
              </a:srgbClr>
            </a:solidFill>
            <a:prstDash val="solid"/>
          </a:ln>
        </p:spPr>
      </p:sp>
      <p:sp>
        <p:nvSpPr>
          <p:cNvPr id="22" name="Text 20"/>
          <p:cNvSpPr/>
          <p:nvPr/>
        </p:nvSpPr>
        <p:spPr>
          <a:xfrm>
            <a:off x="9811512" y="3867912"/>
            <a:ext cx="365760" cy="27432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Georgia" pitchFamily="34" charset="0"/>
                <a:ea typeface="Georgia" pitchFamily="34" charset="-122"/>
                <a:cs typeface="Georgia" pitchFamily="34" charset="-120"/>
              </a:rPr>
              <a:t>5</a:t>
            </a:r>
            <a:endParaRPr lang="en-US" sz="2000" dirty="0"/>
          </a:p>
        </p:txBody>
      </p:sp>
      <p:sp>
        <p:nvSpPr>
          <p:cNvPr id="23" name="Text 21"/>
          <p:cNvSpPr/>
          <p:nvPr/>
        </p:nvSpPr>
        <p:spPr>
          <a:xfrm>
            <a:off x="9811512" y="4407408"/>
            <a:ext cx="1371600" cy="182880"/>
          </a:xfrm>
          <a:prstGeom prst="rect">
            <a:avLst/>
          </a:prstGeom>
          <a:noFill/>
          <a:ln/>
        </p:spPr>
        <p:txBody>
          <a:bodyPr wrap="square" lIns="0" tIns="0" rIns="0" bIns="0" rtlCol="0" anchor="t">
            <a:normAutofit/>
          </a:bodyPr>
          <a:lstStyle/>
          <a:p>
            <a:pPr algn="l" indent="0" marL="0">
              <a:buNone/>
            </a:pPr>
            <a:r>
              <a:rPr lang="en-US" sz="980" b="1" dirty="0">
                <a:solidFill>
                  <a:srgbClr val="FFFFFF"/>
                </a:solidFill>
                <a:latin typeface="Aptos" pitchFamily="34" charset="0"/>
                <a:ea typeface="Aptos" pitchFamily="34" charset="-122"/>
                <a:cs typeface="Aptos" pitchFamily="34" charset="-120"/>
              </a:rPr>
              <a:t>Deliver</a:t>
            </a:r>
            <a:endParaRPr lang="en-US" sz="980" dirty="0"/>
          </a:p>
        </p:txBody>
      </p:sp>
      <p:sp>
        <p:nvSpPr>
          <p:cNvPr id="24" name="Text 22"/>
          <p:cNvSpPr/>
          <p:nvPr/>
        </p:nvSpPr>
        <p:spPr>
          <a:xfrm>
            <a:off x="9811512" y="4754880"/>
            <a:ext cx="1417320" cy="347472"/>
          </a:xfrm>
          <a:prstGeom prst="rect">
            <a:avLst/>
          </a:prstGeom>
          <a:noFill/>
          <a:ln/>
        </p:spPr>
        <p:txBody>
          <a:bodyPr wrap="square" lIns="381" tIns="381" rIns="381" bIns="381" rtlCol="0" anchor="t">
            <a:normAutofit/>
          </a:bodyPr>
          <a:lstStyle/>
          <a:p>
            <a:pPr algn="l" indent="0" marL="0">
              <a:buNone/>
            </a:pPr>
            <a:r>
              <a:rPr lang="en-US" sz="750" dirty="0">
                <a:solidFill>
                  <a:srgbClr val="DCD7CF"/>
                </a:solidFill>
                <a:latin typeface="Aptos" pitchFamily="34" charset="0"/>
                <a:ea typeface="Aptos" pitchFamily="34" charset="-122"/>
                <a:cs typeface="Aptos" pitchFamily="34" charset="-120"/>
              </a:rPr>
              <a:t>Run final QA and archive source files.</a:t>
            </a:r>
            <a:endParaRPr lang="en-US" sz="750" dirty="0"/>
          </a:p>
        </p:txBody>
      </p:sp>
      <p:sp>
        <p:nvSpPr>
          <p:cNvPr id="25" name="Text 23"/>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26" name="Text 24"/>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09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6"/>
        </a:solidFill>
      </p:bgPr>
    </p:bg>
    <p:spTree>
      <p:nvGrpSpPr>
        <p:cNvPr id="1" name=""/>
        <p:cNvGrpSpPr/>
        <p:nvPr/>
      </p:nvGrpSpPr>
      <p:grpSpPr>
        <a:xfrm>
          <a:off x="0" y="0"/>
          <a:ext cx="0" cy="0"/>
          <a:chOff x="0" y="0"/>
          <a:chExt cx="0" cy="0"/>
        </a:xfrm>
      </p:grpSpPr>
      <p:sp>
        <p:nvSpPr>
          <p:cNvPr id="2" name="Text 0"/>
          <p:cNvSpPr/>
          <p:nvPr/>
        </p:nvSpPr>
        <p:spPr>
          <a:xfrm>
            <a:off x="594360" y="566928"/>
            <a:ext cx="3108960" cy="137160"/>
          </a:xfrm>
          <a:prstGeom prst="rect">
            <a:avLst/>
          </a:prstGeom>
          <a:noFill/>
          <a:ln/>
        </p:spPr>
        <p:txBody>
          <a:bodyPr wrap="square" lIns="0" tIns="0" rIns="0" bIns="0" rtlCol="0" anchor="t">
            <a:normAutofit/>
          </a:bodyPr>
          <a:lstStyle/>
          <a:p>
            <a:pPr algn="l" indent="0" marL="0">
              <a:buNone/>
            </a:pPr>
            <a:r>
              <a:rPr lang="en-US" sz="850" b="1" dirty="0">
                <a:solidFill>
                  <a:srgbClr val="1553A5"/>
                </a:solidFill>
                <a:latin typeface="Aptos" pitchFamily="34" charset="0"/>
                <a:ea typeface="Aptos" pitchFamily="34" charset="-122"/>
                <a:cs typeface="Aptos" pitchFamily="34" charset="-120"/>
              </a:rPr>
              <a:t>09 / POWERPOINT MOTION STORYBOARD</a:t>
            </a:r>
            <a:endParaRPr lang="en-US" sz="850" dirty="0"/>
          </a:p>
        </p:txBody>
      </p:sp>
      <p:sp>
        <p:nvSpPr>
          <p:cNvPr id="3" name="Text 1"/>
          <p:cNvSpPr/>
          <p:nvPr/>
        </p:nvSpPr>
        <p:spPr>
          <a:xfrm>
            <a:off x="594360" y="960120"/>
            <a:ext cx="5852160" cy="868680"/>
          </a:xfrm>
          <a:prstGeom prst="rect">
            <a:avLst/>
          </a:prstGeom>
          <a:noFill/>
          <a:ln/>
        </p:spPr>
        <p:txBody>
          <a:bodyPr wrap="square" lIns="0" tIns="0" rIns="0" bIns="0" rtlCol="0" anchor="t">
            <a:normAutofit/>
          </a:bodyPr>
          <a:lstStyle/>
          <a:p>
            <a:pPr algn="l" indent="0" marL="0">
              <a:buNone/>
            </a:pPr>
            <a:r>
              <a:rPr lang="en-US" sz="3900" dirty="0">
                <a:solidFill>
                  <a:srgbClr val="1D1D1F"/>
                </a:solidFill>
                <a:latin typeface="Georgia" pitchFamily="34" charset="0"/>
                <a:ea typeface="Georgia" pitchFamily="34" charset="-122"/>
                <a:cs typeface="Georgia" pitchFamily="34" charset="-120"/>
              </a:rPr>
              <a:t>Animation should clarify the idea, not decorate it.</a:t>
            </a:r>
            <a:endParaRPr lang="en-US" sz="3900" dirty="0"/>
          </a:p>
        </p:txBody>
      </p:sp>
      <p:sp>
        <p:nvSpPr>
          <p:cNvPr id="4" name="Text 2"/>
          <p:cNvSpPr/>
          <p:nvPr/>
        </p:nvSpPr>
        <p:spPr>
          <a:xfrm>
            <a:off x="621792" y="1874520"/>
            <a:ext cx="5394960" cy="685800"/>
          </a:xfrm>
          <a:prstGeom prst="rect">
            <a:avLst/>
          </a:prstGeom>
          <a:noFill/>
          <a:ln/>
        </p:spPr>
        <p:txBody>
          <a:bodyPr wrap="square" lIns="381" tIns="381" rIns="381" bIns="381" rtlCol="0" anchor="t">
            <a:normAutofit/>
          </a:bodyPr>
          <a:lstStyle/>
          <a:p>
            <a:pPr algn="l" indent="0" marL="0">
              <a:buNone/>
            </a:pPr>
            <a:r>
              <a:rPr lang="en-US" sz="1230" dirty="0">
                <a:solidFill>
                  <a:srgbClr val="6D6A66"/>
                </a:solidFill>
                <a:latin typeface="Aptos" pitchFamily="34" charset="0"/>
                <a:ea typeface="Aptos" pitchFamily="34" charset="-122"/>
                <a:cs typeface="Aptos" pitchFamily="34" charset="-120"/>
              </a:rPr>
              <a:t>The presentation motion system is built as native PowerPoint animation: section reveals, diagram builds, staggered list entrances, and restrained page transitions. Every animated slide also exports cleanly as a static PDF.</a:t>
            </a:r>
            <a:endParaRPr lang="en-US" sz="1230" dirty="0"/>
          </a:p>
        </p:txBody>
      </p:sp>
      <p:sp>
        <p:nvSpPr>
          <p:cNvPr id="5" name="Shape 3"/>
          <p:cNvSpPr/>
          <p:nvPr/>
        </p:nvSpPr>
        <p:spPr>
          <a:xfrm>
            <a:off x="6400800" y="777240"/>
            <a:ext cx="4480560" cy="4389120"/>
          </a:xfrm>
          <a:prstGeom prst="roundRect">
            <a:avLst>
              <a:gd name="adj" fmla="val 1875"/>
            </a:avLst>
          </a:prstGeom>
          <a:solidFill>
            <a:srgbClr val="1D1D1F"/>
          </a:solidFill>
          <a:ln w="12700">
            <a:solidFill>
              <a:srgbClr val="FFFFFF">
                <a:alpha val="25000"/>
              </a:srgbClr>
            </a:solidFill>
            <a:prstDash val="solid"/>
          </a:ln>
        </p:spPr>
      </p:sp>
      <p:sp>
        <p:nvSpPr>
          <p:cNvPr id="6" name="Text 4"/>
          <p:cNvSpPr/>
          <p:nvPr/>
        </p:nvSpPr>
        <p:spPr>
          <a:xfrm>
            <a:off x="6720840" y="1143000"/>
            <a:ext cx="1828800" cy="91440"/>
          </a:xfrm>
          <a:prstGeom prst="rect">
            <a:avLst/>
          </a:prstGeom>
          <a:noFill/>
          <a:ln/>
        </p:spPr>
        <p:txBody>
          <a:bodyPr wrap="square" lIns="0" tIns="0" rIns="0" bIns="0" rtlCol="0" anchor="t">
            <a:normAutofit/>
          </a:bodyPr>
          <a:lstStyle/>
          <a:p>
            <a:pPr algn="l" indent="0" marL="0">
              <a:buNone/>
            </a:pPr>
            <a:r>
              <a:rPr lang="en-US" sz="850" b="1" dirty="0">
                <a:solidFill>
                  <a:srgbClr val="F7C544"/>
                </a:solidFill>
                <a:latin typeface="Aptos" pitchFamily="34" charset="0"/>
                <a:ea typeface="Aptos" pitchFamily="34" charset="-122"/>
                <a:cs typeface="Aptos" pitchFamily="34" charset="-120"/>
              </a:rPr>
              <a:t>MOTION BUILD EXAMPLE</a:t>
            </a:r>
            <a:endParaRPr lang="en-US" sz="850" dirty="0"/>
          </a:p>
        </p:txBody>
      </p:sp>
      <p:sp>
        <p:nvSpPr>
          <p:cNvPr id="7" name="Text 5"/>
          <p:cNvSpPr/>
          <p:nvPr/>
        </p:nvSpPr>
        <p:spPr>
          <a:xfrm>
            <a:off x="6720840" y="1572768"/>
            <a:ext cx="3108960" cy="731520"/>
          </a:xfrm>
          <a:prstGeom prst="rect">
            <a:avLst/>
          </a:prstGeom>
          <a:noFill/>
          <a:ln/>
        </p:spPr>
        <p:txBody>
          <a:bodyPr wrap="square" lIns="0" tIns="0" rIns="0" bIns="0" rtlCol="0" anchor="t">
            <a:normAutofit/>
          </a:bodyPr>
          <a:lstStyle/>
          <a:p>
            <a:pPr algn="l" indent="0" marL="0">
              <a:buNone/>
            </a:pPr>
            <a:r>
              <a:rPr lang="en-US" sz="3300" dirty="0">
                <a:solidFill>
                  <a:srgbClr val="FFFFFF"/>
                </a:solidFill>
                <a:latin typeface="Georgia" pitchFamily="34" charset="0"/>
                <a:ea typeface="Georgia" pitchFamily="34" charset="-122"/>
                <a:cs typeface="Georgia" pitchFamily="34" charset="-120"/>
              </a:rPr>
              <a:t>Show the path in pieces.</a:t>
            </a:r>
            <a:endParaRPr lang="en-US" sz="3300" dirty="0"/>
          </a:p>
        </p:txBody>
      </p:sp>
      <p:sp>
        <p:nvSpPr>
          <p:cNvPr id="8" name="Shape 6"/>
          <p:cNvSpPr/>
          <p:nvPr/>
        </p:nvSpPr>
        <p:spPr>
          <a:xfrm>
            <a:off x="6812280" y="3337560"/>
            <a:ext cx="960120" cy="987552"/>
          </a:xfrm>
          <a:prstGeom prst="roundRect">
            <a:avLst>
              <a:gd name="adj" fmla="val 8571"/>
            </a:avLst>
          </a:prstGeom>
          <a:solidFill>
            <a:srgbClr val="EF6548"/>
          </a:solidFill>
          <a:ln w="12700">
            <a:solidFill>
              <a:srgbClr val="FFFFFF">
                <a:alpha val="25000"/>
              </a:srgbClr>
            </a:solidFill>
            <a:prstDash val="solid"/>
          </a:ln>
        </p:spPr>
      </p:sp>
      <p:sp>
        <p:nvSpPr>
          <p:cNvPr id="9" name="Text 7"/>
          <p:cNvSpPr/>
          <p:nvPr/>
        </p:nvSpPr>
        <p:spPr>
          <a:xfrm>
            <a:off x="6922008" y="3547872"/>
            <a:ext cx="365760" cy="182880"/>
          </a:xfrm>
          <a:prstGeom prst="rect">
            <a:avLst/>
          </a:prstGeom>
          <a:noFill/>
          <a:ln/>
        </p:spPr>
        <p:txBody>
          <a:bodyPr wrap="square" lIns="0" tIns="0" rIns="0" bIns="0" rtlCol="0" anchor="t">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01</a:t>
            </a:r>
            <a:endParaRPr lang="en-US" sz="1100" dirty="0"/>
          </a:p>
        </p:txBody>
      </p:sp>
      <p:sp>
        <p:nvSpPr>
          <p:cNvPr id="10" name="Text 8"/>
          <p:cNvSpPr/>
          <p:nvPr/>
        </p:nvSpPr>
        <p:spPr>
          <a:xfrm>
            <a:off x="6922008" y="3858768"/>
            <a:ext cx="685800" cy="228600"/>
          </a:xfrm>
          <a:prstGeom prst="rect">
            <a:avLst/>
          </a:prstGeom>
          <a:noFill/>
          <a:ln/>
        </p:spPr>
        <p:txBody>
          <a:bodyPr wrap="square" lIns="381" tIns="381" rIns="381" bIns="381" rtlCol="0" anchor="t">
            <a:normAutofit/>
          </a:bodyPr>
          <a:lstStyle/>
          <a:p>
            <a:pPr algn="l" indent="0" marL="0">
              <a:buNone/>
            </a:pPr>
            <a:r>
              <a:rPr lang="en-US" sz="650" dirty="0">
                <a:solidFill>
                  <a:srgbClr val="FFFFFF"/>
                </a:solidFill>
                <a:latin typeface="Aptos" pitchFamily="34" charset="0"/>
                <a:ea typeface="Aptos" pitchFamily="34" charset="-122"/>
                <a:cs typeface="Aptos" pitchFamily="34" charset="-120"/>
              </a:rPr>
              <a:t>Route appears</a:t>
            </a:r>
            <a:endParaRPr lang="en-US" sz="650" dirty="0"/>
          </a:p>
        </p:txBody>
      </p:sp>
      <p:sp>
        <p:nvSpPr>
          <p:cNvPr id="11" name="Shape 9"/>
          <p:cNvSpPr/>
          <p:nvPr/>
        </p:nvSpPr>
        <p:spPr>
          <a:xfrm>
            <a:off x="8046720" y="3337560"/>
            <a:ext cx="960120" cy="987552"/>
          </a:xfrm>
          <a:prstGeom prst="roundRect">
            <a:avLst>
              <a:gd name="adj" fmla="val 8571"/>
            </a:avLst>
          </a:prstGeom>
          <a:solidFill>
            <a:srgbClr val="1553A5"/>
          </a:solidFill>
          <a:ln w="12700">
            <a:solidFill>
              <a:srgbClr val="FFFFFF">
                <a:alpha val="25000"/>
              </a:srgbClr>
            </a:solidFill>
            <a:prstDash val="solid"/>
          </a:ln>
        </p:spPr>
      </p:sp>
      <p:sp>
        <p:nvSpPr>
          <p:cNvPr id="12" name="Text 10"/>
          <p:cNvSpPr/>
          <p:nvPr/>
        </p:nvSpPr>
        <p:spPr>
          <a:xfrm>
            <a:off x="8156448" y="3547872"/>
            <a:ext cx="365760" cy="182880"/>
          </a:xfrm>
          <a:prstGeom prst="rect">
            <a:avLst/>
          </a:prstGeom>
          <a:noFill/>
          <a:ln/>
        </p:spPr>
        <p:txBody>
          <a:bodyPr wrap="square" lIns="0" tIns="0" rIns="0" bIns="0" rtlCol="0" anchor="t">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02</a:t>
            </a:r>
            <a:endParaRPr lang="en-US" sz="1100" dirty="0"/>
          </a:p>
        </p:txBody>
      </p:sp>
      <p:sp>
        <p:nvSpPr>
          <p:cNvPr id="13" name="Text 11"/>
          <p:cNvSpPr/>
          <p:nvPr/>
        </p:nvSpPr>
        <p:spPr>
          <a:xfrm>
            <a:off x="8156448" y="3858768"/>
            <a:ext cx="685800" cy="228600"/>
          </a:xfrm>
          <a:prstGeom prst="rect">
            <a:avLst/>
          </a:prstGeom>
          <a:noFill/>
          <a:ln/>
        </p:spPr>
        <p:txBody>
          <a:bodyPr wrap="square" lIns="381" tIns="381" rIns="381" bIns="381" rtlCol="0" anchor="t">
            <a:normAutofit/>
          </a:bodyPr>
          <a:lstStyle/>
          <a:p>
            <a:pPr algn="l" indent="0" marL="0">
              <a:buNone/>
            </a:pPr>
            <a:r>
              <a:rPr lang="en-US" sz="650" dirty="0">
                <a:solidFill>
                  <a:srgbClr val="FFFFFF"/>
                </a:solidFill>
                <a:latin typeface="Aptos" pitchFamily="34" charset="0"/>
                <a:ea typeface="Aptos" pitchFamily="34" charset="-122"/>
                <a:cs typeface="Aptos" pitchFamily="34" charset="-120"/>
              </a:rPr>
              <a:t>Program zones enter</a:t>
            </a:r>
            <a:endParaRPr lang="en-US" sz="650" dirty="0"/>
          </a:p>
        </p:txBody>
      </p:sp>
      <p:sp>
        <p:nvSpPr>
          <p:cNvPr id="14" name="Shape 12"/>
          <p:cNvSpPr/>
          <p:nvPr/>
        </p:nvSpPr>
        <p:spPr>
          <a:xfrm>
            <a:off x="9281160" y="3337560"/>
            <a:ext cx="960120" cy="987552"/>
          </a:xfrm>
          <a:prstGeom prst="roundRect">
            <a:avLst>
              <a:gd name="adj" fmla="val 8571"/>
            </a:avLst>
          </a:prstGeom>
          <a:solidFill>
            <a:srgbClr val="F7C544"/>
          </a:solidFill>
          <a:ln w="12700">
            <a:solidFill>
              <a:srgbClr val="FFFFFF">
                <a:alpha val="25000"/>
              </a:srgbClr>
            </a:solidFill>
            <a:prstDash val="solid"/>
          </a:ln>
        </p:spPr>
      </p:sp>
      <p:sp>
        <p:nvSpPr>
          <p:cNvPr id="15" name="Text 13"/>
          <p:cNvSpPr/>
          <p:nvPr/>
        </p:nvSpPr>
        <p:spPr>
          <a:xfrm>
            <a:off x="9390888" y="3547872"/>
            <a:ext cx="365760" cy="182880"/>
          </a:xfrm>
          <a:prstGeom prst="rect">
            <a:avLst/>
          </a:prstGeom>
          <a:noFill/>
          <a:ln/>
        </p:spPr>
        <p:txBody>
          <a:bodyPr wrap="square" lIns="0" tIns="0" rIns="0" bIns="0" rtlCol="0" anchor="t">
            <a:normAutofit/>
          </a:bodyPr>
          <a:lstStyle/>
          <a:p>
            <a:pPr algn="l" indent="0" marL="0">
              <a:buNone/>
            </a:pPr>
            <a:r>
              <a:rPr lang="en-US" sz="1100" b="1" dirty="0">
                <a:solidFill>
                  <a:srgbClr val="1D1D1F"/>
                </a:solidFill>
                <a:latin typeface="Aptos" pitchFamily="34" charset="0"/>
                <a:ea typeface="Aptos" pitchFamily="34" charset="-122"/>
                <a:cs typeface="Aptos" pitchFamily="34" charset="-120"/>
              </a:rPr>
              <a:t>03</a:t>
            </a:r>
            <a:endParaRPr lang="en-US" sz="1100" dirty="0"/>
          </a:p>
        </p:txBody>
      </p:sp>
      <p:sp>
        <p:nvSpPr>
          <p:cNvPr id="16" name="Text 14"/>
          <p:cNvSpPr/>
          <p:nvPr/>
        </p:nvSpPr>
        <p:spPr>
          <a:xfrm>
            <a:off x="9390888" y="3858768"/>
            <a:ext cx="685800" cy="228600"/>
          </a:xfrm>
          <a:prstGeom prst="rect">
            <a:avLst/>
          </a:prstGeom>
          <a:noFill/>
          <a:ln/>
        </p:spPr>
        <p:txBody>
          <a:bodyPr wrap="square" lIns="381" tIns="381" rIns="381" bIns="381" rtlCol="0" anchor="t">
            <a:normAutofit/>
          </a:bodyPr>
          <a:lstStyle/>
          <a:p>
            <a:pPr algn="l" indent="0" marL="0">
              <a:buNone/>
            </a:pPr>
            <a:r>
              <a:rPr lang="en-US" sz="650" dirty="0">
                <a:solidFill>
                  <a:srgbClr val="1D1D1F"/>
                </a:solidFill>
                <a:latin typeface="Aptos" pitchFamily="34" charset="0"/>
                <a:ea typeface="Aptos" pitchFamily="34" charset="-122"/>
                <a:cs typeface="Aptos" pitchFamily="34" charset="-120"/>
              </a:rPr>
              <a:t>CTA resolves</a:t>
            </a:r>
            <a:endParaRPr lang="en-US" sz="650" dirty="0"/>
          </a:p>
        </p:txBody>
      </p:sp>
      <p:sp>
        <p:nvSpPr>
          <p:cNvPr id="17" name="Text 15"/>
          <p:cNvSpPr/>
          <p:nvPr/>
        </p:nvSpPr>
        <p:spPr>
          <a:xfrm>
            <a:off x="6720840" y="5413248"/>
            <a:ext cx="3611880" cy="347472"/>
          </a:xfrm>
          <a:prstGeom prst="rect">
            <a:avLst/>
          </a:prstGeom>
          <a:noFill/>
          <a:ln/>
        </p:spPr>
        <p:txBody>
          <a:bodyPr wrap="square" lIns="381" tIns="381" rIns="381" bIns="381" rtlCol="0" anchor="t">
            <a:normAutofit/>
          </a:bodyPr>
          <a:lstStyle/>
          <a:p>
            <a:pPr algn="l" indent="0" marL="0">
              <a:buNone/>
            </a:pPr>
            <a:r>
              <a:rPr lang="en-US" sz="830" dirty="0">
                <a:solidFill>
                  <a:srgbClr val="6D6A66"/>
                </a:solidFill>
                <a:latin typeface="Aptos" pitchFamily="34" charset="0"/>
                <a:ea typeface="Aptos" pitchFamily="34" charset="-122"/>
                <a:cs typeface="Aptos" pitchFamily="34" charset="-120"/>
              </a:rPr>
              <a:t>Animations are timed to match the presenter’s speaking order: one message, one reveal, one decision.</a:t>
            </a:r>
            <a:endParaRPr lang="en-US" sz="830" dirty="0"/>
          </a:p>
        </p:txBody>
      </p:sp>
      <p:sp>
        <p:nvSpPr>
          <p:cNvPr id="18" name="Text 16"/>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19" name="Text 17"/>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0E5"/>
        </a:solidFill>
      </p:bgPr>
    </p:bg>
    <p:spTree>
      <p:nvGrpSpPr>
        <p:cNvPr id="1" name=""/>
        <p:cNvGrpSpPr/>
        <p:nvPr/>
      </p:nvGrpSpPr>
      <p:grpSpPr>
        <a:xfrm>
          <a:off x="0" y="0"/>
          <a:ext cx="0" cy="0"/>
          <a:chOff x="0" y="0"/>
          <a:chExt cx="0" cy="0"/>
        </a:xfrm>
      </p:grpSpPr>
      <p:sp>
        <p:nvSpPr>
          <p:cNvPr id="2" name="Text 0"/>
          <p:cNvSpPr/>
          <p:nvPr/>
        </p:nvSpPr>
        <p:spPr>
          <a:xfrm>
            <a:off x="594360" y="548640"/>
            <a:ext cx="2926080" cy="137160"/>
          </a:xfrm>
          <a:prstGeom prst="rect">
            <a:avLst/>
          </a:prstGeom>
          <a:noFill/>
          <a:ln/>
        </p:spPr>
        <p:txBody>
          <a:bodyPr wrap="square" lIns="0" tIns="0" rIns="0" bIns="0" rtlCol="0" anchor="t">
            <a:normAutofit/>
          </a:bodyPr>
          <a:lstStyle/>
          <a:p>
            <a:pPr algn="l" indent="0" marL="0">
              <a:buNone/>
            </a:pPr>
            <a:r>
              <a:rPr lang="en-US" sz="850" b="1" dirty="0">
                <a:solidFill>
                  <a:srgbClr val="EF6548"/>
                </a:solidFill>
                <a:latin typeface="Aptos" pitchFamily="34" charset="0"/>
                <a:ea typeface="Aptos" pitchFamily="34" charset="-122"/>
                <a:cs typeface="Aptos" pitchFamily="34" charset="-120"/>
              </a:rPr>
              <a:t>10 / QA, FILE HYGIENE, AND HANDOFF</a:t>
            </a:r>
            <a:endParaRPr lang="en-US" sz="850" dirty="0"/>
          </a:p>
        </p:txBody>
      </p:sp>
      <p:sp>
        <p:nvSpPr>
          <p:cNvPr id="3" name="Text 1"/>
          <p:cNvSpPr/>
          <p:nvPr/>
        </p:nvSpPr>
        <p:spPr>
          <a:xfrm>
            <a:off x="594360" y="960120"/>
            <a:ext cx="5029200" cy="822960"/>
          </a:xfrm>
          <a:prstGeom prst="rect">
            <a:avLst/>
          </a:prstGeom>
          <a:noFill/>
          <a:ln/>
        </p:spPr>
        <p:txBody>
          <a:bodyPr wrap="square" lIns="0" tIns="0" rIns="0" bIns="0" rtlCol="0" anchor="t">
            <a:normAutofit/>
          </a:bodyPr>
          <a:lstStyle/>
          <a:p>
            <a:pPr algn="l" indent="0" marL="0">
              <a:buNone/>
            </a:pPr>
            <a:r>
              <a:rPr lang="en-US" sz="4200" dirty="0">
                <a:solidFill>
                  <a:srgbClr val="1D1D1F"/>
                </a:solidFill>
                <a:latin typeface="Georgia" pitchFamily="34" charset="0"/>
                <a:ea typeface="Georgia" pitchFamily="34" charset="-122"/>
                <a:cs typeface="Georgia" pitchFamily="34" charset="-120"/>
              </a:rPr>
              <a:t>The last 10% is a design skill.</a:t>
            </a:r>
            <a:endParaRPr lang="en-US" sz="4200" dirty="0"/>
          </a:p>
        </p:txBody>
      </p:sp>
      <p:sp>
        <p:nvSpPr>
          <p:cNvPr id="4" name="Text 2"/>
          <p:cNvSpPr/>
          <p:nvPr/>
        </p:nvSpPr>
        <p:spPr>
          <a:xfrm>
            <a:off x="621792" y="1901952"/>
            <a:ext cx="4983480" cy="731520"/>
          </a:xfrm>
          <a:prstGeom prst="rect">
            <a:avLst/>
          </a:prstGeom>
          <a:noFill/>
          <a:ln/>
        </p:spPr>
        <p:txBody>
          <a:bodyPr wrap="square" lIns="381" tIns="381" rIns="381" bIns="381" rtlCol="0" anchor="t">
            <a:normAutofit/>
          </a:bodyPr>
          <a:lstStyle/>
          <a:p>
            <a:pPr algn="l" indent="0" marL="0">
              <a:buNone/>
            </a:pPr>
            <a:r>
              <a:rPr lang="en-US" sz="1230" dirty="0">
                <a:solidFill>
                  <a:srgbClr val="6D6A66"/>
                </a:solidFill>
                <a:latin typeface="Aptos" pitchFamily="34" charset="0"/>
                <a:ea typeface="Aptos" pitchFamily="34" charset="-122"/>
                <a:cs typeface="Aptos" pitchFamily="34" charset="-120"/>
              </a:rPr>
              <a:t>Production-forward design succeeds when the final files are easy to open, trust, revise, export, and archive. The checklist covers language, layout, accessibility, and technical delivery.</a:t>
            </a:r>
            <a:endParaRPr lang="en-US" sz="1230" dirty="0"/>
          </a:p>
        </p:txBody>
      </p:sp>
      <p:sp>
        <p:nvSpPr>
          <p:cNvPr id="5" name="Shape 3"/>
          <p:cNvSpPr/>
          <p:nvPr/>
        </p:nvSpPr>
        <p:spPr>
          <a:xfrm>
            <a:off x="6217920" y="868680"/>
            <a:ext cx="4389120" cy="1115568"/>
          </a:xfrm>
          <a:prstGeom prst="roundRect">
            <a:avLst>
              <a:gd name="adj" fmla="val 7377"/>
            </a:avLst>
          </a:prstGeom>
          <a:solidFill>
            <a:srgbClr val="FFFFFF"/>
          </a:solidFill>
          <a:ln w="12700">
            <a:solidFill>
              <a:srgbClr val="FFFFFF">
                <a:alpha val="25000"/>
              </a:srgbClr>
            </a:solidFill>
            <a:prstDash val="solid"/>
          </a:ln>
        </p:spPr>
      </p:sp>
      <p:sp>
        <p:nvSpPr>
          <p:cNvPr id="6" name="Text 4"/>
          <p:cNvSpPr/>
          <p:nvPr/>
        </p:nvSpPr>
        <p:spPr>
          <a:xfrm>
            <a:off x="6492240" y="1143000"/>
            <a:ext cx="868680" cy="182880"/>
          </a:xfrm>
          <a:prstGeom prst="rect">
            <a:avLst/>
          </a:prstGeom>
          <a:noFill/>
          <a:ln/>
        </p:spPr>
        <p:txBody>
          <a:bodyPr wrap="square" lIns="0" tIns="0" rIns="0" bIns="0" rtlCol="0" anchor="t">
            <a:normAutofit/>
          </a:bodyPr>
          <a:lstStyle/>
          <a:p>
            <a:pPr algn="l" indent="0" marL="0">
              <a:buNone/>
            </a:pPr>
            <a:r>
              <a:rPr lang="en-US" sz="1000" b="1" dirty="0">
                <a:solidFill>
                  <a:srgbClr val="1D1D1F"/>
                </a:solidFill>
                <a:latin typeface="Aptos" pitchFamily="34" charset="0"/>
                <a:ea typeface="Aptos" pitchFamily="34" charset="-122"/>
                <a:cs typeface="Aptos" pitchFamily="34" charset="-120"/>
              </a:rPr>
              <a:t>Proofing</a:t>
            </a:r>
            <a:endParaRPr lang="en-US" sz="1000" dirty="0"/>
          </a:p>
        </p:txBody>
      </p:sp>
      <p:sp>
        <p:nvSpPr>
          <p:cNvPr id="7" name="Text 5"/>
          <p:cNvSpPr/>
          <p:nvPr/>
        </p:nvSpPr>
        <p:spPr>
          <a:xfrm>
            <a:off x="7726680" y="1097280"/>
            <a:ext cx="2423160" cy="292608"/>
          </a:xfrm>
          <a:prstGeom prst="rect">
            <a:avLst/>
          </a:prstGeom>
          <a:noFill/>
          <a:ln/>
        </p:spPr>
        <p:txBody>
          <a:bodyPr wrap="square" lIns="381" tIns="381" rIns="381" bIns="381" rtlCol="0" anchor="t">
            <a:normAutofit/>
          </a:bodyPr>
          <a:lstStyle/>
          <a:p>
            <a:pPr algn="l" indent="0" marL="0">
              <a:buNone/>
            </a:pPr>
            <a:r>
              <a:rPr lang="en-US" sz="860" dirty="0">
                <a:solidFill>
                  <a:srgbClr val="6D6A66"/>
                </a:solidFill>
                <a:latin typeface="Aptos" pitchFamily="34" charset="0"/>
                <a:ea typeface="Aptos" pitchFamily="34" charset="-122"/>
                <a:cs typeface="Aptos" pitchFamily="34" charset="-120"/>
              </a:rPr>
              <a:t>Names, dates, captions, URLs, grammar, and numbering.</a:t>
            </a:r>
            <a:endParaRPr lang="en-US" sz="860" dirty="0"/>
          </a:p>
        </p:txBody>
      </p:sp>
      <p:sp>
        <p:nvSpPr>
          <p:cNvPr id="8" name="Shape 6"/>
          <p:cNvSpPr/>
          <p:nvPr/>
        </p:nvSpPr>
        <p:spPr>
          <a:xfrm>
            <a:off x="6355080" y="1124712"/>
            <a:ext cx="137160" cy="137160"/>
          </a:xfrm>
          <a:prstGeom prst="ellipse">
            <a:avLst/>
          </a:prstGeom>
          <a:solidFill>
            <a:srgbClr val="EF6548"/>
          </a:solidFill>
          <a:ln w="12700">
            <a:solidFill>
              <a:srgbClr val="EF6548">
                <a:alpha val="0"/>
              </a:srgbClr>
            </a:solidFill>
            <a:prstDash val="solid"/>
          </a:ln>
        </p:spPr>
      </p:sp>
      <p:sp>
        <p:nvSpPr>
          <p:cNvPr id="9" name="Shape 7"/>
          <p:cNvSpPr/>
          <p:nvPr/>
        </p:nvSpPr>
        <p:spPr>
          <a:xfrm>
            <a:off x="6217920" y="2395728"/>
            <a:ext cx="4389120" cy="1115568"/>
          </a:xfrm>
          <a:prstGeom prst="roundRect">
            <a:avLst>
              <a:gd name="adj" fmla="val 7377"/>
            </a:avLst>
          </a:prstGeom>
          <a:solidFill>
            <a:srgbClr val="FFFFFF"/>
          </a:solidFill>
          <a:ln w="12700">
            <a:solidFill>
              <a:srgbClr val="FFFFFF">
                <a:alpha val="25000"/>
              </a:srgbClr>
            </a:solidFill>
            <a:prstDash val="solid"/>
          </a:ln>
        </p:spPr>
      </p:sp>
      <p:sp>
        <p:nvSpPr>
          <p:cNvPr id="10" name="Text 8"/>
          <p:cNvSpPr/>
          <p:nvPr/>
        </p:nvSpPr>
        <p:spPr>
          <a:xfrm>
            <a:off x="6492240" y="2670048"/>
            <a:ext cx="868680" cy="182880"/>
          </a:xfrm>
          <a:prstGeom prst="rect">
            <a:avLst/>
          </a:prstGeom>
          <a:noFill/>
          <a:ln/>
        </p:spPr>
        <p:txBody>
          <a:bodyPr wrap="square" lIns="0" tIns="0" rIns="0" bIns="0" rtlCol="0" anchor="t">
            <a:normAutofit/>
          </a:bodyPr>
          <a:lstStyle/>
          <a:p>
            <a:pPr algn="l" indent="0" marL="0">
              <a:buNone/>
            </a:pPr>
            <a:r>
              <a:rPr lang="en-US" sz="1000" b="1" dirty="0">
                <a:solidFill>
                  <a:srgbClr val="1D1D1F"/>
                </a:solidFill>
                <a:latin typeface="Aptos" pitchFamily="34" charset="0"/>
                <a:ea typeface="Aptos" pitchFamily="34" charset="-122"/>
                <a:cs typeface="Aptos" pitchFamily="34" charset="-120"/>
              </a:rPr>
              <a:t>Layout QA</a:t>
            </a:r>
            <a:endParaRPr lang="en-US" sz="1000" dirty="0"/>
          </a:p>
        </p:txBody>
      </p:sp>
      <p:sp>
        <p:nvSpPr>
          <p:cNvPr id="11" name="Text 9"/>
          <p:cNvSpPr/>
          <p:nvPr/>
        </p:nvSpPr>
        <p:spPr>
          <a:xfrm>
            <a:off x="7726680" y="2624328"/>
            <a:ext cx="2423160" cy="292608"/>
          </a:xfrm>
          <a:prstGeom prst="rect">
            <a:avLst/>
          </a:prstGeom>
          <a:noFill/>
          <a:ln/>
        </p:spPr>
        <p:txBody>
          <a:bodyPr wrap="square" lIns="381" tIns="381" rIns="381" bIns="381" rtlCol="0" anchor="t">
            <a:normAutofit/>
          </a:bodyPr>
          <a:lstStyle/>
          <a:p>
            <a:pPr algn="l" indent="0" marL="0">
              <a:buNone/>
            </a:pPr>
            <a:r>
              <a:rPr lang="en-US" sz="860" dirty="0">
                <a:solidFill>
                  <a:srgbClr val="6D6A66"/>
                </a:solidFill>
                <a:latin typeface="Aptos" pitchFamily="34" charset="0"/>
                <a:ea typeface="Aptos" pitchFamily="34" charset="-122"/>
                <a:cs typeface="Aptos" pitchFamily="34" charset="-120"/>
              </a:rPr>
              <a:t>Alignment, spacing, type sizes, crops, and contrast.</a:t>
            </a:r>
            <a:endParaRPr lang="en-US" sz="860" dirty="0"/>
          </a:p>
        </p:txBody>
      </p:sp>
      <p:sp>
        <p:nvSpPr>
          <p:cNvPr id="12" name="Shape 10"/>
          <p:cNvSpPr/>
          <p:nvPr/>
        </p:nvSpPr>
        <p:spPr>
          <a:xfrm>
            <a:off x="6355080" y="2651760"/>
            <a:ext cx="137160" cy="137160"/>
          </a:xfrm>
          <a:prstGeom prst="ellipse">
            <a:avLst/>
          </a:prstGeom>
          <a:solidFill>
            <a:srgbClr val="1553A5"/>
          </a:solidFill>
          <a:ln w="12700">
            <a:solidFill>
              <a:srgbClr val="1553A5">
                <a:alpha val="0"/>
              </a:srgbClr>
            </a:solidFill>
            <a:prstDash val="solid"/>
          </a:ln>
        </p:spPr>
      </p:sp>
      <p:sp>
        <p:nvSpPr>
          <p:cNvPr id="13" name="Shape 11"/>
          <p:cNvSpPr/>
          <p:nvPr/>
        </p:nvSpPr>
        <p:spPr>
          <a:xfrm>
            <a:off x="6217920" y="3922776"/>
            <a:ext cx="4389120" cy="1115568"/>
          </a:xfrm>
          <a:prstGeom prst="roundRect">
            <a:avLst>
              <a:gd name="adj" fmla="val 7377"/>
            </a:avLst>
          </a:prstGeom>
          <a:solidFill>
            <a:srgbClr val="FFFFFF"/>
          </a:solidFill>
          <a:ln w="12700">
            <a:solidFill>
              <a:srgbClr val="FFFFFF">
                <a:alpha val="25000"/>
              </a:srgbClr>
            </a:solidFill>
            <a:prstDash val="solid"/>
          </a:ln>
        </p:spPr>
      </p:sp>
      <p:sp>
        <p:nvSpPr>
          <p:cNvPr id="14" name="Text 12"/>
          <p:cNvSpPr/>
          <p:nvPr/>
        </p:nvSpPr>
        <p:spPr>
          <a:xfrm>
            <a:off x="6492240" y="4197096"/>
            <a:ext cx="868680" cy="182880"/>
          </a:xfrm>
          <a:prstGeom prst="rect">
            <a:avLst/>
          </a:prstGeom>
          <a:noFill/>
          <a:ln/>
        </p:spPr>
        <p:txBody>
          <a:bodyPr wrap="square" lIns="0" tIns="0" rIns="0" bIns="0" rtlCol="0" anchor="t">
            <a:normAutofit/>
          </a:bodyPr>
          <a:lstStyle/>
          <a:p>
            <a:pPr algn="l" indent="0" marL="0">
              <a:buNone/>
            </a:pPr>
            <a:r>
              <a:rPr lang="en-US" sz="1000" b="1" dirty="0">
                <a:solidFill>
                  <a:srgbClr val="1D1D1F"/>
                </a:solidFill>
                <a:latin typeface="Aptos" pitchFamily="34" charset="0"/>
                <a:ea typeface="Aptos" pitchFamily="34" charset="-122"/>
                <a:cs typeface="Aptos" pitchFamily="34" charset="-120"/>
              </a:rPr>
              <a:t>Export QA</a:t>
            </a:r>
            <a:endParaRPr lang="en-US" sz="1000" dirty="0"/>
          </a:p>
        </p:txBody>
      </p:sp>
      <p:sp>
        <p:nvSpPr>
          <p:cNvPr id="15" name="Text 13"/>
          <p:cNvSpPr/>
          <p:nvPr/>
        </p:nvSpPr>
        <p:spPr>
          <a:xfrm>
            <a:off x="7726680" y="4151376"/>
            <a:ext cx="2423160" cy="292608"/>
          </a:xfrm>
          <a:prstGeom prst="rect">
            <a:avLst/>
          </a:prstGeom>
          <a:noFill/>
          <a:ln/>
        </p:spPr>
        <p:txBody>
          <a:bodyPr wrap="square" lIns="381" tIns="381" rIns="381" bIns="381" rtlCol="0" anchor="t">
            <a:normAutofit/>
          </a:bodyPr>
          <a:lstStyle/>
          <a:p>
            <a:pPr algn="l" indent="0" marL="0">
              <a:buNone/>
            </a:pPr>
            <a:r>
              <a:rPr lang="en-US" sz="860" dirty="0">
                <a:solidFill>
                  <a:srgbClr val="6D6A66"/>
                </a:solidFill>
                <a:latin typeface="Aptos" pitchFamily="34" charset="0"/>
                <a:ea typeface="Aptos" pitchFamily="34" charset="-122"/>
                <a:cs typeface="Aptos" pitchFamily="34" charset="-120"/>
              </a:rPr>
              <a:t>Bleed, trims, linked assets, format, filenames, and final version.</a:t>
            </a:r>
            <a:endParaRPr lang="en-US" sz="860" dirty="0"/>
          </a:p>
        </p:txBody>
      </p:sp>
      <p:sp>
        <p:nvSpPr>
          <p:cNvPr id="16" name="Shape 14"/>
          <p:cNvSpPr/>
          <p:nvPr/>
        </p:nvSpPr>
        <p:spPr>
          <a:xfrm>
            <a:off x="6355080" y="4178808"/>
            <a:ext cx="137160" cy="137160"/>
          </a:xfrm>
          <a:prstGeom prst="ellipse">
            <a:avLst/>
          </a:prstGeom>
          <a:solidFill>
            <a:srgbClr val="F7C544"/>
          </a:solidFill>
          <a:ln w="12700">
            <a:solidFill>
              <a:srgbClr val="F7C544">
                <a:alpha val="0"/>
              </a:srgbClr>
            </a:solidFill>
            <a:prstDash val="solid"/>
          </a:ln>
        </p:spPr>
      </p:sp>
      <p:sp>
        <p:nvSpPr>
          <p:cNvPr id="17" name="Text 15"/>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18" name="Text 16"/>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D1D1F"/>
        </a:solidFill>
      </p:bgPr>
    </p:bg>
    <p:spTree>
      <p:nvGrpSpPr>
        <p:cNvPr id="1" name=""/>
        <p:cNvGrpSpPr/>
        <p:nvPr/>
      </p:nvGrpSpPr>
      <p:grpSpPr>
        <a:xfrm>
          <a:off x="0" y="0"/>
          <a:ext cx="0" cy="0"/>
          <a:chOff x="0" y="0"/>
          <a:chExt cx="0" cy="0"/>
        </a:xfrm>
      </p:grpSpPr>
      <p:sp>
        <p:nvSpPr>
          <p:cNvPr id="2" name="Text 0"/>
          <p:cNvSpPr/>
          <p:nvPr/>
        </p:nvSpPr>
        <p:spPr>
          <a:xfrm>
            <a:off x="594360" y="658368"/>
            <a:ext cx="1828800" cy="137160"/>
          </a:xfrm>
          <a:prstGeom prst="rect">
            <a:avLst/>
          </a:prstGeom>
          <a:noFill/>
          <a:ln/>
        </p:spPr>
        <p:txBody>
          <a:bodyPr wrap="square" lIns="0" tIns="0" rIns="0" bIns="0" rtlCol="0" anchor="t">
            <a:normAutofit/>
          </a:bodyPr>
          <a:lstStyle/>
          <a:p>
            <a:pPr algn="l" indent="0" marL="0">
              <a:buNone/>
            </a:pPr>
            <a:r>
              <a:rPr lang="en-US" sz="850" b="1" dirty="0">
                <a:solidFill>
                  <a:srgbClr val="F7C544"/>
                </a:solidFill>
                <a:latin typeface="Aptos" pitchFamily="34" charset="0"/>
                <a:ea typeface="Aptos" pitchFamily="34" charset="-122"/>
                <a:cs typeface="Aptos" pitchFamily="34" charset="-120"/>
              </a:rPr>
              <a:t>11 / REFLECTION</a:t>
            </a:r>
            <a:endParaRPr lang="en-US" sz="850" dirty="0"/>
          </a:p>
        </p:txBody>
      </p:sp>
      <p:sp>
        <p:nvSpPr>
          <p:cNvPr id="3" name="Text 1"/>
          <p:cNvSpPr/>
          <p:nvPr/>
        </p:nvSpPr>
        <p:spPr>
          <a:xfrm>
            <a:off x="594360" y="1097280"/>
            <a:ext cx="7132320" cy="1051560"/>
          </a:xfrm>
          <a:prstGeom prst="rect">
            <a:avLst/>
          </a:prstGeom>
          <a:noFill/>
          <a:ln/>
        </p:spPr>
        <p:txBody>
          <a:bodyPr wrap="square" lIns="0" tIns="0" rIns="0" bIns="0" rtlCol="0" anchor="t">
            <a:normAutofit/>
          </a:bodyPr>
          <a:lstStyle/>
          <a:p>
            <a:pPr algn="l" indent="0" marL="0">
              <a:buNone/>
            </a:pPr>
            <a:r>
              <a:rPr lang="en-US" sz="4300" dirty="0">
                <a:solidFill>
                  <a:srgbClr val="FFFFFF"/>
                </a:solidFill>
                <a:latin typeface="Georgia" pitchFamily="34" charset="0"/>
                <a:ea typeface="Georgia" pitchFamily="34" charset="-122"/>
                <a:cs typeface="Georgia" pitchFamily="34" charset="-120"/>
              </a:rPr>
              <a:t>A system is strongest when it makes future work easier.</a:t>
            </a:r>
            <a:endParaRPr lang="en-US" sz="4300" dirty="0"/>
          </a:p>
        </p:txBody>
      </p:sp>
      <p:sp>
        <p:nvSpPr>
          <p:cNvPr id="4" name="Text 2"/>
          <p:cNvSpPr/>
          <p:nvPr/>
        </p:nvSpPr>
        <p:spPr>
          <a:xfrm>
            <a:off x="621792" y="2761488"/>
            <a:ext cx="6583680" cy="868680"/>
          </a:xfrm>
          <a:prstGeom prst="rect">
            <a:avLst/>
          </a:prstGeom>
          <a:noFill/>
          <a:ln/>
        </p:spPr>
        <p:txBody>
          <a:bodyPr wrap="square" lIns="381" tIns="381" rIns="381" bIns="381" rtlCol="0" anchor="t">
            <a:normAutofit/>
          </a:bodyPr>
          <a:lstStyle/>
          <a:p>
            <a:pPr algn="l" indent="0" marL="0">
              <a:buNone/>
            </a:pPr>
            <a:r>
              <a:rPr lang="en-US" sz="1300" dirty="0">
                <a:solidFill>
                  <a:srgbClr val="DAD2CA"/>
                </a:solidFill>
                <a:latin typeface="Aptos" pitchFamily="34" charset="0"/>
                <a:ea typeface="Aptos" pitchFamily="34" charset="-122"/>
                <a:cs typeface="Aptos" pitchFamily="34" charset="-120"/>
              </a:rPr>
              <a:t>Civic Bloom demonstrates how presentation design, social production, print assets, wayfinding, motion instincts, and file hygiene can operate as one connected design system. The next iteration would test the system with a timed production exercise and full-scale signage readability checks.</a:t>
            </a:r>
            <a:endParaRPr lang="en-US" sz="1300" dirty="0"/>
          </a:p>
        </p:txBody>
      </p:sp>
      <p:pic>
        <p:nvPicPr>
          <p:cNvPr id="5" name="Image 0" descr="/mnt/data/a_top_down_flat_lay_studio_photo_of_a_graphic_de.png">    </p:cNvPr>
          <p:cNvPicPr>
            <a:picLocks noChangeAspect="1"/>
          </p:cNvPicPr>
          <p:nvPr/>
        </p:nvPicPr>
        <p:blipFill>
          <a:blip r:embed="rId1"/>
          <a:srcRect l="29265" r="29265" t="0" b="0"/>
          <a:stretch/>
        </p:blipFill>
        <p:spPr>
          <a:xfrm>
            <a:off x="8229600" y="777240"/>
            <a:ext cx="3200400" cy="4343400"/>
          </a:xfrm>
          <a:prstGeom prst="rect">
            <a:avLst/>
          </a:prstGeom>
        </p:spPr>
      </p:pic>
      <p:sp>
        <p:nvSpPr>
          <p:cNvPr id="6" name="Shape 3"/>
          <p:cNvSpPr/>
          <p:nvPr/>
        </p:nvSpPr>
        <p:spPr>
          <a:xfrm>
            <a:off x="621792" y="4709160"/>
            <a:ext cx="6629400" cy="777240"/>
          </a:xfrm>
          <a:prstGeom prst="roundRect">
            <a:avLst>
              <a:gd name="adj" fmla="val 10588"/>
            </a:avLst>
          </a:prstGeom>
          <a:solidFill>
            <a:srgbClr val="323235"/>
          </a:solidFill>
          <a:ln w="12700">
            <a:solidFill>
              <a:srgbClr val="FFFFFF">
                <a:alpha val="25000"/>
              </a:srgbClr>
            </a:solidFill>
            <a:prstDash val="solid"/>
          </a:ln>
        </p:spPr>
      </p:sp>
      <p:sp>
        <p:nvSpPr>
          <p:cNvPr id="7" name="Text 4"/>
          <p:cNvSpPr/>
          <p:nvPr/>
        </p:nvSpPr>
        <p:spPr>
          <a:xfrm>
            <a:off x="868680" y="4965192"/>
            <a:ext cx="6126480" cy="219456"/>
          </a:xfrm>
          <a:prstGeom prst="rect">
            <a:avLst/>
          </a:prstGeom>
          <a:noFill/>
          <a:ln/>
        </p:spPr>
        <p:txBody>
          <a:bodyPr wrap="square" lIns="381" tIns="381" rIns="381" bIns="381" rtlCol="0" anchor="t">
            <a:normAutofit/>
          </a:bodyPr>
          <a:lstStyle/>
          <a:p>
            <a:pPr algn="l" indent="0" marL="0">
              <a:buNone/>
            </a:pPr>
            <a:r>
              <a:rPr lang="en-US" sz="1040" dirty="0">
                <a:solidFill>
                  <a:srgbClr val="F6F0E5"/>
                </a:solidFill>
                <a:latin typeface="Aptos" pitchFamily="34" charset="0"/>
                <a:ea typeface="Aptos" pitchFamily="34" charset="-122"/>
                <a:cs typeface="Aptos" pitchFamily="34" charset="-120"/>
              </a:rPr>
              <a:t>Next: build master templates in PowerPoint, recreate print pieces in InDesign, finalize vector icon families in Illustrator, and prepare a Webflow-ready landing-page style guide.</a:t>
            </a:r>
            <a:endParaRPr lang="en-US" sz="1040" dirty="0"/>
          </a:p>
        </p:txBody>
      </p:sp>
      <p:sp>
        <p:nvSpPr>
          <p:cNvPr id="8" name="Text 5"/>
          <p:cNvSpPr/>
          <p:nvPr/>
        </p:nvSpPr>
        <p:spPr>
          <a:xfrm>
            <a:off x="502920" y="6473952"/>
            <a:ext cx="4389120" cy="137160"/>
          </a:xfrm>
          <a:prstGeom prst="rect">
            <a:avLst/>
          </a:prstGeom>
          <a:noFill/>
          <a:ln/>
        </p:spPr>
        <p:txBody>
          <a:bodyPr wrap="square" lIns="0" tIns="0" rIns="0" bIns="0" rtlCol="0" anchor="t">
            <a:normAutofit/>
          </a:bodyPr>
          <a:lstStyle/>
          <a:p>
            <a:pPr algn="l" indent="0" marL="0">
              <a:buNone/>
            </a:pPr>
            <a:r>
              <a:rPr lang="en-US" sz="850" b="1" dirty="0">
                <a:solidFill>
                  <a:srgbClr val="8B8177"/>
                </a:solidFill>
                <a:latin typeface="Aptos" pitchFamily="34" charset="0"/>
                <a:ea typeface="Aptos" pitchFamily="34" charset="-122"/>
                <a:cs typeface="Aptos" pitchFamily="34" charset="-120"/>
              </a:rPr>
              <a:t>CIVIC BLOOM — VISUAL COMMUNICATION SYSTEM</a:t>
            </a:r>
            <a:endParaRPr lang="en-US" sz="850" dirty="0"/>
          </a:p>
        </p:txBody>
      </p:sp>
      <p:sp>
        <p:nvSpPr>
          <p:cNvPr id="9" name="Text 6"/>
          <p:cNvSpPr/>
          <p:nvPr/>
        </p:nvSpPr>
        <p:spPr>
          <a:xfrm>
            <a:off x="11201400" y="6419088"/>
            <a:ext cx="411480" cy="182880"/>
          </a:xfrm>
          <a:prstGeom prst="rect">
            <a:avLst/>
          </a:prstGeom>
          <a:noFill/>
          <a:ln/>
        </p:spPr>
        <p:txBody>
          <a:bodyPr wrap="square" lIns="0" tIns="0" rIns="0" bIns="0" rtlCol="0" anchor="t">
            <a:normAutofit/>
          </a:bodyPr>
          <a:lstStyle/>
          <a:p>
            <a:pPr algn="l" indent="0" marL="0">
              <a:buNone/>
            </a:pPr>
            <a:r>
              <a:rPr lang="en-US" sz="1400" dirty="0">
                <a:solidFill>
                  <a:srgbClr val="6D6A66"/>
                </a:solidFill>
                <a:latin typeface="Georgia" pitchFamily="34" charset="0"/>
                <a:ea typeface="Georgia" pitchFamily="34" charset="-122"/>
                <a:cs typeface="Georgia" pitchFamily="34" charset="-120"/>
              </a:rPr>
              <a:t>12</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Jocelyn Martinez Portfolio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 Bloom — Presentation, Social, Print, Wayfinding System</dc:title>
  <dc:subject>Civic Bloom visual communication and production system</dc:subject>
  <dc:creator>Jocelyn Martinez</dc:creator>
  <cp:lastModifiedBy>Jocelyn Martinez</cp:lastModifiedBy>
  <cp:revision>1</cp:revision>
  <dcterms:created xsi:type="dcterms:W3CDTF">2026-07-17T00:49:28Z</dcterms:created>
  <dcterms:modified xsi:type="dcterms:W3CDTF">2026-07-17T00:49:28Z</dcterms:modified>
</cp:coreProperties>
</file>