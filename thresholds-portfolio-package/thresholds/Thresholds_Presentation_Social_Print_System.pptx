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4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3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ose_up_still_life_flat_lay_scene_on_a_tablet_batch_2.png">    </p:cNvPr>
          <p:cNvPicPr>
            <a:picLocks noChangeAspect="1"/>
          </p:cNvPicPr>
          <p:nvPr/>
        </p:nvPicPr>
        <p:blipFill>
          <a:blip r:embed="rId1"/>
          <a:srcRect l="21736" r="21736" t="0" b="0"/>
          <a:stretch/>
        </p:blipFill>
        <p:spPr>
          <a:xfrm>
            <a:off x="5303520" y="0"/>
            <a:ext cx="688817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6583680" cy="6858000"/>
          </a:xfrm>
          <a:prstGeom prst="rect">
            <a:avLst/>
          </a:prstGeom>
          <a:solidFill>
            <a:srgbClr val="171313"/>
          </a:solidFill>
          <a:ln w="12700">
            <a:solidFill>
              <a:srgbClr val="171313"/>
            </a:solidFill>
            <a:prstDash val="solid"/>
          </a:ln>
        </p:spPr>
        <p:txBody>
          <a:bodyPr/>
          <a:p/>
        </p:txBody>
      </p:sp>
      <p:sp>
        <p:nvSpPr>
          <p:cNvPr id="4" name="Shape 1"/>
          <p:cNvSpPr/>
          <p:nvPr/>
        </p:nvSpPr>
        <p:spPr>
          <a:xfrm>
            <a:off x="4800600" y="0"/>
            <a:ext cx="1965960" cy="6858000"/>
          </a:xfrm>
          <a:prstGeom prst="rect">
            <a:avLst/>
          </a:prstGeom>
          <a:solidFill>
            <a:srgbClr val="171313">
              <a:alpha val="78000"/>
            </a:srgbClr>
          </a:solidFill>
          <a:ln w="12700">
            <a:solidFill>
              <a:srgbClr val="171313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566928" y="65836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E8C7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THRESHOLDS / VISUAL SYSTEM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502920" y="1353312"/>
            <a:ext cx="51206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Thresholds</a:t>
            </a:r>
          </a:p>
        </p:txBody>
      </p:sp>
      <p:sp>
        <p:nvSpPr>
          <p:cNvPr id="7" name="Text 4"/>
          <p:cNvSpPr/>
          <p:nvPr/>
        </p:nvSpPr>
        <p:spPr>
          <a:xfrm>
            <a:off x="594360" y="3675888"/>
            <a:ext cx="44988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7DC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cross-format visual communication system for a fictional cultural exhibition — spanning presentation, social, print, and environmental applications.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94360" y="4892040"/>
            <a:ext cx="1828800" cy="0"/>
          </a:xfrm>
          <a:prstGeom prst="line">
            <a:avLst/>
          </a:prstGeom>
          <a:noFill/>
          <a:ln w="12700">
            <a:solidFill>
              <a:srgbClr val="B78682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594360" y="5230368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b="1" dirty="0">
                <a:solidFill>
                  <a:srgbClr val="F4E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Prepared by Jocelyn Martinez</a:t>
            </a:r>
            <a:endParaRPr lang="en-US" sz="830" dirty="0"/>
          </a:p>
          <a:p>
            <a:pPr indent="0" marL="0">
              <a:buNone/>
            </a:pPr>
            <a:r>
              <a:rPr lang="en-US" sz="830" b="1" dirty="0">
                <a:solidFill>
                  <a:srgbClr val="F4E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UX/UI + Visual Designer</a:t>
            </a:r>
            <a:endParaRPr lang="en-US" sz="830" dirty="0"/>
          </a:p>
        </p:txBody>
      </p:sp>
      <p:sp>
        <p:nvSpPr>
          <p:cNvPr id="10" name="Text 7"/>
          <p:cNvSpPr/>
          <p:nvPr/>
        </p:nvSpPr>
        <p:spPr>
          <a:xfrm>
            <a:off x="3246120" y="5230368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CFC1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Presentation · social · print · space</a:t>
            </a:r>
            <a:endParaRPr lang="en-US" sz="83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384048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i="1" dirty="0">
                <a:solidFill>
                  <a:srgbClr val="6B20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10528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b="1" dirty="0">
                <a:solidFill>
                  <a:srgbClr val="756B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JOCELYN MARTINEZ  /  THRESHOLDS / VISUAL SYSTEM</a:t>
            </a:r>
            <a:endParaRPr lang="en-US" sz="580" dirty="0"/>
          </a:p>
        </p:txBody>
      </p:sp>
      <p:sp>
        <p:nvSpPr>
          <p:cNvPr id="4" name="Text 2"/>
          <p:cNvSpPr/>
          <p:nvPr/>
        </p:nvSpPr>
        <p:spPr>
          <a:xfrm>
            <a:off x="9601200" y="6510528"/>
            <a:ext cx="20848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80" b="1" dirty="0">
                <a:solidFill>
                  <a:srgbClr val="756B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 OVERVIEW</a:t>
            </a:r>
            <a:endParaRPr lang="en-US" sz="580" dirty="0"/>
          </a:p>
        </p:txBody>
      </p:sp>
      <p:sp>
        <p:nvSpPr>
          <p:cNvPr id="5" name="Text 3"/>
          <p:cNvSpPr/>
          <p:nvPr/>
        </p:nvSpPr>
        <p:spPr>
          <a:xfrm>
            <a:off x="548640" y="84124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6B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IDEA, BUILT TO TRAVEL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5577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dirty="0">
                <a:solidFill>
                  <a:srgbClr val="201B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flexible identity across audience-facing formats.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94360" y="2487168"/>
            <a:ext cx="4800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Thresholds explores how one exhibition idea can retain its hierarchy, atmosphere, and recognizability across a narrative deck, campaign assets, printed collateral, and the physical environment.</a:t>
            </a:r>
            <a:endParaRPr lang="en-US" sz="1220" dirty="0"/>
          </a:p>
        </p:txBody>
      </p:sp>
      <p:sp>
        <p:nvSpPr>
          <p:cNvPr id="8" name="Shape 6"/>
          <p:cNvSpPr/>
          <p:nvPr/>
        </p:nvSpPr>
        <p:spPr>
          <a:xfrm>
            <a:off x="6537960" y="1097280"/>
            <a:ext cx="2240280" cy="1417320"/>
          </a:xfrm>
          <a:prstGeom prst="rect">
            <a:avLst/>
          </a:prstGeom>
          <a:solidFill>
            <a:srgbClr val="FFFDF8"/>
          </a:solidFill>
          <a:ln w="12700">
            <a:solidFill>
              <a:srgbClr val="D9CDC4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702552" y="126187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i="1" dirty="0">
                <a:solidFill>
                  <a:srgbClr val="6B20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702552" y="161848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01B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Presentation craft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702552" y="1901952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Hierarchy, pacing, templates, animated-build thinking</a:t>
            </a:r>
            <a:endParaRPr lang="en-US" sz="820" dirty="0"/>
          </a:p>
        </p:txBody>
      </p:sp>
      <p:sp>
        <p:nvSpPr>
          <p:cNvPr id="12" name="Shape 10"/>
          <p:cNvSpPr/>
          <p:nvPr/>
        </p:nvSpPr>
        <p:spPr>
          <a:xfrm>
            <a:off x="9098280" y="1097280"/>
            <a:ext cx="2240280" cy="1417320"/>
          </a:xfrm>
          <a:prstGeom prst="rect">
            <a:avLst/>
          </a:prstGeom>
          <a:solidFill>
            <a:srgbClr val="FFFDF8"/>
          </a:solidFill>
          <a:ln w="12700">
            <a:solidFill>
              <a:srgbClr val="D9CDC4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9262872" y="126187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i="1" dirty="0">
                <a:solidFill>
                  <a:srgbClr val="6B20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262872" y="161848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01B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Multi-format production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262872" y="1901952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LinkedIn, Instagram, one-pagers, signage-style layouts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6537960" y="3090672"/>
            <a:ext cx="2240280" cy="1417320"/>
          </a:xfrm>
          <a:prstGeom prst="rect">
            <a:avLst/>
          </a:prstGeom>
          <a:solidFill>
            <a:srgbClr val="FFFDF8"/>
          </a:solidFill>
          <a:ln w="12700">
            <a:solidFill>
              <a:srgbClr val="D9CDC4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702552" y="325526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i="1" dirty="0">
                <a:solidFill>
                  <a:srgbClr val="6B20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702552" y="361188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01B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Detail orientation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702552" y="3895344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Proofing, export, alignment, file hygiene, final QA</a:t>
            </a:r>
            <a:endParaRPr lang="en-US" sz="820" dirty="0"/>
          </a:p>
        </p:txBody>
      </p:sp>
      <p:sp>
        <p:nvSpPr>
          <p:cNvPr id="20" name="Shape 18"/>
          <p:cNvSpPr/>
          <p:nvPr/>
        </p:nvSpPr>
        <p:spPr>
          <a:xfrm>
            <a:off x="9098280" y="3090672"/>
            <a:ext cx="2240280" cy="1417320"/>
          </a:xfrm>
          <a:prstGeom prst="rect">
            <a:avLst/>
          </a:prstGeom>
          <a:solidFill>
            <a:srgbClr val="FFFDF8"/>
          </a:solidFill>
          <a:ln w="12700">
            <a:solidFill>
              <a:srgbClr val="D9CDC4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9262872" y="325526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i="1" dirty="0">
                <a:solidFill>
                  <a:srgbClr val="6B20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262872" y="361188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01B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Experience-design interest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262872" y="3895344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Narrative, wayfinding, spatial storytelling, visitor flow</a:t>
            </a:r>
            <a:endParaRPr lang="en-US" sz="820" dirty="0"/>
          </a:p>
        </p:txBody>
      </p:sp>
      <p:pic>
        <p:nvPicPr>
          <p:cNvPr id="24" name="Image 0" descr="/mnt/data/a_wide_interior_scene_of_a_modern_minimalist_gall_batch_1.png">    </p:cNvPr>
          <p:cNvPicPr>
            <a:picLocks noChangeAspect="1"/>
          </p:cNvPicPr>
          <p:nvPr/>
        </p:nvPicPr>
        <p:blipFill>
          <a:blip r:embed="rId1"/>
          <a:srcRect l="0" r="0" t="40707" b="40707"/>
          <a:stretch/>
        </p:blipFill>
        <p:spPr>
          <a:xfrm>
            <a:off x="566928" y="4800600"/>
            <a:ext cx="10927080" cy="1143000"/>
          </a:xfrm>
          <a:prstGeom prst="rect">
            <a:avLst/>
          </a:prstGeom>
        </p:spPr>
      </p:pic>
      <p:sp>
        <p:nvSpPr>
          <p:cNvPr id="25" name="Shape 22"/>
          <p:cNvSpPr/>
          <p:nvPr/>
        </p:nvSpPr>
        <p:spPr>
          <a:xfrm>
            <a:off x="566928" y="4800600"/>
            <a:ext cx="10927080" cy="1143000"/>
          </a:xfrm>
          <a:prstGeom prst="rect">
            <a:avLst/>
          </a:prstGeom>
          <a:solidFill>
            <a:srgbClr val="171313">
              <a:alpha val="48000"/>
            </a:srgbClr>
          </a:solidFill>
          <a:ln w="12700">
            <a:solidFill>
              <a:srgbClr val="17131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804672" y="5166360"/>
            <a:ext cx="6766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7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design system for stories that move from deck → social → print → space.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384048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i="1" dirty="0">
                <a:solidFill>
                  <a:srgbClr val="6B20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10528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b="1" dirty="0">
                <a:solidFill>
                  <a:srgbClr val="756B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JOCELYN MARTINEZ  /  THRESHOLDS / VISUAL SYSTEM</a:t>
            </a:r>
            <a:endParaRPr lang="en-US" sz="580" dirty="0"/>
          </a:p>
        </p:txBody>
      </p:sp>
      <p:sp>
        <p:nvSpPr>
          <p:cNvPr id="4" name="Text 2"/>
          <p:cNvSpPr/>
          <p:nvPr/>
        </p:nvSpPr>
        <p:spPr>
          <a:xfrm>
            <a:off x="9601200" y="6510528"/>
            <a:ext cx="20848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80" b="1" dirty="0">
                <a:solidFill>
                  <a:srgbClr val="756B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BRIEF</a:t>
            </a:r>
            <a:endParaRPr lang="en-US" sz="58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6B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CREATIVE BRIEF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6035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201B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Turn invisible memory into a walkable story.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585216" y="2441448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Thresholds is a fictional immersive exhibition concept about ordinary objects, personal memory, and the traces people leave behind. The deck demonstrates how I would shape a client-facing design direction with clear pacing and visual discipline.</a:t>
            </a:r>
            <a:endParaRPr lang="en-US" sz="1220" dirty="0"/>
          </a:p>
        </p:txBody>
      </p:sp>
      <p:sp>
        <p:nvSpPr>
          <p:cNvPr id="8" name="Shape 6"/>
          <p:cNvSpPr/>
          <p:nvPr/>
        </p:nvSpPr>
        <p:spPr>
          <a:xfrm>
            <a:off x="6537960" y="1005840"/>
            <a:ext cx="4983480" cy="4389120"/>
          </a:xfrm>
          <a:prstGeom prst="rect">
            <a:avLst/>
          </a:prstGeom>
          <a:solidFill>
            <a:srgbClr val="F1E6E0"/>
          </a:solidFill>
          <a:ln w="12700">
            <a:solidFill>
              <a:srgbClr val="D8C7BF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903720" y="1389888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6B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OBJECTIVE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6903720" y="1755648"/>
            <a:ext cx="3886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201B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emotional clarity without visual clutter.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6931152" y="2596896"/>
            <a:ext cx="1325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b="1" dirty="0">
                <a:solidFill>
                  <a:srgbClr val="756B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AUDIENCE</a:t>
            </a:r>
            <a:endParaRPr lang="en-US" sz="600" dirty="0"/>
          </a:p>
        </p:txBody>
      </p:sp>
      <p:sp>
        <p:nvSpPr>
          <p:cNvPr id="12" name="Text 10"/>
          <p:cNvSpPr/>
          <p:nvPr/>
        </p:nvSpPr>
        <p:spPr>
          <a:xfrm>
            <a:off x="8321040" y="2587752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201B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Museum visitors, cultural partners, educators, donors</a:t>
            </a:r>
            <a:endParaRPr lang="en-US" sz="870" dirty="0"/>
          </a:p>
        </p:txBody>
      </p:sp>
      <p:sp>
        <p:nvSpPr>
          <p:cNvPr id="13" name="Shape 11"/>
          <p:cNvSpPr/>
          <p:nvPr/>
        </p:nvSpPr>
        <p:spPr>
          <a:xfrm>
            <a:off x="6922008" y="2953512"/>
            <a:ext cx="4023360" cy="0"/>
          </a:xfrm>
          <a:prstGeom prst="line">
            <a:avLst/>
          </a:prstGeom>
          <a:noFill/>
          <a:ln w="12700">
            <a:solidFill>
              <a:srgbClr val="D5C5BD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931152" y="3191256"/>
            <a:ext cx="1325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b="1" dirty="0">
                <a:solidFill>
                  <a:srgbClr val="756B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TONE</a:t>
            </a:r>
            <a:endParaRPr lang="en-US" sz="600" dirty="0"/>
          </a:p>
        </p:txBody>
      </p:sp>
      <p:sp>
        <p:nvSpPr>
          <p:cNvPr id="15" name="Text 13"/>
          <p:cNvSpPr/>
          <p:nvPr/>
        </p:nvSpPr>
        <p:spPr>
          <a:xfrm>
            <a:off x="8321040" y="3182112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201B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Warm, reflective, elevated, intimate</a:t>
            </a:r>
            <a:endParaRPr lang="en-US" sz="870" dirty="0"/>
          </a:p>
        </p:txBody>
      </p:sp>
      <p:sp>
        <p:nvSpPr>
          <p:cNvPr id="16" name="Shape 14"/>
          <p:cNvSpPr/>
          <p:nvPr/>
        </p:nvSpPr>
        <p:spPr>
          <a:xfrm>
            <a:off x="6922008" y="3547872"/>
            <a:ext cx="4023360" cy="0"/>
          </a:xfrm>
          <a:prstGeom prst="line">
            <a:avLst/>
          </a:prstGeom>
          <a:noFill/>
          <a:ln w="12700">
            <a:solidFill>
              <a:srgbClr val="D5C5BD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931152" y="3785616"/>
            <a:ext cx="1325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b="1" dirty="0">
                <a:solidFill>
                  <a:srgbClr val="756B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DELIVERABLES</a:t>
            </a:r>
            <a:endParaRPr lang="en-US" sz="600" dirty="0"/>
          </a:p>
        </p:txBody>
      </p:sp>
      <p:sp>
        <p:nvSpPr>
          <p:cNvPr id="18" name="Text 16"/>
          <p:cNvSpPr/>
          <p:nvPr/>
        </p:nvSpPr>
        <p:spPr>
          <a:xfrm>
            <a:off x="8321040" y="3776472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201B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 deck, social templates, one-pager, signage cues</a:t>
            </a:r>
            <a:endParaRPr lang="en-US" sz="870" dirty="0"/>
          </a:p>
        </p:txBody>
      </p:sp>
      <p:sp>
        <p:nvSpPr>
          <p:cNvPr id="19" name="Shape 17"/>
          <p:cNvSpPr/>
          <p:nvPr/>
        </p:nvSpPr>
        <p:spPr>
          <a:xfrm>
            <a:off x="6922008" y="4142232"/>
            <a:ext cx="4023360" cy="0"/>
          </a:xfrm>
          <a:prstGeom prst="line">
            <a:avLst/>
          </a:prstGeom>
          <a:noFill/>
          <a:ln w="12700">
            <a:solidFill>
              <a:srgbClr val="D5C5BD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931152" y="4379976"/>
            <a:ext cx="1325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b="1" dirty="0">
                <a:solidFill>
                  <a:srgbClr val="756B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SUCCESS</a:t>
            </a:r>
            <a:endParaRPr lang="en-US" sz="600" dirty="0"/>
          </a:p>
        </p:txBody>
      </p:sp>
      <p:sp>
        <p:nvSpPr>
          <p:cNvPr id="21" name="Text 19"/>
          <p:cNvSpPr/>
          <p:nvPr/>
        </p:nvSpPr>
        <p:spPr>
          <a:xfrm>
            <a:off x="8321040" y="4370832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201B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idea is understood quickly and remembered visually</a:t>
            </a:r>
            <a:endParaRPr lang="en-US" sz="870" dirty="0"/>
          </a:p>
        </p:txBody>
      </p:sp>
      <p:sp>
        <p:nvSpPr>
          <p:cNvPr id="22" name="Shape 20"/>
          <p:cNvSpPr/>
          <p:nvPr/>
        </p:nvSpPr>
        <p:spPr>
          <a:xfrm>
            <a:off x="6922008" y="4736592"/>
            <a:ext cx="4023360" cy="0"/>
          </a:xfrm>
          <a:prstGeom prst="line">
            <a:avLst/>
          </a:prstGeom>
          <a:noFill/>
          <a:ln w="12700">
            <a:solidFill>
              <a:srgbClr val="D5C5BD"/>
            </a:solidFill>
            <a:prstDash val="solid"/>
          </a:ln>
        </p:spPr>
        <p:txBody>
          <a:bodyPr/>
          <a:p/>
        </p:txBody>
      </p:sp>
      <p:pic>
        <p:nvPicPr>
          <p:cNvPr id="23" name="Image 0" descr="/mnt/data/a_close_up_still_life_flat_lay_scene_on_a_tablet_batch_2.png">    </p:cNvPr>
          <p:cNvPicPr>
            <a:picLocks noChangeAspect="1"/>
          </p:cNvPicPr>
          <p:nvPr/>
        </p:nvPicPr>
        <p:blipFill>
          <a:blip r:embed="rId1"/>
          <a:srcRect l="0" r="0" t="32972" b="32972"/>
          <a:stretch/>
        </p:blipFill>
        <p:spPr>
          <a:xfrm>
            <a:off x="548640" y="4892040"/>
            <a:ext cx="5486400" cy="105156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777240" y="5285232"/>
            <a:ext cx="43891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FFF7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Material mood: translucent acrylic, warm linen, oxidized brass, archival paper.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384048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i="1" dirty="0">
                <a:solidFill>
                  <a:srgbClr val="6B20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10528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b="1" dirty="0">
                <a:solidFill>
                  <a:srgbClr val="756B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JOCELYN MARTINEZ  /  THRESHOLDS / VISUAL SYSTEM</a:t>
            </a:r>
            <a:endParaRPr lang="en-US" sz="580" dirty="0"/>
          </a:p>
        </p:txBody>
      </p:sp>
      <p:sp>
        <p:nvSpPr>
          <p:cNvPr id="4" name="Text 2"/>
          <p:cNvSpPr/>
          <p:nvPr/>
        </p:nvSpPr>
        <p:spPr>
          <a:xfrm>
            <a:off x="9601200" y="6510528"/>
            <a:ext cx="20848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80" b="1" dirty="0">
                <a:solidFill>
                  <a:srgbClr val="756B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STORYTELLING</a:t>
            </a:r>
            <a:endParaRPr lang="en-US" sz="580" dirty="0"/>
          </a:p>
        </p:txBody>
      </p:sp>
      <p:sp>
        <p:nvSpPr>
          <p:cNvPr id="5" name="Text 3"/>
          <p:cNvSpPr/>
          <p:nvPr/>
        </p:nvSpPr>
        <p:spPr>
          <a:xfrm>
            <a:off x="566928" y="84124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6B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PRESENTATION PACING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66928" y="1216152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dirty="0">
                <a:solidFill>
                  <a:srgbClr val="201B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deck should guide attention like a visitor path.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94360" y="2331720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slide shows how the idea is paced for a client audience: establish the emotional hook, then move into concept, visitor experience, system assets, and production detail.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58368" y="4069080"/>
            <a:ext cx="1664208" cy="1078992"/>
          </a:xfrm>
          <a:prstGeom prst="roundRect">
            <a:avLst>
              <a:gd name="adj" fmla="val 4237"/>
            </a:avLst>
          </a:prstGeom>
          <a:solidFill>
            <a:srgbClr val="6B202A"/>
          </a:solidFill>
          <a:ln w="12700">
            <a:solidFill>
              <a:srgbClr val="6B202A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04672" y="420624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04672" y="4517136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Hook</a:t>
            </a:r>
            <a:endParaRPr lang="en-US" sz="920" dirty="0"/>
          </a:p>
        </p:txBody>
      </p:sp>
      <p:sp>
        <p:nvSpPr>
          <p:cNvPr id="11" name="Text 9"/>
          <p:cNvSpPr/>
          <p:nvPr/>
        </p:nvSpPr>
        <p:spPr>
          <a:xfrm>
            <a:off x="804672" y="4754880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EEDB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this story matters</a:t>
            </a:r>
            <a:endParaRPr lang="en-US" sz="670" dirty="0"/>
          </a:p>
        </p:txBody>
      </p:sp>
      <p:sp>
        <p:nvSpPr>
          <p:cNvPr id="12" name="Shape 10"/>
          <p:cNvSpPr/>
          <p:nvPr/>
        </p:nvSpPr>
        <p:spPr>
          <a:xfrm>
            <a:off x="2395728" y="4599432"/>
            <a:ext cx="475488" cy="0"/>
          </a:xfrm>
          <a:prstGeom prst="line">
            <a:avLst/>
          </a:prstGeom>
          <a:noFill/>
          <a:ln w="12700">
            <a:solidFill>
              <a:srgbClr val="C4B8B0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2898648" y="4069080"/>
            <a:ext cx="1664208" cy="1078992"/>
          </a:xfrm>
          <a:prstGeom prst="roundRect">
            <a:avLst>
              <a:gd name="adj" fmla="val 4237"/>
            </a:avLst>
          </a:prstGeom>
          <a:solidFill>
            <a:srgbClr val="FFFDF8"/>
          </a:solidFill>
          <a:ln w="12700">
            <a:solidFill>
              <a:srgbClr val="D8CCC4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3044952" y="420624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i="1" dirty="0">
                <a:solidFill>
                  <a:srgbClr val="6B20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044952" y="4517136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201B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</a:t>
            </a:r>
            <a:endParaRPr lang="en-US" sz="920" dirty="0"/>
          </a:p>
        </p:txBody>
      </p:sp>
      <p:sp>
        <p:nvSpPr>
          <p:cNvPr id="16" name="Text 14"/>
          <p:cNvSpPr/>
          <p:nvPr/>
        </p:nvSpPr>
        <p:spPr>
          <a:xfrm>
            <a:off x="3044952" y="4754880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organizing design idea</a:t>
            </a:r>
            <a:endParaRPr lang="en-US" sz="670" dirty="0"/>
          </a:p>
        </p:txBody>
      </p:sp>
      <p:sp>
        <p:nvSpPr>
          <p:cNvPr id="17" name="Shape 15"/>
          <p:cNvSpPr/>
          <p:nvPr/>
        </p:nvSpPr>
        <p:spPr>
          <a:xfrm>
            <a:off x="4636008" y="4599432"/>
            <a:ext cx="475488" cy="0"/>
          </a:xfrm>
          <a:prstGeom prst="line">
            <a:avLst/>
          </a:prstGeom>
          <a:noFill/>
          <a:ln w="12700">
            <a:solidFill>
              <a:srgbClr val="C4B8B0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5138928" y="4069080"/>
            <a:ext cx="1664208" cy="1078992"/>
          </a:xfrm>
          <a:prstGeom prst="roundRect">
            <a:avLst>
              <a:gd name="adj" fmla="val 4237"/>
            </a:avLst>
          </a:prstGeom>
          <a:solidFill>
            <a:srgbClr val="FFFDF8"/>
          </a:solidFill>
          <a:ln w="12700">
            <a:solidFill>
              <a:srgbClr val="D8CCC4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285232" y="420624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i="1" dirty="0">
                <a:solidFill>
                  <a:srgbClr val="6B20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285232" y="4517136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201B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Experience</a:t>
            </a:r>
            <a:endParaRPr lang="en-US" sz="920" dirty="0"/>
          </a:p>
        </p:txBody>
      </p:sp>
      <p:sp>
        <p:nvSpPr>
          <p:cNvPr id="21" name="Text 19"/>
          <p:cNvSpPr/>
          <p:nvPr/>
        </p:nvSpPr>
        <p:spPr>
          <a:xfrm>
            <a:off x="5285232" y="4754880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visitors move through it</a:t>
            </a:r>
            <a:endParaRPr lang="en-US" sz="670" dirty="0"/>
          </a:p>
        </p:txBody>
      </p:sp>
      <p:sp>
        <p:nvSpPr>
          <p:cNvPr id="22" name="Shape 20"/>
          <p:cNvSpPr/>
          <p:nvPr/>
        </p:nvSpPr>
        <p:spPr>
          <a:xfrm>
            <a:off x="6876288" y="4599432"/>
            <a:ext cx="475488" cy="0"/>
          </a:xfrm>
          <a:prstGeom prst="line">
            <a:avLst/>
          </a:prstGeom>
          <a:noFill/>
          <a:ln w="12700">
            <a:solidFill>
              <a:srgbClr val="C4B8B0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7379208" y="4069080"/>
            <a:ext cx="1664208" cy="1078992"/>
          </a:xfrm>
          <a:prstGeom prst="roundRect">
            <a:avLst>
              <a:gd name="adj" fmla="val 4237"/>
            </a:avLst>
          </a:prstGeom>
          <a:solidFill>
            <a:srgbClr val="FFFDF8"/>
          </a:solidFill>
          <a:ln w="12700">
            <a:solidFill>
              <a:srgbClr val="D8CCC4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7525512" y="420624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i="1" dirty="0">
                <a:solidFill>
                  <a:srgbClr val="6B20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525512" y="4517136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201B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</a:t>
            </a:r>
            <a:endParaRPr lang="en-US" sz="920" dirty="0"/>
          </a:p>
        </p:txBody>
      </p:sp>
      <p:sp>
        <p:nvSpPr>
          <p:cNvPr id="26" name="Text 24"/>
          <p:cNvSpPr/>
          <p:nvPr/>
        </p:nvSpPr>
        <p:spPr>
          <a:xfrm>
            <a:off x="7525512" y="4754880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Deck, social, print, signage</a:t>
            </a:r>
            <a:endParaRPr lang="en-US" sz="670" dirty="0"/>
          </a:p>
        </p:txBody>
      </p:sp>
      <p:sp>
        <p:nvSpPr>
          <p:cNvPr id="27" name="Shape 25"/>
          <p:cNvSpPr/>
          <p:nvPr/>
        </p:nvSpPr>
        <p:spPr>
          <a:xfrm>
            <a:off x="9116568" y="4599432"/>
            <a:ext cx="475488" cy="0"/>
          </a:xfrm>
          <a:prstGeom prst="line">
            <a:avLst/>
          </a:prstGeom>
          <a:noFill/>
          <a:ln w="12700">
            <a:solidFill>
              <a:srgbClr val="C4B8B0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9619488" y="4069080"/>
            <a:ext cx="1664208" cy="1078992"/>
          </a:xfrm>
          <a:prstGeom prst="roundRect">
            <a:avLst>
              <a:gd name="adj" fmla="val 4237"/>
            </a:avLst>
          </a:prstGeom>
          <a:solidFill>
            <a:srgbClr val="FFFDF8"/>
          </a:solidFill>
          <a:ln w="12700">
            <a:solidFill>
              <a:srgbClr val="D8CCC4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9765792" y="420624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i="1" dirty="0">
                <a:solidFill>
                  <a:srgbClr val="6B20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765792" y="4517136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201B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Delivery</a:t>
            </a:r>
            <a:endParaRPr lang="en-US" sz="920" dirty="0"/>
          </a:p>
        </p:txBody>
      </p:sp>
      <p:sp>
        <p:nvSpPr>
          <p:cNvPr id="31" name="Text 29"/>
          <p:cNvSpPr/>
          <p:nvPr/>
        </p:nvSpPr>
        <p:spPr>
          <a:xfrm>
            <a:off x="9765792" y="4754880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QA, exports, file handoff</a:t>
            </a:r>
            <a:endParaRPr lang="en-US" sz="670" dirty="0"/>
          </a:p>
        </p:txBody>
      </p:sp>
      <p:sp>
        <p:nvSpPr>
          <p:cNvPr id="32" name="Shape 30"/>
          <p:cNvSpPr/>
          <p:nvPr/>
        </p:nvSpPr>
        <p:spPr>
          <a:xfrm>
            <a:off x="8412480" y="1005840"/>
            <a:ext cx="3108960" cy="2304288"/>
          </a:xfrm>
          <a:prstGeom prst="rect">
            <a:avLst/>
          </a:prstGeom>
          <a:solidFill>
            <a:srgbClr val="2C2524"/>
          </a:solidFill>
          <a:ln w="12700">
            <a:solidFill>
              <a:srgbClr val="2C2524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8732520" y="135331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CFAE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Designer signal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8732520" y="1847088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FFF7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just pretty slides — structured story, clear pacing, and reusable logic.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713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cinematic_interior_museum_gallery_corridor_batch_3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313">
              <a:alpha val="64000"/>
            </a:srgbClr>
          </a:solidFill>
          <a:ln w="12700">
            <a:solidFill>
              <a:srgbClr val="17131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566928" y="475488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i="1" dirty="0">
                <a:solidFill>
                  <a:srgbClr val="F6D6C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566928" y="93268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F6D6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ENVIRONMENTAL GRAPHICS DIRECTION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566928" y="1417320"/>
            <a:ext cx="62179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00" dirty="0">
                <a:solidFill>
                  <a:srgbClr val="FFF7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spatial language built from thresholds, fragments, and glow.</a:t>
            </a:r>
            <a:endParaRPr lang="en-US" sz="3500" dirty="0"/>
          </a:p>
        </p:txBody>
      </p:sp>
      <p:sp>
        <p:nvSpPr>
          <p:cNvPr id="7" name="Text 4"/>
          <p:cNvSpPr/>
          <p:nvPr/>
        </p:nvSpPr>
        <p:spPr>
          <a:xfrm>
            <a:off x="621792" y="2542032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E7DC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concept uses translucent layers, warm directional light, and quiet moments of scale to make the exhibition feel immersive without becoming visually crowded.</a:t>
            </a:r>
            <a:endParaRPr lang="en-US" sz="1120" dirty="0"/>
          </a:p>
        </p:txBody>
      </p:sp>
      <p:sp>
        <p:nvSpPr>
          <p:cNvPr id="8" name="Shape 5"/>
          <p:cNvSpPr/>
          <p:nvPr/>
        </p:nvSpPr>
        <p:spPr>
          <a:xfrm>
            <a:off x="658368" y="4983480"/>
            <a:ext cx="2340864" cy="804672"/>
          </a:xfrm>
          <a:prstGeom prst="rect">
            <a:avLst/>
          </a:prstGeom>
          <a:solidFill>
            <a:srgbClr val="171313">
              <a:alpha val="85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822960" y="5148072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F6D6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Orientation</a:t>
            </a:r>
            <a:endParaRPr lang="en-US" sz="720" dirty="0"/>
          </a:p>
        </p:txBody>
      </p:sp>
      <p:sp>
        <p:nvSpPr>
          <p:cNvPr id="10" name="Text 7"/>
          <p:cNvSpPr/>
          <p:nvPr/>
        </p:nvSpPr>
        <p:spPr>
          <a:xfrm>
            <a:off x="822960" y="5367528"/>
            <a:ext cx="1865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E7DC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calm entry moment that tells visitors how to read the space.</a:t>
            </a:r>
            <a:endParaRPr lang="en-US" sz="670" dirty="0"/>
          </a:p>
        </p:txBody>
      </p:sp>
      <p:sp>
        <p:nvSpPr>
          <p:cNvPr id="11" name="Shape 8"/>
          <p:cNvSpPr/>
          <p:nvPr/>
        </p:nvSpPr>
        <p:spPr>
          <a:xfrm>
            <a:off x="3401568" y="4983480"/>
            <a:ext cx="2340864" cy="804672"/>
          </a:xfrm>
          <a:prstGeom prst="rect">
            <a:avLst/>
          </a:prstGeom>
          <a:solidFill>
            <a:srgbClr val="171313">
              <a:alpha val="85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3566160" y="5148072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F6D6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Memory rooms</a:t>
            </a:r>
            <a:endParaRPr lang="en-US" sz="720" dirty="0"/>
          </a:p>
        </p:txBody>
      </p:sp>
      <p:sp>
        <p:nvSpPr>
          <p:cNvPr id="13" name="Text 10"/>
          <p:cNvSpPr/>
          <p:nvPr/>
        </p:nvSpPr>
        <p:spPr>
          <a:xfrm>
            <a:off x="3566160" y="5367528"/>
            <a:ext cx="1865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E7DC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Four thematic zones: object, voice, place, and trace.</a:t>
            </a:r>
            <a:endParaRPr lang="en-US" sz="670" dirty="0"/>
          </a:p>
        </p:txBody>
      </p:sp>
      <p:sp>
        <p:nvSpPr>
          <p:cNvPr id="14" name="Shape 11"/>
          <p:cNvSpPr/>
          <p:nvPr/>
        </p:nvSpPr>
        <p:spPr>
          <a:xfrm>
            <a:off x="6144768" y="4983480"/>
            <a:ext cx="2340864" cy="804672"/>
          </a:xfrm>
          <a:prstGeom prst="rect">
            <a:avLst/>
          </a:prstGeom>
          <a:solidFill>
            <a:srgbClr val="171313">
              <a:alpha val="85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309360" y="5148072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F6D6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Exit reflection</a:t>
            </a:r>
            <a:endParaRPr lang="en-US" sz="720" dirty="0"/>
          </a:p>
        </p:txBody>
      </p:sp>
      <p:sp>
        <p:nvSpPr>
          <p:cNvPr id="16" name="Text 13"/>
          <p:cNvSpPr/>
          <p:nvPr/>
        </p:nvSpPr>
        <p:spPr>
          <a:xfrm>
            <a:off x="6309360" y="5367528"/>
            <a:ext cx="1865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E7DC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final prompt that turns viewing into participation.</a:t>
            </a:r>
            <a:endParaRPr lang="en-US" sz="67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384048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i="1" dirty="0">
                <a:solidFill>
                  <a:srgbClr val="6B20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10528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b="1" dirty="0">
                <a:solidFill>
                  <a:srgbClr val="756B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JOCELYN MARTINEZ  /  THRESHOLDS / VISUAL SYSTEM</a:t>
            </a:r>
            <a:endParaRPr lang="en-US" sz="580" dirty="0"/>
          </a:p>
        </p:txBody>
      </p:sp>
      <p:sp>
        <p:nvSpPr>
          <p:cNvPr id="4" name="Text 2"/>
          <p:cNvSpPr/>
          <p:nvPr/>
        </p:nvSpPr>
        <p:spPr>
          <a:xfrm>
            <a:off x="9601200" y="6510528"/>
            <a:ext cx="20848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80" b="1" dirty="0">
                <a:solidFill>
                  <a:srgbClr val="756B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 SYSTEM</a:t>
            </a:r>
            <a:endParaRPr lang="en-US" sz="580" dirty="0"/>
          </a:p>
        </p:txBody>
      </p:sp>
      <p:sp>
        <p:nvSpPr>
          <p:cNvPr id="5" name="Text 3"/>
          <p:cNvSpPr/>
          <p:nvPr/>
        </p:nvSpPr>
        <p:spPr>
          <a:xfrm>
            <a:off x="566928" y="82296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6B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BRAND SYSTEM / DECK KIT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66928" y="118872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700" dirty="0">
                <a:solidFill>
                  <a:srgbClr val="201B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system, many applications.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594360" y="1975104"/>
            <a:ext cx="5120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system is intentionally production-friendly: a small palette, repeatable type hierarchy, strong crop logic, and clear usage rules for fast deck and social variations.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1792" y="3246120"/>
            <a:ext cx="777240" cy="777240"/>
          </a:xfrm>
          <a:prstGeom prst="rect">
            <a:avLst/>
          </a:prstGeom>
          <a:solidFill>
            <a:srgbClr val="6B202A"/>
          </a:solidFill>
          <a:ln w="12700">
            <a:solidFill>
              <a:srgbClr val="6B202A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21792" y="4133088"/>
            <a:ext cx="786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0" b="1" dirty="0">
                <a:solidFill>
                  <a:srgbClr val="756B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ARCHIVE BURGUNDY</a:t>
            </a:r>
            <a:endParaRPr lang="en-US" sz="520" dirty="0"/>
          </a:p>
        </p:txBody>
      </p:sp>
      <p:sp>
        <p:nvSpPr>
          <p:cNvPr id="10" name="Shape 8"/>
          <p:cNvSpPr/>
          <p:nvPr/>
        </p:nvSpPr>
        <p:spPr>
          <a:xfrm>
            <a:off x="1645920" y="3246120"/>
            <a:ext cx="777240" cy="777240"/>
          </a:xfrm>
          <a:prstGeom prst="rect">
            <a:avLst/>
          </a:prstGeom>
          <a:solidFill>
            <a:srgbClr val="F4EFE8"/>
          </a:solidFill>
          <a:ln w="12700">
            <a:solidFill>
              <a:srgbClr val="F4EFE8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645920" y="4133088"/>
            <a:ext cx="786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0" b="1" dirty="0">
                <a:solidFill>
                  <a:srgbClr val="756B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WARM PAPER</a:t>
            </a:r>
            <a:endParaRPr lang="en-US" sz="520" dirty="0"/>
          </a:p>
        </p:txBody>
      </p:sp>
      <p:sp>
        <p:nvSpPr>
          <p:cNvPr id="12" name="Shape 10"/>
          <p:cNvSpPr/>
          <p:nvPr/>
        </p:nvSpPr>
        <p:spPr>
          <a:xfrm>
            <a:off x="2670048" y="3246120"/>
            <a:ext cx="777240" cy="777240"/>
          </a:xfrm>
          <a:prstGeom prst="rect">
            <a:avLst/>
          </a:prstGeom>
          <a:solidFill>
            <a:srgbClr val="2C2524"/>
          </a:solidFill>
          <a:ln w="12700">
            <a:solidFill>
              <a:srgbClr val="2C2524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2670048" y="4133088"/>
            <a:ext cx="786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0" b="1" dirty="0">
                <a:solidFill>
                  <a:srgbClr val="756B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CHARCOAL</a:t>
            </a:r>
            <a:endParaRPr lang="en-US" sz="520" dirty="0"/>
          </a:p>
        </p:txBody>
      </p:sp>
      <p:sp>
        <p:nvSpPr>
          <p:cNvPr id="14" name="Shape 12"/>
          <p:cNvSpPr/>
          <p:nvPr/>
        </p:nvSpPr>
        <p:spPr>
          <a:xfrm>
            <a:off x="3694176" y="3246120"/>
            <a:ext cx="777240" cy="777240"/>
          </a:xfrm>
          <a:prstGeom prst="rect">
            <a:avLst/>
          </a:prstGeom>
          <a:solidFill>
            <a:srgbClr val="B78682"/>
          </a:solidFill>
          <a:ln w="12700">
            <a:solidFill>
              <a:srgbClr val="B78682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3694176" y="4133088"/>
            <a:ext cx="786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0" b="1" dirty="0">
                <a:solidFill>
                  <a:srgbClr val="756B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AGED ROSE</a:t>
            </a:r>
            <a:endParaRPr lang="en-US" sz="520" dirty="0"/>
          </a:p>
        </p:txBody>
      </p:sp>
      <p:sp>
        <p:nvSpPr>
          <p:cNvPr id="16" name="Shape 14"/>
          <p:cNvSpPr/>
          <p:nvPr/>
        </p:nvSpPr>
        <p:spPr>
          <a:xfrm>
            <a:off x="4718304" y="3246120"/>
            <a:ext cx="777240" cy="777240"/>
          </a:xfrm>
          <a:prstGeom prst="rect">
            <a:avLst/>
          </a:prstGeom>
          <a:solidFill>
            <a:srgbClr val="C0A06B"/>
          </a:solidFill>
          <a:ln w="12700">
            <a:solidFill>
              <a:srgbClr val="C0A06B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718304" y="4133088"/>
            <a:ext cx="786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0" b="1" dirty="0">
                <a:solidFill>
                  <a:srgbClr val="756B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BRASS</a:t>
            </a:r>
            <a:endParaRPr lang="en-US" sz="520" dirty="0"/>
          </a:p>
        </p:txBody>
      </p:sp>
      <p:sp>
        <p:nvSpPr>
          <p:cNvPr id="18" name="Shape 16"/>
          <p:cNvSpPr/>
          <p:nvPr/>
        </p:nvSpPr>
        <p:spPr>
          <a:xfrm>
            <a:off x="6537960" y="960120"/>
            <a:ext cx="4983480" cy="5212080"/>
          </a:xfrm>
          <a:prstGeom prst="rect">
            <a:avLst/>
          </a:prstGeom>
          <a:solidFill>
            <a:srgbClr val="2C2524"/>
          </a:solidFill>
          <a:ln w="12700">
            <a:solidFill>
              <a:srgbClr val="2C2524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876288" y="1335024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E8C7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 HIERARCHY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6876288" y="1783080"/>
            <a:ext cx="30175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Thresholds</a:t>
            </a:r>
          </a:p>
        </p:txBody>
      </p:sp>
      <p:sp>
        <p:nvSpPr>
          <p:cNvPr id="21" name="Text 19"/>
          <p:cNvSpPr/>
          <p:nvPr/>
        </p:nvSpPr>
        <p:spPr>
          <a:xfrm>
            <a:off x="9418320" y="181051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b="1" dirty="0">
                <a:solidFill>
                  <a:srgbClr val="BFA5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TITLES / GEORGIA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6912864" y="3273552"/>
            <a:ext cx="3767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E7DC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Client-facing decks need a clear typographic ladder: big idea, context, evidence, label, and production note.</a:t>
            </a:r>
            <a:endParaRPr lang="en-US" sz="940" dirty="0"/>
          </a:p>
        </p:txBody>
      </p:sp>
      <p:sp>
        <p:nvSpPr>
          <p:cNvPr id="23" name="Shape 21"/>
          <p:cNvSpPr/>
          <p:nvPr/>
        </p:nvSpPr>
        <p:spPr>
          <a:xfrm>
            <a:off x="6912864" y="4041648"/>
            <a:ext cx="3383280" cy="0"/>
          </a:xfrm>
          <a:prstGeom prst="line">
            <a:avLst/>
          </a:prstGeom>
          <a:noFill/>
          <a:ln w="12700">
            <a:solidFill>
              <a:srgbClr val="8B3A3D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912864" y="4352544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7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Deck body / Aptos 11–14 pt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912864" y="4681728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BFA5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Labels / uppercase / tracking +1.6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6912864" y="4992624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BFA5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Captions / concise production notes</a:t>
            </a:r>
            <a:endParaRPr lang="en-US" sz="700" dirty="0"/>
          </a:p>
        </p:txBody>
      </p:sp>
      <p:pic>
        <p:nvPicPr>
          <p:cNvPr id="27" name="Image 0" descr="/mnt/data/a_close_up_still_life_flat_lay_scene_on_a_tablet_batch_2.png">    </p:cNvPr>
          <p:cNvPicPr>
            <a:picLocks noChangeAspect="1"/>
          </p:cNvPicPr>
          <p:nvPr/>
        </p:nvPicPr>
        <p:blipFill>
          <a:blip r:embed="rId1"/>
          <a:srcRect l="26712" r="26712" t="0" b="0"/>
          <a:stretch/>
        </p:blipFill>
        <p:spPr>
          <a:xfrm>
            <a:off x="3840480" y="3273552"/>
            <a:ext cx="1755648" cy="212140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384048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i="1" dirty="0">
                <a:solidFill>
                  <a:srgbClr val="6B20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10528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b="1" dirty="0">
                <a:solidFill>
                  <a:srgbClr val="756B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JOCELYN MARTINEZ  /  THRESHOLDS / VISUAL SYSTEM</a:t>
            </a:r>
            <a:endParaRPr lang="en-US" sz="580" dirty="0"/>
          </a:p>
        </p:txBody>
      </p:sp>
      <p:sp>
        <p:nvSpPr>
          <p:cNvPr id="4" name="Text 2"/>
          <p:cNvSpPr/>
          <p:nvPr/>
        </p:nvSpPr>
        <p:spPr>
          <a:xfrm>
            <a:off x="9601200" y="6510528"/>
            <a:ext cx="20848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80" b="1" dirty="0">
                <a:solidFill>
                  <a:srgbClr val="756B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TEMPLATES</a:t>
            </a:r>
            <a:endParaRPr lang="en-US" sz="580" dirty="0"/>
          </a:p>
        </p:txBody>
      </p:sp>
      <p:sp>
        <p:nvSpPr>
          <p:cNvPr id="5" name="Text 3"/>
          <p:cNvSpPr/>
          <p:nvPr/>
        </p:nvSpPr>
        <p:spPr>
          <a:xfrm>
            <a:off x="566928" y="8229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6B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PRESENTATION SYSTEM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66928" y="1207008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00" dirty="0">
                <a:solidFill>
                  <a:srgbClr val="201B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Reusable slide layouts for speed and consistency.</a:t>
            </a:r>
            <a:endParaRPr lang="en-US" sz="3500" dirty="0"/>
          </a:p>
        </p:txBody>
      </p:sp>
      <p:sp>
        <p:nvSpPr>
          <p:cNvPr id="7" name="Text 5"/>
          <p:cNvSpPr/>
          <p:nvPr/>
        </p:nvSpPr>
        <p:spPr>
          <a:xfrm>
            <a:off x="585216" y="2029968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the kind of system I would build and maintain for a studio team: clear modules, consistent spacing, and simple rules that survive revisions.</a:t>
            </a:r>
            <a:endParaRPr lang="en-US" sz="1120" dirty="0"/>
          </a:p>
        </p:txBody>
      </p:sp>
      <p:sp>
        <p:nvSpPr>
          <p:cNvPr id="8" name="Shape 6"/>
          <p:cNvSpPr/>
          <p:nvPr/>
        </p:nvSpPr>
        <p:spPr>
          <a:xfrm>
            <a:off x="640080" y="3246120"/>
            <a:ext cx="3246120" cy="2148840"/>
          </a:xfrm>
          <a:prstGeom prst="rect">
            <a:avLst/>
          </a:prstGeom>
          <a:solidFill>
            <a:srgbClr val="FFFDF8"/>
          </a:solidFill>
          <a:ln w="12700">
            <a:solidFill>
              <a:srgbClr val="D7CCC4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640080" y="3246120"/>
            <a:ext cx="3246120" cy="164592"/>
          </a:xfrm>
          <a:prstGeom prst="rect">
            <a:avLst/>
          </a:prstGeom>
          <a:solidFill>
            <a:srgbClr val="6B202A"/>
          </a:solidFill>
          <a:ln w="12700">
            <a:solidFill>
              <a:srgbClr val="6B202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896112" y="3657600"/>
            <a:ext cx="1463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b="1" dirty="0">
                <a:solidFill>
                  <a:srgbClr val="6B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TITLE / IDEA</a:t>
            </a:r>
            <a:endParaRPr lang="en-US" sz="620" dirty="0"/>
          </a:p>
        </p:txBody>
      </p:sp>
      <p:sp>
        <p:nvSpPr>
          <p:cNvPr id="11" name="Text 9"/>
          <p:cNvSpPr/>
          <p:nvPr/>
        </p:nvSpPr>
        <p:spPr>
          <a:xfrm>
            <a:off x="896112" y="397764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201B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large image + statement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896112" y="4599432"/>
            <a:ext cx="2011680" cy="0"/>
          </a:xfrm>
          <a:prstGeom prst="line">
            <a:avLst/>
          </a:prstGeom>
          <a:noFill/>
          <a:ln w="12700">
            <a:solidFill>
              <a:srgbClr val="D0C2B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96112" y="4828032"/>
            <a:ext cx="2514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Consistent grid · label system · client-ready export area</a:t>
            </a:r>
            <a:endParaRPr lang="en-US" sz="680" dirty="0"/>
          </a:p>
        </p:txBody>
      </p:sp>
      <p:sp>
        <p:nvSpPr>
          <p:cNvPr id="14" name="Shape 12"/>
          <p:cNvSpPr/>
          <p:nvPr/>
        </p:nvSpPr>
        <p:spPr>
          <a:xfrm>
            <a:off x="4407408" y="3246120"/>
            <a:ext cx="3246120" cy="2148840"/>
          </a:xfrm>
          <a:prstGeom prst="rect">
            <a:avLst/>
          </a:prstGeom>
          <a:solidFill>
            <a:srgbClr val="FFFDF8"/>
          </a:solidFill>
          <a:ln w="12700">
            <a:solidFill>
              <a:srgbClr val="D7CCC4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4407408" y="3246120"/>
            <a:ext cx="3246120" cy="164592"/>
          </a:xfrm>
          <a:prstGeom prst="rect">
            <a:avLst/>
          </a:prstGeom>
          <a:solidFill>
            <a:srgbClr val="2C2524"/>
          </a:solidFill>
          <a:ln w="12700">
            <a:solidFill>
              <a:srgbClr val="2C2524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663440" y="3657600"/>
            <a:ext cx="1463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b="1" dirty="0">
                <a:solidFill>
                  <a:srgbClr val="6B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COMPARISON</a:t>
            </a:r>
            <a:endParaRPr lang="en-US" sz="620" dirty="0"/>
          </a:p>
        </p:txBody>
      </p:sp>
      <p:sp>
        <p:nvSpPr>
          <p:cNvPr id="17" name="Text 15"/>
          <p:cNvSpPr/>
          <p:nvPr/>
        </p:nvSpPr>
        <p:spPr>
          <a:xfrm>
            <a:off x="4663440" y="397764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201B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two-column decision logic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4663440" y="4599432"/>
            <a:ext cx="2011680" cy="0"/>
          </a:xfrm>
          <a:prstGeom prst="line">
            <a:avLst/>
          </a:prstGeom>
          <a:noFill/>
          <a:ln w="12700">
            <a:solidFill>
              <a:srgbClr val="D0C2B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4663440" y="4828032"/>
            <a:ext cx="2514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Consistent grid · label system · client-ready export area</a:t>
            </a:r>
            <a:endParaRPr lang="en-US" sz="680" dirty="0"/>
          </a:p>
        </p:txBody>
      </p:sp>
      <p:sp>
        <p:nvSpPr>
          <p:cNvPr id="20" name="Shape 18"/>
          <p:cNvSpPr/>
          <p:nvPr/>
        </p:nvSpPr>
        <p:spPr>
          <a:xfrm>
            <a:off x="8174736" y="3246120"/>
            <a:ext cx="3246120" cy="2148840"/>
          </a:xfrm>
          <a:prstGeom prst="rect">
            <a:avLst/>
          </a:prstGeom>
          <a:solidFill>
            <a:srgbClr val="FFFDF8"/>
          </a:solidFill>
          <a:ln w="12700">
            <a:solidFill>
              <a:srgbClr val="D7CCC4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8174736" y="3246120"/>
            <a:ext cx="3246120" cy="164592"/>
          </a:xfrm>
          <a:prstGeom prst="rect">
            <a:avLst/>
          </a:prstGeom>
          <a:solidFill>
            <a:srgbClr val="777E6B"/>
          </a:solidFill>
          <a:ln w="12700">
            <a:solidFill>
              <a:srgbClr val="777E6B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8430768" y="3657600"/>
            <a:ext cx="1463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b="1" dirty="0">
                <a:solidFill>
                  <a:srgbClr val="6B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DELIVERY</a:t>
            </a:r>
            <a:endParaRPr lang="en-US" sz="620" dirty="0"/>
          </a:p>
        </p:txBody>
      </p:sp>
      <p:sp>
        <p:nvSpPr>
          <p:cNvPr id="23" name="Text 21"/>
          <p:cNvSpPr/>
          <p:nvPr/>
        </p:nvSpPr>
        <p:spPr>
          <a:xfrm>
            <a:off x="8430768" y="397764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201B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checklist + assets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8430768" y="4599432"/>
            <a:ext cx="2011680" cy="0"/>
          </a:xfrm>
          <a:prstGeom prst="line">
            <a:avLst/>
          </a:prstGeom>
          <a:noFill/>
          <a:ln w="12700">
            <a:solidFill>
              <a:srgbClr val="D0C2B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8430768" y="4828032"/>
            <a:ext cx="2514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Consistent grid · label system · client-ready export area</a:t>
            </a:r>
            <a:endParaRPr lang="en-US" sz="680" dirty="0"/>
          </a:p>
        </p:txBody>
      </p:sp>
      <p:sp>
        <p:nvSpPr>
          <p:cNvPr id="26" name="Text 24"/>
          <p:cNvSpPr/>
          <p:nvPr/>
        </p:nvSpPr>
        <p:spPr>
          <a:xfrm>
            <a:off x="658368" y="587044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756B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PowerPoint animation note: use short fade / wipe builds to reveal sequences, not decorative motion that distracts from the idea.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384048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i="1" dirty="0">
                <a:solidFill>
                  <a:srgbClr val="6B20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10528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b="1" dirty="0">
                <a:solidFill>
                  <a:srgbClr val="756B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JOCELYN MARTINEZ  /  THRESHOLDS / VISUAL SYSTEM</a:t>
            </a:r>
            <a:endParaRPr lang="en-US" sz="580" dirty="0"/>
          </a:p>
        </p:txBody>
      </p:sp>
      <p:sp>
        <p:nvSpPr>
          <p:cNvPr id="4" name="Text 2"/>
          <p:cNvSpPr/>
          <p:nvPr/>
        </p:nvSpPr>
        <p:spPr>
          <a:xfrm>
            <a:off x="9601200" y="6510528"/>
            <a:ext cx="20848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80" b="1" dirty="0">
                <a:solidFill>
                  <a:srgbClr val="756B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SOCIAL</a:t>
            </a:r>
            <a:endParaRPr lang="en-US" sz="580" dirty="0"/>
          </a:p>
        </p:txBody>
      </p:sp>
      <p:pic>
        <p:nvPicPr>
          <p:cNvPr id="5" name="Image 0" descr="/mnt/data/a_clean_high_end_flatlay_mockup_scene_on_a_warm_batch_4.png">    </p:cNvPr>
          <p:cNvPicPr>
            <a:picLocks noChangeAspect="1"/>
          </p:cNvPicPr>
          <p:nvPr/>
        </p:nvPicPr>
        <p:blipFill>
          <a:blip r:embed="rId1"/>
          <a:srcRect l="22862" r="22862" t="0" b="0"/>
          <a:stretch/>
        </p:blipFill>
        <p:spPr>
          <a:xfrm>
            <a:off x="5577840" y="0"/>
            <a:ext cx="6613855" cy="6858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577840" y="0"/>
            <a:ext cx="6613855" cy="6858000"/>
          </a:xfrm>
          <a:prstGeom prst="rect">
            <a:avLst/>
          </a:prstGeom>
          <a:solidFill>
            <a:srgbClr val="FFFDF8">
              <a:alpha val="85000"/>
            </a:srgbClr>
          </a:solidFill>
          <a:ln w="12700">
            <a:solidFill>
              <a:srgbClr val="FFFDF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566928" y="82296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6B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SOCIAL MEDIA PRODUCTION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566928" y="1234440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00" dirty="0">
                <a:solidFill>
                  <a:srgbClr val="201B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Cutdowns that keep the idea intact.</a:t>
            </a:r>
            <a:endParaRPr lang="en-US" sz="3500" dirty="0"/>
          </a:p>
        </p:txBody>
      </p:sp>
      <p:sp>
        <p:nvSpPr>
          <p:cNvPr id="9" name="Text 6"/>
          <p:cNvSpPr/>
          <p:nvPr/>
        </p:nvSpPr>
        <p:spPr>
          <a:xfrm>
            <a:off x="594360" y="2029968"/>
            <a:ext cx="4754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Cross-format production requires fast, accurate variations without weakening the core idea. This system uses a flexible crop grid, consistent caption space, and restrained motion cues for carousels and cover frames.</a:t>
            </a:r>
            <a:endParaRPr lang="en-US" sz="1130" dirty="0"/>
          </a:p>
        </p:txBody>
      </p:sp>
      <p:sp>
        <p:nvSpPr>
          <p:cNvPr id="10" name="Text 7"/>
          <p:cNvSpPr/>
          <p:nvPr/>
        </p:nvSpPr>
        <p:spPr>
          <a:xfrm>
            <a:off x="658368" y="3310128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201B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LinkedIn carousel</a:t>
            </a:r>
            <a:endParaRPr lang="en-US" sz="760" dirty="0"/>
          </a:p>
        </p:txBody>
      </p:sp>
      <p:sp>
        <p:nvSpPr>
          <p:cNvPr id="11" name="Text 8"/>
          <p:cNvSpPr/>
          <p:nvPr/>
        </p:nvSpPr>
        <p:spPr>
          <a:xfrm>
            <a:off x="2423160" y="3310128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756B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1600 × 900 / idea sequence</a:t>
            </a:r>
            <a:endParaRPr lang="en-US" sz="730" dirty="0"/>
          </a:p>
        </p:txBody>
      </p:sp>
      <p:sp>
        <p:nvSpPr>
          <p:cNvPr id="12" name="Shape 9"/>
          <p:cNvSpPr/>
          <p:nvPr/>
        </p:nvSpPr>
        <p:spPr>
          <a:xfrm>
            <a:off x="658368" y="3575304"/>
            <a:ext cx="4069080" cy="0"/>
          </a:xfrm>
          <a:prstGeom prst="line">
            <a:avLst/>
          </a:prstGeom>
          <a:noFill/>
          <a:ln w="12700">
            <a:solidFill>
              <a:srgbClr val="D9CDC4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658368" y="3785616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201B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Instagram feed</a:t>
            </a:r>
            <a:endParaRPr lang="en-US" sz="760" dirty="0"/>
          </a:p>
        </p:txBody>
      </p:sp>
      <p:sp>
        <p:nvSpPr>
          <p:cNvPr id="14" name="Text 11"/>
          <p:cNvSpPr/>
          <p:nvPr/>
        </p:nvSpPr>
        <p:spPr>
          <a:xfrm>
            <a:off x="2423160" y="3785616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756B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1080 × 1080 / visual hook</a:t>
            </a:r>
            <a:endParaRPr lang="en-US" sz="730" dirty="0"/>
          </a:p>
        </p:txBody>
      </p:sp>
      <p:sp>
        <p:nvSpPr>
          <p:cNvPr id="15" name="Shape 12"/>
          <p:cNvSpPr/>
          <p:nvPr/>
        </p:nvSpPr>
        <p:spPr>
          <a:xfrm>
            <a:off x="658368" y="4050792"/>
            <a:ext cx="4069080" cy="0"/>
          </a:xfrm>
          <a:prstGeom prst="line">
            <a:avLst/>
          </a:prstGeom>
          <a:noFill/>
          <a:ln w="12700">
            <a:solidFill>
              <a:srgbClr val="D9CDC4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658368" y="4261104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201B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Story / reel cover</a:t>
            </a:r>
            <a:endParaRPr lang="en-US" sz="760" dirty="0"/>
          </a:p>
        </p:txBody>
      </p:sp>
      <p:sp>
        <p:nvSpPr>
          <p:cNvPr id="17" name="Text 14"/>
          <p:cNvSpPr/>
          <p:nvPr/>
        </p:nvSpPr>
        <p:spPr>
          <a:xfrm>
            <a:off x="2423160" y="4261104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756B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1080 × 1920 / vertical crop</a:t>
            </a:r>
            <a:endParaRPr lang="en-US" sz="730" dirty="0"/>
          </a:p>
        </p:txBody>
      </p:sp>
      <p:sp>
        <p:nvSpPr>
          <p:cNvPr id="18" name="Shape 15"/>
          <p:cNvSpPr/>
          <p:nvPr/>
        </p:nvSpPr>
        <p:spPr>
          <a:xfrm>
            <a:off x="658368" y="4526280"/>
            <a:ext cx="4069080" cy="0"/>
          </a:xfrm>
          <a:prstGeom prst="line">
            <a:avLst/>
          </a:prstGeom>
          <a:noFill/>
          <a:ln w="12700">
            <a:solidFill>
              <a:srgbClr val="D9CDC4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658368" y="4736592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201B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 graphic</a:t>
            </a:r>
            <a:endParaRPr lang="en-US" sz="760" dirty="0"/>
          </a:p>
        </p:txBody>
      </p:sp>
      <p:sp>
        <p:nvSpPr>
          <p:cNvPr id="20" name="Text 17"/>
          <p:cNvSpPr/>
          <p:nvPr/>
        </p:nvSpPr>
        <p:spPr>
          <a:xfrm>
            <a:off x="2423160" y="4736592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756B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date + location + CTA</a:t>
            </a:r>
            <a:endParaRPr lang="en-US" sz="730" dirty="0"/>
          </a:p>
        </p:txBody>
      </p:sp>
      <p:sp>
        <p:nvSpPr>
          <p:cNvPr id="21" name="Shape 18"/>
          <p:cNvSpPr/>
          <p:nvPr/>
        </p:nvSpPr>
        <p:spPr>
          <a:xfrm>
            <a:off x="658368" y="5001768"/>
            <a:ext cx="4069080" cy="0"/>
          </a:xfrm>
          <a:prstGeom prst="line">
            <a:avLst/>
          </a:prstGeom>
          <a:noFill/>
          <a:ln w="12700">
            <a:solidFill>
              <a:srgbClr val="D9CDC4"/>
            </a:solidFill>
            <a:prstDash val="solid"/>
          </a:ln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658368" y="5468112"/>
            <a:ext cx="786384" cy="786384"/>
          </a:xfrm>
          <a:prstGeom prst="rect">
            <a:avLst/>
          </a:prstGeom>
          <a:solidFill>
            <a:srgbClr val="FFFDF8"/>
          </a:solidFill>
          <a:ln w="12700">
            <a:solidFill>
              <a:srgbClr val="CFBFB8"/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896112" y="5742432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700" dirty="0"/>
          </a:p>
        </p:txBody>
      </p:sp>
      <p:sp>
        <p:nvSpPr>
          <p:cNvPr id="24" name="Shape 21"/>
          <p:cNvSpPr/>
          <p:nvPr/>
        </p:nvSpPr>
        <p:spPr>
          <a:xfrm>
            <a:off x="1709928" y="5468112"/>
            <a:ext cx="786384" cy="786384"/>
          </a:xfrm>
          <a:prstGeom prst="rect">
            <a:avLst/>
          </a:prstGeom>
          <a:solidFill>
            <a:srgbClr val="6B202A"/>
          </a:solidFill>
          <a:ln w="12700">
            <a:solidFill>
              <a:srgbClr val="CFBFB8"/>
            </a:solidFill>
            <a:prstDash val="solid"/>
          </a:ln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1947672" y="5742432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700" dirty="0"/>
          </a:p>
        </p:txBody>
      </p:sp>
      <p:sp>
        <p:nvSpPr>
          <p:cNvPr id="26" name="Shape 23"/>
          <p:cNvSpPr/>
          <p:nvPr/>
        </p:nvSpPr>
        <p:spPr>
          <a:xfrm>
            <a:off x="2761488" y="5468112"/>
            <a:ext cx="786384" cy="786384"/>
          </a:xfrm>
          <a:prstGeom prst="rect">
            <a:avLst/>
          </a:prstGeom>
          <a:solidFill>
            <a:srgbClr val="FFFDF8"/>
          </a:solidFill>
          <a:ln w="12700">
            <a:solidFill>
              <a:srgbClr val="CFBFB8"/>
            </a:solidFill>
            <a:prstDash val="solid"/>
          </a:ln>
        </p:spPr>
        <p:txBody>
          <a:bodyPr/>
          <a:p/>
        </p:txBody>
      </p:sp>
      <p:sp>
        <p:nvSpPr>
          <p:cNvPr id="27" name="Text 24"/>
          <p:cNvSpPr/>
          <p:nvPr/>
        </p:nvSpPr>
        <p:spPr>
          <a:xfrm>
            <a:off x="2999232" y="5742432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384048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i="1" dirty="0">
                <a:solidFill>
                  <a:srgbClr val="6B20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10528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b="1" dirty="0">
                <a:solidFill>
                  <a:srgbClr val="756B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JOCELYN MARTINEZ  /  THRESHOLDS / VISUAL SYSTEM</a:t>
            </a:r>
            <a:endParaRPr lang="en-US" sz="580" dirty="0"/>
          </a:p>
        </p:txBody>
      </p:sp>
      <p:sp>
        <p:nvSpPr>
          <p:cNvPr id="4" name="Text 2"/>
          <p:cNvSpPr/>
          <p:nvPr/>
        </p:nvSpPr>
        <p:spPr>
          <a:xfrm>
            <a:off x="9601200" y="6510528"/>
            <a:ext cx="20848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80" b="1" dirty="0">
                <a:solidFill>
                  <a:srgbClr val="756B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PRINT + SUBMISSIONS</a:t>
            </a:r>
            <a:endParaRPr lang="en-US" sz="580" dirty="0"/>
          </a:p>
        </p:txBody>
      </p:sp>
      <p:sp>
        <p:nvSpPr>
          <p:cNvPr id="5" name="Text 3"/>
          <p:cNvSpPr/>
          <p:nvPr/>
        </p:nvSpPr>
        <p:spPr>
          <a:xfrm>
            <a:off x="566928" y="82296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6B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PRINT / SUBMISSION SUPPORT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66928" y="1207008"/>
            <a:ext cx="6309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00" dirty="0">
                <a:solidFill>
                  <a:srgbClr val="201B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one-page leave-behind with print-ready discipline.</a:t>
            </a:r>
            <a:endParaRPr lang="en-US" sz="3500" dirty="0"/>
          </a:p>
        </p:txBody>
      </p:sp>
      <p:sp>
        <p:nvSpPr>
          <p:cNvPr id="7" name="Text 5"/>
          <p:cNvSpPr/>
          <p:nvPr/>
        </p:nvSpPr>
        <p:spPr>
          <a:xfrm>
            <a:off x="585216" y="2029968"/>
            <a:ext cx="5166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slide demonstrates print thinking: bleed-safe composition, clear hierarchy, cropping rules, caption systems, and production checks before export.</a:t>
            </a:r>
            <a:endParaRPr lang="en-US" sz="1120" dirty="0"/>
          </a:p>
        </p:txBody>
      </p:sp>
      <p:sp>
        <p:nvSpPr>
          <p:cNvPr id="8" name="Shape 6"/>
          <p:cNvSpPr/>
          <p:nvPr/>
        </p:nvSpPr>
        <p:spPr>
          <a:xfrm>
            <a:off x="6492240" y="731520"/>
            <a:ext cx="3246120" cy="5394960"/>
          </a:xfrm>
          <a:prstGeom prst="rect">
            <a:avLst/>
          </a:prstGeom>
          <a:solidFill>
            <a:srgbClr val="FFFDF8"/>
          </a:solidFill>
          <a:ln w="12700">
            <a:solidFill>
              <a:srgbClr val="D4C7BF"/>
            </a:solidFill>
            <a:prstDash val="solid"/>
          </a:ln>
        </p:spPr>
        <p:txBody>
          <a:bodyPr/>
          <a:p/>
        </p:txBody>
      </p:sp>
      <p:pic>
        <p:nvPicPr>
          <p:cNvPr id="9" name="Image 0" descr="/mnt/data/a_wide_interior_scene_of_a_modern_minimalist_gall_batch_1.png">    </p:cNvPr>
          <p:cNvPicPr>
            <a:picLocks noChangeAspect="1"/>
          </p:cNvPicPr>
          <p:nvPr/>
        </p:nvPicPr>
        <p:blipFill>
          <a:blip r:embed="rId1"/>
          <a:srcRect l="674" r="674" t="0" b="0"/>
          <a:stretch/>
        </p:blipFill>
        <p:spPr>
          <a:xfrm>
            <a:off x="6720840" y="987552"/>
            <a:ext cx="2788920" cy="159105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720840" y="28346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6B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LEAVE-BEHIND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6720840" y="31546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Thresholds</a:t>
            </a:r>
          </a:p>
        </p:txBody>
      </p:sp>
      <p:sp>
        <p:nvSpPr>
          <p:cNvPr id="12" name="Text 9"/>
          <p:cNvSpPr/>
          <p:nvPr/>
        </p:nvSpPr>
        <p:spPr>
          <a:xfrm>
            <a:off x="6748272" y="41605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immersive cultural experience about memory, material traces, and the spaces between stories.</a:t>
            </a:r>
            <a:endParaRPr lang="en-US" sz="830" dirty="0"/>
          </a:p>
        </p:txBody>
      </p:sp>
      <p:sp>
        <p:nvSpPr>
          <p:cNvPr id="13" name="Shape 10"/>
          <p:cNvSpPr/>
          <p:nvPr/>
        </p:nvSpPr>
        <p:spPr>
          <a:xfrm>
            <a:off x="6748272" y="4919472"/>
            <a:ext cx="2377440" cy="0"/>
          </a:xfrm>
          <a:prstGeom prst="line">
            <a:avLst/>
          </a:prstGeom>
          <a:noFill/>
          <a:ln w="12700">
            <a:solidFill>
              <a:srgbClr val="D4C7BF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6748272" y="5138928"/>
            <a:ext cx="23774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b="1" dirty="0">
                <a:solidFill>
                  <a:srgbClr val="756B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BLEED 0.125"  ·  CMYK READY  ·  300 DPI IMAGERY</a:t>
            </a:r>
            <a:endParaRPr lang="en-US" sz="580" dirty="0"/>
          </a:p>
        </p:txBody>
      </p:sp>
      <p:sp>
        <p:nvSpPr>
          <p:cNvPr id="15" name="Text 12"/>
          <p:cNvSpPr/>
          <p:nvPr/>
        </p:nvSpPr>
        <p:spPr>
          <a:xfrm>
            <a:off x="658368" y="3182112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B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941832" y="3182112"/>
            <a:ext cx="3291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201B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Bleeds and trims set</a:t>
            </a:r>
            <a:endParaRPr lang="en-US" sz="840" dirty="0"/>
          </a:p>
        </p:txBody>
      </p:sp>
      <p:sp>
        <p:nvSpPr>
          <p:cNvPr id="17" name="Text 14"/>
          <p:cNvSpPr/>
          <p:nvPr/>
        </p:nvSpPr>
        <p:spPr>
          <a:xfrm>
            <a:off x="658368" y="3593592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B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941832" y="3593592"/>
            <a:ext cx="3291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201B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Links packaged and named</a:t>
            </a:r>
            <a:endParaRPr lang="en-US" sz="840" dirty="0"/>
          </a:p>
        </p:txBody>
      </p:sp>
      <p:sp>
        <p:nvSpPr>
          <p:cNvPr id="19" name="Text 16"/>
          <p:cNvSpPr/>
          <p:nvPr/>
        </p:nvSpPr>
        <p:spPr>
          <a:xfrm>
            <a:off x="658368" y="4005072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B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941832" y="4005072"/>
            <a:ext cx="3291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201B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Images 300 DPI+</a:t>
            </a:r>
            <a:endParaRPr lang="en-US" sz="840" dirty="0"/>
          </a:p>
        </p:txBody>
      </p:sp>
      <p:sp>
        <p:nvSpPr>
          <p:cNvPr id="21" name="Text 18"/>
          <p:cNvSpPr/>
          <p:nvPr/>
        </p:nvSpPr>
        <p:spPr>
          <a:xfrm>
            <a:off x="658368" y="4416552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B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941832" y="4416552"/>
            <a:ext cx="3291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201B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Exported PDF and editable file</a:t>
            </a:r>
            <a:endParaRPr lang="en-US" sz="840" dirty="0"/>
          </a:p>
        </p:txBody>
      </p:sp>
      <p:sp>
        <p:nvSpPr>
          <p:cNvPr id="23" name="Text 20"/>
          <p:cNvSpPr/>
          <p:nvPr/>
        </p:nvSpPr>
        <p:spPr>
          <a:xfrm>
            <a:off x="658368" y="4828032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B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941832" y="4828032"/>
            <a:ext cx="3291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201B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proofread pass</a:t>
            </a:r>
            <a:endParaRPr lang="en-US" sz="84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384048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i="1" dirty="0">
                <a:solidFill>
                  <a:srgbClr val="6B20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10528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b="1" dirty="0">
                <a:solidFill>
                  <a:srgbClr val="756B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JOCELYN MARTINEZ  /  THRESHOLDS / VISUAL SYSTEM</a:t>
            </a:r>
            <a:endParaRPr lang="en-US" sz="580" dirty="0"/>
          </a:p>
        </p:txBody>
      </p:sp>
      <p:sp>
        <p:nvSpPr>
          <p:cNvPr id="4" name="Text 2"/>
          <p:cNvSpPr/>
          <p:nvPr/>
        </p:nvSpPr>
        <p:spPr>
          <a:xfrm>
            <a:off x="9601200" y="6510528"/>
            <a:ext cx="20848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80" b="1" dirty="0">
                <a:solidFill>
                  <a:srgbClr val="756B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QUALITY CONTROL</a:t>
            </a:r>
            <a:endParaRPr lang="en-US" sz="580" dirty="0"/>
          </a:p>
        </p:txBody>
      </p:sp>
      <p:sp>
        <p:nvSpPr>
          <p:cNvPr id="5" name="Text 3"/>
          <p:cNvSpPr/>
          <p:nvPr/>
        </p:nvSpPr>
        <p:spPr>
          <a:xfrm>
            <a:off x="566928" y="82296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6B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LAST 10%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66928" y="1234440"/>
            <a:ext cx="6492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201B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work is not finished until it is clean enough to hand off.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03504" y="2148840"/>
            <a:ext cx="5440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this role, quality control is a hiring signal. I would bring a production checklist mindset to decks, submissions, exports, and social variations.</a:t>
            </a:r>
            <a:endParaRPr lang="en-US" sz="1130" dirty="0"/>
          </a:p>
        </p:txBody>
      </p:sp>
      <p:sp>
        <p:nvSpPr>
          <p:cNvPr id="8" name="Shape 6"/>
          <p:cNvSpPr/>
          <p:nvPr/>
        </p:nvSpPr>
        <p:spPr>
          <a:xfrm>
            <a:off x="658368" y="3657600"/>
            <a:ext cx="3246120" cy="1280160"/>
          </a:xfrm>
          <a:prstGeom prst="rect">
            <a:avLst/>
          </a:prstGeom>
          <a:solidFill>
            <a:srgbClr val="F4EFE8"/>
          </a:solidFill>
          <a:ln w="12700">
            <a:solidFill>
              <a:srgbClr val="D8CCC4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96112" y="3931920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201B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Proofing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96112" y="4297680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names, dates, captions, grammar, labels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4407408" y="3657600"/>
            <a:ext cx="3246120" cy="1280160"/>
          </a:xfrm>
          <a:prstGeom prst="rect">
            <a:avLst/>
          </a:prstGeom>
          <a:solidFill>
            <a:srgbClr val="6B202A"/>
          </a:solidFill>
          <a:ln w="12700">
            <a:solidFill>
              <a:srgbClr val="6B202A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645152" y="3931920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QA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645152" y="4297680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EEDB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alignment, spacing, type hierarchy, image crops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8156448" y="3657600"/>
            <a:ext cx="3246120" cy="1280160"/>
          </a:xfrm>
          <a:prstGeom prst="rect">
            <a:avLst/>
          </a:prstGeom>
          <a:solidFill>
            <a:srgbClr val="F4EFE8"/>
          </a:solidFill>
          <a:ln w="12700">
            <a:solidFill>
              <a:srgbClr val="D8CCC4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394192" y="3931920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201B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Export QA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394192" y="4297680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PPTX, PDF, links, package, resolution, file names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658368" y="5349240"/>
            <a:ext cx="10881360" cy="411480"/>
          </a:xfrm>
          <a:prstGeom prst="rect">
            <a:avLst/>
          </a:prstGeom>
          <a:solidFill>
            <a:srgbClr val="2C2524"/>
          </a:solidFill>
          <a:ln w="12700">
            <a:solidFill>
              <a:srgbClr val="2C2524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60120" y="5504688"/>
            <a:ext cx="9052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FFF7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FILE HYGIENE EXAMPLE:  00_ADMIN  /  01_SOURCE  /  02_LINKED_ASSETS  /  03_EXPORTS  /  04_FINAL_DELIVERY</a:t>
            </a:r>
            <a:endParaRPr lang="en-US" sz="7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713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interior_scene_of_a_modern_minimalist_gall_batch_1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313">
              <a:alpha val="68000"/>
            </a:srgbClr>
          </a:solidFill>
          <a:ln w="12700">
            <a:solidFill>
              <a:srgbClr val="17131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658368" y="71323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F6D6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SYSTEM DESIGNED TO TRAVEL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658368" y="1207008"/>
            <a:ext cx="64922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dirty="0">
                <a:solidFill>
                  <a:srgbClr val="FFF7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Consistency is not repetition.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694944" y="2578608"/>
            <a:ext cx="5440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E7DC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this as a short “Presentation + Visual System Sample” project. The title can be: “Thresholds — Presentation, Social, and Print System.” In the case-study caption, explain that it is a self-directed design exercise created to demonstrate deck storytelling, production accuracy, and multi-format adaptation.</a:t>
            </a:r>
            <a:endParaRPr lang="en-US" sz="1120" dirty="0"/>
          </a:p>
        </p:txBody>
      </p:sp>
      <p:sp>
        <p:nvSpPr>
          <p:cNvPr id="7" name="Shape 4"/>
          <p:cNvSpPr/>
          <p:nvPr/>
        </p:nvSpPr>
        <p:spPr>
          <a:xfrm>
            <a:off x="7406640" y="1051560"/>
            <a:ext cx="3749040" cy="4389120"/>
          </a:xfrm>
          <a:prstGeom prst="rect">
            <a:avLst/>
          </a:prstGeom>
          <a:solidFill>
            <a:srgbClr val="171313">
              <a:alpha val="92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7726680" y="1426464"/>
            <a:ext cx="1600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F6D6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REFLECTION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7726680" y="1920240"/>
            <a:ext cx="1097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F6D6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973568" y="1901952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FFF7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Strongest contribution: a reusable presentation and campaign system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7726680" y="2542032"/>
            <a:ext cx="1097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F6D6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7973568" y="2523744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FFF7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Production focus: decks, social variations, print, and environmental applications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7726680" y="3163824"/>
            <a:ext cx="1097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F6D6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7973568" y="3145536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FFF7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iteration: test motion pacing, proof printed colors, and refine wayfinding at scale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7726680" y="3785616"/>
            <a:ext cx="1097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F6D6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7973568" y="3767328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FFF7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type: self-directed visual communication concept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Jocelyn Martinez Portfolio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Lumen Archive — Presentation Design Sample</dc:title>
  <dc:subject>Presentation design sample tailored to Luci Junior Graphic Designer role</dc:subject>
  <dc:creator>Jocelyn Martinez</dc:creator>
  <cp:lastModifiedBy>Jocelyn Martinez</cp:lastModifiedBy>
  <cp:revision>1</cp:revision>
  <dcterms:created xsi:type="dcterms:W3CDTF">2026-07-17T00:06:23Z</dcterms:created>
  <dcterms:modified xsi:type="dcterms:W3CDTF">2026-07-17T00:06:23Z</dcterms:modified>
</cp:coreProperties>
</file>