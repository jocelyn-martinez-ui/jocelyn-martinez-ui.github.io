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8ede8ce874ff0" /><Relationship Type="http://schemas.openxmlformats.org/officeDocument/2006/relationships/extended-properties" Target="/docProps/app.xml" Id="R90c05c71ff2547ce" /><Relationship Type="http://schemas.openxmlformats.org/officeDocument/2006/relationships/officeDocument" Target="/ppt/presentation.xml" Id="Rf18a3554974547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94f34dcb364995"/>
  </p:sldMasterIdLst>
  <p:notesMasterIdLst>
    <p:notesMasterId xmlns:r="http://schemas.openxmlformats.org/officeDocument/2006/relationships" r:id="R7186d0f785854596"/>
  </p:notesMasterIdLst>
  <p:sldIdLst>
    <p:sldId xmlns:r="http://schemas.openxmlformats.org/officeDocument/2006/relationships" id="256" r:id="Rccfb94d5387340b9"/>
    <p:sldId xmlns:r="http://schemas.openxmlformats.org/officeDocument/2006/relationships" id="257" r:id="Rd422c012dda34855"/>
    <p:sldId xmlns:r="http://schemas.openxmlformats.org/officeDocument/2006/relationships" id="258" r:id="R7b1a4932968942d4"/>
    <p:sldId xmlns:r="http://schemas.openxmlformats.org/officeDocument/2006/relationships" id="259" r:id="R058be49387244588"/>
    <p:sldId xmlns:r="http://schemas.openxmlformats.org/officeDocument/2006/relationships" id="260" r:id="R90a76241795e45c0"/>
    <p:sldId xmlns:r="http://schemas.openxmlformats.org/officeDocument/2006/relationships" id="261" r:id="R19c626f90d7547f3"/>
    <p:sldId xmlns:r="http://schemas.openxmlformats.org/officeDocument/2006/relationships" id="262" r:id="R8785740eae784138"/>
    <p:sldId xmlns:r="http://schemas.openxmlformats.org/officeDocument/2006/relationships" id="263" r:id="Rbd22ca00dd37464a"/>
    <p:sldId xmlns:r="http://schemas.openxmlformats.org/officeDocument/2006/relationships" id="264" r:id="R9c6693c46ec14bdb"/>
    <p:sldId xmlns:r="http://schemas.openxmlformats.org/officeDocument/2006/relationships" id="265" r:id="R184e2e96bee046be"/>
    <p:sldId xmlns:r="http://schemas.openxmlformats.org/officeDocument/2006/relationships" id="266" r:id="Re9f0e86c1a3c4766"/>
    <p:sldId xmlns:r="http://schemas.openxmlformats.org/officeDocument/2006/relationships" id="267" r:id="Re2ed7eb30d6240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269ef1ef6f4f53" /><Relationship Type="http://schemas.openxmlformats.org/officeDocument/2006/relationships/slideMaster" Target="/ppt/slideMasters/slideMaster1.xml" Id="Rf894f34dcb364995" /><Relationship Type="http://schemas.openxmlformats.org/officeDocument/2006/relationships/notesMaster" Target="/ppt/notesMasters/notesMaster1.xml" Id="R7186d0f785854596" /><Relationship Type="http://schemas.openxmlformats.org/officeDocument/2006/relationships/presProps" Target="/ppt/presProps.xml" Id="R286104ff34a14225" /><Relationship Type="http://schemas.openxmlformats.org/officeDocument/2006/relationships/tableStyles" Target="/ppt/tableStyles.xml" Id="Re5e7113df41c48c8" /><Relationship Type="http://schemas.openxmlformats.org/officeDocument/2006/relationships/slide" Target="/ppt/slides/slide1.xml" Id="Rccfb94d5387340b9" /><Relationship Type="http://schemas.openxmlformats.org/officeDocument/2006/relationships/slide" Target="/ppt/slides/slide2.xml" Id="Rd422c012dda34855" /><Relationship Type="http://schemas.openxmlformats.org/officeDocument/2006/relationships/slide" Target="/ppt/slides/slide3.xml" Id="R7b1a4932968942d4" /><Relationship Type="http://schemas.openxmlformats.org/officeDocument/2006/relationships/slide" Target="/ppt/slides/slide4.xml" Id="R058be49387244588" /><Relationship Type="http://schemas.openxmlformats.org/officeDocument/2006/relationships/slide" Target="/ppt/slides/slide5.xml" Id="R90a76241795e45c0" /><Relationship Type="http://schemas.openxmlformats.org/officeDocument/2006/relationships/slide" Target="/ppt/slides/slide6.xml" Id="R19c626f90d7547f3" /><Relationship Type="http://schemas.openxmlformats.org/officeDocument/2006/relationships/slide" Target="/ppt/slides/slide7.xml" Id="R8785740eae784138" /><Relationship Type="http://schemas.openxmlformats.org/officeDocument/2006/relationships/slide" Target="/ppt/slides/slide8.xml" Id="Rbd22ca00dd37464a" /><Relationship Type="http://schemas.openxmlformats.org/officeDocument/2006/relationships/slide" Target="/ppt/slides/slide9.xml" Id="R9c6693c46ec14bdb" /><Relationship Type="http://schemas.openxmlformats.org/officeDocument/2006/relationships/slide" Target="/ppt/slides/slide10.xml" Id="R184e2e96bee046be" /><Relationship Type="http://schemas.openxmlformats.org/officeDocument/2006/relationships/slide" Target="/ppt/slides/slide11.xml" Id="Re9f0e86c1a3c4766" /><Relationship Type="http://schemas.openxmlformats.org/officeDocument/2006/relationships/slide" Target="/ppt/slides/slide12.xml" Id="Re2ed7eb30d62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679b7a55234d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c80889fa3439a" /><Relationship Type="http://schemas.openxmlformats.org/officeDocument/2006/relationships/notesMaster" Target="/ppt/notesMasters/notesMaster1.xml" Id="R80422cc42cc648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e2fdc5944144e7" /><Relationship Type="http://schemas.openxmlformats.org/officeDocument/2006/relationships/notesMaster" Target="/ppt/notesMasters/notesMaster1.xml" Id="Rd537c95812fc4d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11d2bae1aa4d8f" /><Relationship Type="http://schemas.openxmlformats.org/officeDocument/2006/relationships/notesMaster" Target="/ppt/notesMasters/notesMaster1.xml" Id="R03885e50509149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403b89367c4d46" /><Relationship Type="http://schemas.openxmlformats.org/officeDocument/2006/relationships/notesMaster" Target="/ppt/notesMasters/notesMaster1.xml" Id="R0b69d6a77c6f49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1fe90438fe4f74" /><Relationship Type="http://schemas.openxmlformats.org/officeDocument/2006/relationships/notesMaster" Target="/ppt/notesMasters/notesMaster1.xml" Id="R9a7d06004b9a40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357a35e16d41c2" /><Relationship Type="http://schemas.openxmlformats.org/officeDocument/2006/relationships/notesMaster" Target="/ppt/notesMasters/notesMaster1.xml" Id="R5bf9eaad95dc4f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47f57dce1a4b63" /><Relationship Type="http://schemas.openxmlformats.org/officeDocument/2006/relationships/notesMaster" Target="/ppt/notesMasters/notesMaster1.xml" Id="R5b8d1454f629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21a87c38284e6b" /><Relationship Type="http://schemas.openxmlformats.org/officeDocument/2006/relationships/notesMaster" Target="/ppt/notesMasters/notesMaster1.xml" Id="Rdf2604e9f6f544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a13347729847cd" /><Relationship Type="http://schemas.openxmlformats.org/officeDocument/2006/relationships/notesMaster" Target="/ppt/notesMasters/notesMaster1.xml" Id="R47f428e76bb640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968a1cc8c74831" /><Relationship Type="http://schemas.openxmlformats.org/officeDocument/2006/relationships/notesMaster" Target="/ppt/notesMasters/notesMaster1.xml" Id="R05e9f8d01ef046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ca7f2b57f14552" /><Relationship Type="http://schemas.openxmlformats.org/officeDocument/2006/relationships/notesMaster" Target="/ppt/notesMasters/notesMaster1.xml" Id="R5c1a5ae882964c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58f66e73e3402c" /><Relationship Type="http://schemas.openxmlformats.org/officeDocument/2006/relationships/notesMaster" Target="/ppt/notesMasters/notesMaster1.xml" Id="R456cd4fa356b48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promise. Loopline is presented as the connective infrastructure between usable surplus and reliable neighborhood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coordination, not scarcity. The visual gap between surplus and need sets up the role Loopline must 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value each audience needs from the same system. Loopline must preserve these differences while giving everyone one recognizable operating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Loopline as shared infrastructure. The center layer coordinates the three handoff stages while leaving each partner focused on what they already do well.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five decisions a kitchen partner must make. The sequence is intentionally plain-language and provides visible status at every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verbal and visual promise. The familiar typography and disciplined palette are designed to survive real client handoff across print, digital, and PowerPoint.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repeatable application moves: oversized action language, clear information footers, route lines, and a disciplined color role. The system adapts without becoming a collection of unrelated templates.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the chart is an illustrative model, not historical performance. The important decision is which signals the pilot will capture at each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pilot as a proposed decision framework. The quantities are adjustable planning parameters and should be finalized with operating partners during the framing phase.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sponsor role as operational, connective, and learning-oriented. This creates a clearer partnership proposition than a generic logo 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the decision section with three concrete commitments. Each one has a named role in making the pilot viable and reviewable.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tension with a specific next action. Reiterate that the deck is a fictional portfolio concept and that pilot parameters would be finalized collaboratively.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None. Fictional concept narrative and clearly labeled illustrative planning targets created for this portfolio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0dd6bdf8a49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4708244c914cd3" /><Relationship Type="http://schemas.openxmlformats.org/officeDocument/2006/relationships/slideLayout" Target="/ppt/slideLayouts/slideLayout1.xml" Id="Reb4f52a5628f43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4f52a5628f43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672f57cac4ea3" /><Relationship Type="http://schemas.openxmlformats.org/officeDocument/2006/relationships/notesSlide" Target="/ppt/notesSlides/notesSlide1.xml" Id="R4d9441c7e52142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6fc95851e4f82" /><Relationship Type="http://schemas.openxmlformats.org/officeDocument/2006/relationships/notesSlide" Target="/ppt/notesSlides/notesSlide2.xml" Id="Rebd4f443d0a741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e244e5ce441ed" /><Relationship Type="http://schemas.openxmlformats.org/officeDocument/2006/relationships/notesSlide" Target="/ppt/notesSlides/notesSlide3.xml" Id="Rdbf6d740788646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f8ed0cc06439e" /><Relationship Type="http://schemas.openxmlformats.org/officeDocument/2006/relationships/notesSlide" Target="/ppt/notesSlides/notesSlide4.xml" Id="Rb6300df1d5b243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d290bf651448f" /><Relationship Type="http://schemas.openxmlformats.org/officeDocument/2006/relationships/notesSlide" Target="/ppt/notesSlides/notesSlide5.xml" Id="R16a20fe5e63a43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a698539f54c0a" /><Relationship Type="http://schemas.openxmlformats.org/officeDocument/2006/relationships/notesSlide" Target="/ppt/notesSlides/notesSlide6.xml" Id="R3b916b7b083b4a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f72fc5277423c" /><Relationship Type="http://schemas.openxmlformats.org/officeDocument/2006/relationships/notesSlide" Target="/ppt/notesSlides/notesSlide7.xml" Id="R9e86a87d9d314a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f8a5a4ea74a6b" /><Relationship Type="http://schemas.openxmlformats.org/officeDocument/2006/relationships/chart" Target="/ppt/slides/charts/chart1.xml" Id="Re2edd9136f814289" /><Relationship Type="http://schemas.openxmlformats.org/officeDocument/2006/relationships/notesSlide" Target="/ppt/notesSlides/notesSlide8.xml" Id="R3c4b2e304be44d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0aa4d6c634bbe" /><Relationship Type="http://schemas.openxmlformats.org/officeDocument/2006/relationships/notesSlide" Target="/ppt/notesSlides/notesSlide9.xml" Id="R7e068f3bf2184e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0ce24eed940bf" /><Relationship Type="http://schemas.openxmlformats.org/officeDocument/2006/relationships/notesSlide" Target="/ppt/notesSlides/notesSlide10.xml" Id="Re2ae85036aa943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afa79cc304e5b" /><Relationship Type="http://schemas.openxmlformats.org/officeDocument/2006/relationships/notesSlide" Target="/ppt/notesSlides/notesSlide11.xml" Id="R8a3754327c4940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a5b29203d48dc" /><Relationship Type="http://schemas.openxmlformats.org/officeDocument/2006/relationships/notesSlide" Target="/ppt/notesSlides/notesSlide12.xml" Id="R3536fbc9e689401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Illustrative route progression</c:v>
          </c:tx>
          <c:spPr>
            <a:solidFill xmlns:a="http://schemas.openxmlformats.org/drawingml/2006/main">
              <a:srgbClr val="F15B40"/>
            </a:solidFill>
          </c:spPr>
          <c:dPt>
            <c:idx val="0"/>
            <c:spPr>
              <a:solidFill xmlns:a="http://schemas.openxmlformats.org/drawingml/2006/main">
                <a:srgbClr val="173629"/>
              </a:solidFill>
            </c:spPr>
          </c:dPt>
          <c:dPt>
            <c:idx val="1"/>
            <c:spPr>
              <a:solidFill xmlns:a="http://schemas.openxmlformats.org/drawingml/2006/main">
                <a:srgbClr val="F15B40"/>
              </a:solidFill>
            </c:spPr>
          </c:dPt>
          <c:dPt>
            <c:idx val="2"/>
            <c:spPr>
              <a:solidFill xmlns:a="http://schemas.openxmlformats.org/drawingml/2006/main">
                <a:srgbClr val="F4C95D"/>
              </a:solidFill>
            </c:spPr>
          </c:dPt>
          <c:dPt>
            <c:idx val="3"/>
            <c:spPr>
              <a:solidFill xmlns:a="http://schemas.openxmlformats.org/drawingml/2006/main">
                <a:srgbClr val="BBDCCB"/>
              </a:solidFill>
            </c:spPr>
          </c:dPt>
          <c:cat>
            <c:strLit>
              <c:ptCount val="4"/>
              <c:pt idx="0">
                <c:v>Scheduled</c:v>
              </c:pt>
              <c:pt idx="1">
                <c:v>Matched</c:v>
              </c:pt>
              <c:pt idx="2">
                <c:v>Completed</c:v>
              </c:pt>
              <c:pt idx="3">
                <c:v>Reported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86</c:v>
              </c:pt>
              <c:pt idx="2">
                <c:v>78</c:v>
              </c:pt>
              <c:pt idx="3">
                <c:v>72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1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0211A">
                <a:alpha val="16471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11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1">
            <a:extLst xmlns:a="http://schemas.openxmlformats.org/drawingml/2006/main">
              <a:ext uri="{FF2B5EF4-FFF2-40B4-BE49-F238E27FC236}">
                <a16:creationId xmlns:a16="http://schemas.microsoft.com/office/drawing/2014/main" id="{9770DC20-CB97-4BBF-8901-EBCA3072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6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s1-meta">
            <a:extLst xmlns:a="http://schemas.openxmlformats.org/drawingml/2006/main">
              <a:ext uri="{FF2B5EF4-FFF2-40B4-BE49-F238E27FC236}">
                <a16:creationId xmlns:a16="http://schemas.microsoft.com/office/drawing/2014/main" id="{51D73766-4C9D-4EF6-AE81-977751F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55245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2026 PARTNERSHIP BRIEF  /  CONCEPT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0F45ED8D-78C0-4887-B101-99105BDE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95450"/>
            <a:ext cx="5905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660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660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KEEP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660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660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GOOD FOOD</a:t>
            </a:r>
          </a:p>
        </p:txBody>
      </p:sp>
      <p:sp>
        <p:nvSpPr>
          <p:cNvPr id="4" name="s1-moving">
            <a:extLst xmlns:a="http://schemas.openxmlformats.org/drawingml/2006/main">
              <a:ext uri="{FF2B5EF4-FFF2-40B4-BE49-F238E27FC236}">
                <a16:creationId xmlns:a16="http://schemas.microsoft.com/office/drawing/2014/main" id="{F1C76DA2-9DE7-4BF5-8ADA-A2805BF7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1148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6825" b="0" i="1">
                <a:solidFill>
                  <a:srgbClr val="F4C95D"/>
                </a:solidFill>
                <a:latin typeface="Georgia"/>
                <a:ea typeface="Georgia"/>
                <a:cs typeface="Georgia"/>
              </a:defRPr>
            </a:pPr>
            <a:r>
              <a:rPr sz="6825" b="0" i="1">
                <a:solidFill>
                  <a:srgbClr val="F4C95D"/>
                </a:solidFill>
                <a:latin typeface="Georgia"/>
                <a:ea typeface="Georgia"/>
                <a:cs typeface="Georgia"/>
              </a:rPr>
              <a:t>moving.</a:t>
            </a:r>
          </a:p>
        </p:txBody>
      </p:sp>
      <p:sp>
        <p:nvSpPr>
          <p:cNvPr id="5" name="s1-subtitle">
            <a:extLst xmlns:a="http://schemas.openxmlformats.org/drawingml/2006/main">
              <a:ext uri="{FF2B5EF4-FFF2-40B4-BE49-F238E27FC236}">
                <a16:creationId xmlns:a16="http://schemas.microsoft.com/office/drawing/2014/main" id="{4B016589-A5A9-44FD-82AA-0133B9ED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4292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4F0E8">
                    <a:alpha val="7215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F4F0E8">
                    <a:alpha val="72157"/>
                  </a:srgbClr>
                </a:solidFill>
                <a:latin typeface="Aptos"/>
                <a:ea typeface="Aptos"/>
                <a:cs typeface="Aptos"/>
              </a:rPr>
              <a:t>A shared route for surplus, service, and neighborhood value.</a:t>
            </a:r>
          </a:p>
        </p:txBody>
      </p:sp>
      <p:sp>
        <p:nvSpPr>
          <p:cNvPr id="6" name="route-ring-1-820">
            <a:extLst xmlns:a="http://schemas.openxmlformats.org/drawingml/2006/main">
              <a:ext uri="{FF2B5EF4-FFF2-40B4-BE49-F238E27FC236}">
                <a16:creationId xmlns:a16="http://schemas.microsoft.com/office/drawing/2014/main" id="{F720FDFA-DE56-499D-8FAC-CDFCD74B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695450"/>
            <a:ext cx="2714625" cy="2714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0488">
            <a:solidFill>
              <a:srgbClr val="F4C95D"/>
            </a:solidFill>
            <a:prstDash val="solid"/>
          </a:ln>
        </p:spPr>
      </p:sp>
      <p:sp>
        <p:nvSpPr>
          <p:cNvPr id="7" name="route-gap-1-820">
            <a:extLst xmlns:a="http://schemas.openxmlformats.org/drawingml/2006/main">
              <a:ext uri="{FF2B5EF4-FFF2-40B4-BE49-F238E27FC236}">
                <a16:creationId xmlns:a16="http://schemas.microsoft.com/office/drawing/2014/main" id="{7DB523E7-D63C-486E-B33B-2355184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734300" y="1749743"/>
            <a:ext cx="814388" cy="597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ute-turn-a-1-820">
            <a:extLst xmlns:a="http://schemas.openxmlformats.org/drawingml/2006/main">
              <a:ext uri="{FF2B5EF4-FFF2-40B4-BE49-F238E27FC236}">
                <a16:creationId xmlns:a16="http://schemas.microsoft.com/office/drawing/2014/main" id="{6E1BE49E-4100-4D14-BD42-6AE20AF2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9768" y="1824718"/>
            <a:ext cx="0" cy="6528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88">
            <a:solidFill>
              <a:srgbClr val="F4C95D"/>
            </a:solidFill>
            <a:prstDash val="solid"/>
          </a:ln>
        </p:spPr>
      </p:sp>
      <p:sp>
        <p:nvSpPr>
          <p:cNvPr id="9" name="route-turn-b-1-820">
            <a:extLst xmlns:a="http://schemas.openxmlformats.org/drawingml/2006/main">
              <a:ext uri="{FF2B5EF4-FFF2-40B4-BE49-F238E27FC236}">
                <a16:creationId xmlns:a16="http://schemas.microsoft.com/office/drawing/2014/main" id="{085E79F7-1E06-4E04-A19F-FBEE1C0D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9768" y="1824718"/>
            <a:ext cx="6528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488">
            <a:solidFill>
              <a:srgbClr val="F4C95D"/>
            </a:solidFill>
            <a:prstDash val="solid"/>
          </a:ln>
        </p:spPr>
      </p:sp>
      <p:sp>
        <p:nvSpPr>
          <p:cNvPr id="10" name="route-node-a-1-820">
            <a:extLst xmlns:a="http://schemas.openxmlformats.org/drawingml/2006/main">
              <a:ext uri="{FF2B5EF4-FFF2-40B4-BE49-F238E27FC236}">
                <a16:creationId xmlns:a16="http://schemas.microsoft.com/office/drawing/2014/main" id="{7F487FBF-DBC0-4499-8D12-057F2DA9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7445" y="229362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30766">
            <a:solidFill>
              <a:srgbClr val="173629"/>
            </a:solidFill>
            <a:prstDash val="solid"/>
          </a:ln>
        </p:spPr>
      </p:sp>
      <p:sp>
        <p:nvSpPr>
          <p:cNvPr id="11" name="route-node-b-1-820">
            <a:extLst xmlns:a="http://schemas.openxmlformats.org/drawingml/2006/main">
              <a:ext uri="{FF2B5EF4-FFF2-40B4-BE49-F238E27FC236}">
                <a16:creationId xmlns:a16="http://schemas.microsoft.com/office/drawing/2014/main" id="{2BC7303A-56DF-40E0-9153-856F480A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813" y="403098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30766">
            <a:solidFill>
              <a:srgbClr val="173629"/>
            </a:solidFill>
            <a:prstDash val="solid"/>
          </a:ln>
        </p:spPr>
      </p:sp>
      <p:sp>
        <p:nvSpPr>
          <p:cNvPr id="12" name="route-node-c-1-820">
            <a:extLst xmlns:a="http://schemas.openxmlformats.org/drawingml/2006/main">
              <a:ext uri="{FF2B5EF4-FFF2-40B4-BE49-F238E27FC236}">
                <a16:creationId xmlns:a16="http://schemas.microsoft.com/office/drawing/2014/main" id="{3E64189C-7798-4024-BE0B-BC3FCF5C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7161" y="3325178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30766">
            <a:solidFill>
              <a:srgbClr val="173629"/>
            </a:solidFill>
            <a:prstDash val="solid"/>
          </a:ln>
        </p:spPr>
      </p:sp>
      <p:sp>
        <p:nvSpPr>
          <p:cNvPr id="13" name="s1-side-label">
            <a:extLst xmlns:a="http://schemas.openxmlformats.org/drawingml/2006/main">
              <a:ext uri="{FF2B5EF4-FFF2-40B4-BE49-F238E27FC236}">
                <a16:creationId xmlns:a16="http://schemas.microsoft.com/office/drawing/2014/main" id="{C45B9D95-8A91-415B-9B46-4B4C813A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5219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KITCHENS  →  ROUTES  →  NEIGHBORS</a:t>
            </a:r>
          </a:p>
        </p:txBody>
      </p:sp>
    </p:spTree>
    <p:extLst>
      <p:ext uri="{BB962C8B-B14F-4D97-AF65-F5344CB8AC3E}">
        <p14:creationId xmlns:p14="http://schemas.microsoft.com/office/powerpoint/2010/main" val="1531995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coral-field">
            <a:extLst xmlns:a="http://schemas.openxmlformats.org/drawingml/2006/main">
              <a:ext uri="{FF2B5EF4-FFF2-40B4-BE49-F238E27FC236}">
                <a16:creationId xmlns:a16="http://schemas.microsoft.com/office/drawing/2014/main" id="{9D5A9DAE-22F4-452E-965A-BEEA6730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wordmark-2">
            <a:extLst xmlns:a="http://schemas.openxmlformats.org/drawingml/2006/main">
              <a:ext uri="{FF2B5EF4-FFF2-40B4-BE49-F238E27FC236}">
                <a16:creationId xmlns:a16="http://schemas.microsoft.com/office/drawing/2014/main" id="{3438ECC2-8AC7-410E-8702-5990B941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3" name="eyebrow-2-THE OPERATING PROBLEM">
            <a:extLst xmlns:a="http://schemas.openxmlformats.org/drawingml/2006/main">
              <a:ext uri="{FF2B5EF4-FFF2-40B4-BE49-F238E27FC236}">
                <a16:creationId xmlns:a16="http://schemas.microsoft.com/office/drawing/2014/main" id="{ECF0E2B3-3EF6-4E05-9317-F3C6B224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THE OPERATING PROBLEM</a:t>
            </a:r>
          </a:p>
        </p:txBody>
      </p:sp>
      <p:sp>
        <p:nvSpPr>
          <p:cNvPr id="4" name="s2-title">
            <a:extLst xmlns:a="http://schemas.openxmlformats.org/drawingml/2006/main">
              <a:ext uri="{FF2B5EF4-FFF2-40B4-BE49-F238E27FC236}">
                <a16:creationId xmlns:a16="http://schemas.microsoft.com/office/drawing/2014/main" id="{5EFAA9E6-E140-4ADD-8D8C-1EC582B7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62100"/>
            <a:ext cx="4000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0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The opportunity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0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is lost in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0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the handoff.</a:t>
            </a:r>
          </a:p>
        </p:txBody>
      </p:sp>
      <p:sp>
        <p:nvSpPr>
          <p:cNvPr id="5" name="s2-body">
            <a:extLst xmlns:a="http://schemas.openxmlformats.org/drawingml/2006/main">
              <a:ext uri="{FF2B5EF4-FFF2-40B4-BE49-F238E27FC236}">
                <a16:creationId xmlns:a16="http://schemas.microsoft.com/office/drawing/2014/main" id="{012073EA-3E28-411F-9B6E-366A9EAA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8196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Available food and neighborhood need can exist at the same time. Without a trusted route between them, value disappears.</a:t>
            </a:r>
          </a:p>
        </p:txBody>
      </p:sp>
      <p:sp>
        <p:nvSpPr>
          <p:cNvPr id="6" name="s2-surplus">
            <a:extLst xmlns:a="http://schemas.openxmlformats.org/drawingml/2006/main">
              <a:ext uri="{FF2B5EF4-FFF2-40B4-BE49-F238E27FC236}">
                <a16:creationId xmlns:a16="http://schemas.microsoft.com/office/drawing/2014/main" id="{171B6C01-AEB9-4BD2-A4A4-FEBBC221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17526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73629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629"/>
                </a:solidFill>
                <a:latin typeface="Aptos"/>
                <a:ea typeface="Aptos"/>
                <a:cs typeface="Aptos"/>
              </a:rPr>
              <a:t>SURPLUS</a:t>
            </a:r>
          </a:p>
        </p:txBody>
      </p:sp>
      <p:sp>
        <p:nvSpPr>
          <p:cNvPr id="7" name="s2-need">
            <a:extLst xmlns:a="http://schemas.openxmlformats.org/drawingml/2006/main">
              <a:ext uri="{FF2B5EF4-FFF2-40B4-BE49-F238E27FC236}">
                <a16:creationId xmlns:a16="http://schemas.microsoft.com/office/drawing/2014/main" id="{267C3C46-DE58-4691-824E-055EAF8C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17526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3600" b="1" i="0">
                <a:solidFill>
                  <a:srgbClr val="173629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73629"/>
                </a:solidFill>
                <a:latin typeface="Aptos"/>
                <a:ea typeface="Aptos"/>
                <a:cs typeface="Aptos"/>
              </a:rPr>
              <a:t>NEED</a:t>
            </a:r>
          </a:p>
        </p:txBody>
      </p:sp>
      <p:sp>
        <p:nvSpPr>
          <p:cNvPr id="8" name="s2-route-left">
            <a:extLst xmlns:a="http://schemas.openxmlformats.org/drawingml/2006/main">
              <a:ext uri="{FF2B5EF4-FFF2-40B4-BE49-F238E27FC236}">
                <a16:creationId xmlns:a16="http://schemas.microsoft.com/office/drawing/2014/main" id="{0385C327-F48F-4D7B-AC91-15A2977B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52750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3629"/>
            </a:solidFill>
            <a:prstDash val="solid"/>
          </a:ln>
        </p:spPr>
      </p:sp>
      <p:sp>
        <p:nvSpPr>
          <p:cNvPr id="9" name="s2-route-right">
            <a:extLst xmlns:a="http://schemas.openxmlformats.org/drawingml/2006/main">
              <a:ext uri="{FF2B5EF4-FFF2-40B4-BE49-F238E27FC236}">
                <a16:creationId xmlns:a16="http://schemas.microsoft.com/office/drawing/2014/main" id="{71F7FC67-9E8C-4FA1-9541-3BEA894B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3629"/>
            </a:solidFill>
            <a:prstDash val="solid"/>
          </a:ln>
        </p:spPr>
      </p:sp>
      <p:sp>
        <p:nvSpPr>
          <p:cNvPr id="10" name="s2-source">
            <a:extLst xmlns:a="http://schemas.openxmlformats.org/drawingml/2006/main">
              <a:ext uri="{FF2B5EF4-FFF2-40B4-BE49-F238E27FC236}">
                <a16:creationId xmlns:a16="http://schemas.microsoft.com/office/drawing/2014/main" id="{5B4F27EC-A490-42D0-A04C-43940794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5975" y="2828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28575">
            <a:solidFill>
              <a:srgbClr val="173629"/>
            </a:solidFill>
            <a:prstDash val="solid"/>
          </a:ln>
        </p:spPr>
      </p:sp>
      <p:sp>
        <p:nvSpPr>
          <p:cNvPr id="11" name="s2-destination">
            <a:extLst xmlns:a="http://schemas.openxmlformats.org/drawingml/2006/main">
              <a:ext uri="{FF2B5EF4-FFF2-40B4-BE49-F238E27FC236}">
                <a16:creationId xmlns:a16="http://schemas.microsoft.com/office/drawing/2014/main" id="{F1F5BD74-2235-4FB0-9F0D-3DA1151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2828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28575">
            <a:solidFill>
              <a:srgbClr val="173629"/>
            </a:solidFill>
            <a:prstDash val="solid"/>
          </a:ln>
        </p:spPr>
      </p:sp>
      <p:sp>
        <p:nvSpPr>
          <p:cNvPr id="12" name="s2-gap">
            <a:extLst xmlns:a="http://schemas.openxmlformats.org/drawingml/2006/main">
              <a:ext uri="{FF2B5EF4-FFF2-40B4-BE49-F238E27FC236}">
                <a16:creationId xmlns:a16="http://schemas.microsoft.com/office/drawing/2014/main" id="{82B1C95C-1448-4A5B-B536-2BF0039A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657475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F15B40"/>
            </a:solidFill>
            <a:prstDash val="solid"/>
          </a:ln>
        </p:spPr>
      </p:sp>
      <p:sp>
        <p:nvSpPr>
          <p:cNvPr id="13" name="s2-gap-label">
            <a:extLst xmlns:a="http://schemas.openxmlformats.org/drawingml/2006/main">
              <a:ext uri="{FF2B5EF4-FFF2-40B4-BE49-F238E27FC236}">
                <a16:creationId xmlns:a16="http://schemas.microsoft.com/office/drawing/2014/main" id="{182E4BCB-B04E-41F2-830C-D99586AE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8289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THE GAP</a:t>
            </a:r>
          </a:p>
        </p:txBody>
      </p:sp>
      <p:sp>
        <p:nvSpPr>
          <p:cNvPr id="14" name="s2-caption">
            <a:extLst xmlns:a="http://schemas.openxmlformats.org/drawingml/2006/main">
              <a:ext uri="{FF2B5EF4-FFF2-40B4-BE49-F238E27FC236}">
                <a16:creationId xmlns:a16="http://schemas.microsoft.com/office/drawing/2014/main" id="{846BB45C-2D7A-4FA3-B942-651D71E2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9624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5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The design challenge is not to make waste look appealing. It is to make coordination feel simple, credible, and worth repeating.</a:t>
            </a:r>
          </a:p>
        </p:txBody>
      </p:sp>
      <p:sp>
        <p:nvSpPr>
          <p:cNvPr id="1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F1BE3F2-D707-40A4-8D6F-23E6B7D2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5098"/>
              </a:srgbClr>
            </a:solidFill>
            <a:prstDash val="solid"/>
          </a:ln>
        </p:spPr>
      </p:sp>
      <p:sp>
        <p:nvSpPr>
          <p:cNvPr id="16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E93F222D-24FF-4CED-AD6B-CE1F664E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1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3B52FB5-8494-4A94-A849-3C8ECBF5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94185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3">
            <a:extLst xmlns:a="http://schemas.openxmlformats.org/drawingml/2006/main">
              <a:ext uri="{FF2B5EF4-FFF2-40B4-BE49-F238E27FC236}">
                <a16:creationId xmlns:a16="http://schemas.microsoft.com/office/drawing/2014/main" id="{4B6922F2-64FD-42B1-B0C5-48DCD342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eyebrow-3-ONE NETWORK / THREE DEFINITIONS OF VALUE">
            <a:extLst xmlns:a="http://schemas.openxmlformats.org/drawingml/2006/main">
              <a:ext uri="{FF2B5EF4-FFF2-40B4-BE49-F238E27FC236}">
                <a16:creationId xmlns:a16="http://schemas.microsoft.com/office/drawing/2014/main" id="{BA50B8BA-654A-4820-8656-B8602D59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ONE NETWORK / THREE DEFINITIONS OF VALUE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C0234A3E-1627-4328-8ABC-6F1E77C3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One coordination gap connects three actors.</a:t>
            </a:r>
          </a:p>
        </p:txBody>
      </p:sp>
      <p:sp>
        <p:nvSpPr>
          <p:cNvPr id="4" name="s3-circle-0">
            <a:extLst xmlns:a="http://schemas.openxmlformats.org/drawingml/2006/main">
              <a:ext uri="{FF2B5EF4-FFF2-40B4-BE49-F238E27FC236}">
                <a16:creationId xmlns:a16="http://schemas.microsoft.com/office/drawing/2014/main" id="{B01ACF92-B1F1-4219-AB9E-62299B7D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25812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14288">
            <a:solidFill>
              <a:srgbClr val="10211A"/>
            </a:solidFill>
            <a:prstDash val="solid"/>
          </a:ln>
        </p:spPr>
      </p:sp>
      <p:sp>
        <p:nvSpPr>
          <p:cNvPr id="5" name="s3-letter-0">
            <a:extLst xmlns:a="http://schemas.openxmlformats.org/drawingml/2006/main">
              <a:ext uri="{FF2B5EF4-FFF2-40B4-BE49-F238E27FC236}">
                <a16:creationId xmlns:a16="http://schemas.microsoft.com/office/drawing/2014/main" id="{209412F8-CAFF-480A-AB9F-3662FB2C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686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3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6" name="s3-label-0">
            <a:extLst xmlns:a="http://schemas.openxmlformats.org/drawingml/2006/main">
              <a:ext uri="{FF2B5EF4-FFF2-40B4-BE49-F238E27FC236}">
                <a16:creationId xmlns:a16="http://schemas.microsoft.com/office/drawing/2014/main" id="{8989D04E-8A35-47A9-B59E-442E18A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3909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KITCHENS</a:t>
            </a:r>
          </a:p>
        </p:txBody>
      </p:sp>
      <p:sp>
        <p:nvSpPr>
          <p:cNvPr id="7" name="s3-quote-0">
            <a:extLst xmlns:a="http://schemas.openxmlformats.org/drawingml/2006/main">
              <a:ext uri="{FF2B5EF4-FFF2-40B4-BE49-F238E27FC236}">
                <a16:creationId xmlns:a16="http://schemas.microsoft.com/office/drawing/2014/main" id="{74D38C3D-35D6-4870-927F-1AE591F9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8576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Make the right action easy during a rush.</a:t>
            </a:r>
          </a:p>
        </p:txBody>
      </p:sp>
      <p:sp>
        <p:nvSpPr>
          <p:cNvPr id="8" name="s3-proof-0">
            <a:extLst xmlns:a="http://schemas.openxmlformats.org/drawingml/2006/main">
              <a:ext uri="{FF2B5EF4-FFF2-40B4-BE49-F238E27FC236}">
                <a16:creationId xmlns:a16="http://schemas.microsoft.com/office/drawing/2014/main" id="{94C066C0-8F3E-4449-8AA1-EA3EB47A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62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>
                    <a:alpha val="60392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>
                    <a:alpha val="60392"/>
                  </a:srgbClr>
                </a:solidFill>
                <a:latin typeface="Aptos Mono"/>
                <a:ea typeface="Aptos Mono"/>
                <a:cs typeface="Aptos Mono"/>
              </a:rPr>
              <a:t>Speed  /  safety  /  reporting</a:t>
            </a:r>
          </a:p>
        </p:txBody>
      </p:sp>
      <p:sp>
        <p:nvSpPr>
          <p:cNvPr id="9" name="s3-divider-1">
            <a:extLst xmlns:a="http://schemas.openxmlformats.org/drawingml/2006/main">
              <a:ext uri="{FF2B5EF4-FFF2-40B4-BE49-F238E27FC236}">
                <a16:creationId xmlns:a16="http://schemas.microsoft.com/office/drawing/2014/main" id="{9AA316D3-1557-4D44-B7FF-76F75441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765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0000"/>
              </a:srgbClr>
            </a:solidFill>
            <a:prstDash val="solid"/>
          </a:ln>
        </p:spPr>
      </p:sp>
      <p:sp>
        <p:nvSpPr>
          <p:cNvPr id="10" name="s3-circle-1">
            <a:extLst xmlns:a="http://schemas.openxmlformats.org/drawingml/2006/main">
              <a:ext uri="{FF2B5EF4-FFF2-40B4-BE49-F238E27FC236}">
                <a16:creationId xmlns:a16="http://schemas.microsoft.com/office/drawing/2014/main" id="{E77BECF0-BEA2-403A-96C5-CCD8F0B9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25812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14288">
            <a:solidFill>
              <a:srgbClr val="10211A"/>
            </a:solidFill>
            <a:prstDash val="solid"/>
          </a:ln>
        </p:spPr>
      </p:sp>
      <p:sp>
        <p:nvSpPr>
          <p:cNvPr id="11" name="s3-letter-1">
            <a:extLst xmlns:a="http://schemas.openxmlformats.org/drawingml/2006/main">
              <a:ext uri="{FF2B5EF4-FFF2-40B4-BE49-F238E27FC236}">
                <a16:creationId xmlns:a16="http://schemas.microsoft.com/office/drawing/2014/main" id="{0D89C691-D2A9-49BB-A54C-086C838D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686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3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2" name="s3-label-1">
            <a:extLst xmlns:a="http://schemas.openxmlformats.org/drawingml/2006/main">
              <a:ext uri="{FF2B5EF4-FFF2-40B4-BE49-F238E27FC236}">
                <a16:creationId xmlns:a16="http://schemas.microsoft.com/office/drawing/2014/main" id="{B06E2D96-1C60-4583-AFFE-9FDDA593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3909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COMMUNITY PARTNERS</a:t>
            </a:r>
          </a:p>
        </p:txBody>
      </p:sp>
      <p:sp>
        <p:nvSpPr>
          <p:cNvPr id="13" name="s3-quote-1">
            <a:extLst xmlns:a="http://schemas.openxmlformats.org/drawingml/2006/main">
              <a:ext uri="{FF2B5EF4-FFF2-40B4-BE49-F238E27FC236}">
                <a16:creationId xmlns:a16="http://schemas.microsoft.com/office/drawing/2014/main" id="{94DCD6E8-E90D-4CEA-8474-E3B8DF5C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8576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Show what is coming and when it will arrive.</a:t>
            </a:r>
          </a:p>
        </p:txBody>
      </p:sp>
      <p:sp>
        <p:nvSpPr>
          <p:cNvPr id="14" name="s3-proof-1">
            <a:extLst xmlns:a="http://schemas.openxmlformats.org/drawingml/2006/main">
              <a:ext uri="{FF2B5EF4-FFF2-40B4-BE49-F238E27FC236}">
                <a16:creationId xmlns:a16="http://schemas.microsoft.com/office/drawing/2014/main" id="{473B7887-757E-4350-9706-64394ACC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5162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>
                    <a:alpha val="60392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>
                    <a:alpha val="60392"/>
                  </a:srgbClr>
                </a:solidFill>
                <a:latin typeface="Aptos Mono"/>
                <a:ea typeface="Aptos Mono"/>
                <a:cs typeface="Aptos Mono"/>
              </a:rPr>
              <a:t>Clarity  /  flexibility  /  dignity</a:t>
            </a:r>
          </a:p>
        </p:txBody>
      </p:sp>
      <p:sp>
        <p:nvSpPr>
          <p:cNvPr id="15" name="s3-divider-2">
            <a:extLst xmlns:a="http://schemas.openxmlformats.org/drawingml/2006/main">
              <a:ext uri="{FF2B5EF4-FFF2-40B4-BE49-F238E27FC236}">
                <a16:creationId xmlns:a16="http://schemas.microsoft.com/office/drawing/2014/main" id="{3C8E75E0-0561-4A55-A459-3D62B901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0000"/>
              </a:srgbClr>
            </a:solidFill>
            <a:prstDash val="solid"/>
          </a:ln>
        </p:spPr>
      </p:sp>
      <p:sp>
        <p:nvSpPr>
          <p:cNvPr id="16" name="s3-circle-2">
            <a:extLst xmlns:a="http://schemas.openxmlformats.org/drawingml/2006/main">
              <a:ext uri="{FF2B5EF4-FFF2-40B4-BE49-F238E27FC236}">
                <a16:creationId xmlns:a16="http://schemas.microsoft.com/office/drawing/2014/main" id="{70D3A6CE-38FD-497D-8420-4BC7B4C6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5812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14288">
            <a:solidFill>
              <a:srgbClr val="10211A"/>
            </a:solidFill>
            <a:prstDash val="solid"/>
          </a:ln>
        </p:spPr>
      </p:sp>
      <p:sp>
        <p:nvSpPr>
          <p:cNvPr id="17" name="s3-letter-2">
            <a:extLst xmlns:a="http://schemas.openxmlformats.org/drawingml/2006/main">
              <a:ext uri="{FF2B5EF4-FFF2-40B4-BE49-F238E27FC236}">
                <a16:creationId xmlns:a16="http://schemas.microsoft.com/office/drawing/2014/main" id="{90B365F6-FF62-4AA0-AFB1-46BA9E1C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686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3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18" name="s3-label-2">
            <a:extLst xmlns:a="http://schemas.openxmlformats.org/drawingml/2006/main">
              <a:ext uri="{FF2B5EF4-FFF2-40B4-BE49-F238E27FC236}">
                <a16:creationId xmlns:a16="http://schemas.microsoft.com/office/drawing/2014/main" id="{45924E07-93A0-43C3-AF2D-6910E952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3909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SPONSORS</a:t>
            </a:r>
          </a:p>
        </p:txBody>
      </p:sp>
      <p:sp>
        <p:nvSpPr>
          <p:cNvPr id="19" name="s3-quote-2">
            <a:extLst xmlns:a="http://schemas.openxmlformats.org/drawingml/2006/main">
              <a:ext uri="{FF2B5EF4-FFF2-40B4-BE49-F238E27FC236}">
                <a16:creationId xmlns:a16="http://schemas.microsoft.com/office/drawing/2014/main" id="{380B22CF-DAE9-4884-A94B-A1369A6F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8576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Prove that coordinated action compounds value.</a:t>
            </a:r>
          </a:p>
        </p:txBody>
      </p:sp>
      <p:sp>
        <p:nvSpPr>
          <p:cNvPr id="20" name="s3-proof-2">
            <a:extLst xmlns:a="http://schemas.openxmlformats.org/drawingml/2006/main">
              <a:ext uri="{FF2B5EF4-FFF2-40B4-BE49-F238E27FC236}">
                <a16:creationId xmlns:a16="http://schemas.microsoft.com/office/drawing/2014/main" id="{4BC18660-8870-4DF2-B51D-02E31618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5162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>
                    <a:alpha val="60392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>
                    <a:alpha val="60392"/>
                  </a:srgbClr>
                </a:solidFill>
                <a:latin typeface="Aptos Mono"/>
                <a:ea typeface="Aptos Mono"/>
                <a:cs typeface="Aptos Mono"/>
              </a:rPr>
              <a:t>Evidence  /  scale  /  confidence</a:t>
            </a:r>
          </a:p>
        </p:txBody>
      </p:sp>
      <p:sp>
        <p:nvSpPr>
          <p:cNvPr id="21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A008A8B5-A0CC-4140-89B5-F04CFC88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5098"/>
              </a:srgbClr>
            </a:solidFill>
            <a:prstDash val="solid"/>
          </a:ln>
        </p:spPr>
      </p:sp>
      <p:sp>
        <p:nvSpPr>
          <p:cNvPr id="22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56B0A243-8CFE-4D88-9A93-1056259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2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0C1328AF-9EF1-4F12-B1F7-EA0FFD8D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069376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C9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4">
            <a:extLst xmlns:a="http://schemas.openxmlformats.org/drawingml/2006/main">
              <a:ext uri="{FF2B5EF4-FFF2-40B4-BE49-F238E27FC236}">
                <a16:creationId xmlns:a16="http://schemas.microsoft.com/office/drawing/2014/main" id="{7A3BCE21-660F-4B53-96A4-D54453AC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eyebrow-4-THE SERVICE MODEL">
            <a:extLst xmlns:a="http://schemas.openxmlformats.org/drawingml/2006/main">
              <a:ext uri="{FF2B5EF4-FFF2-40B4-BE49-F238E27FC236}">
                <a16:creationId xmlns:a16="http://schemas.microsoft.com/office/drawing/2014/main" id="{359312BD-20F4-4245-B9F0-36731603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THE SERVICE MODEL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57FEB05B-5B5D-4E55-9BAC-AA881BB1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04950"/>
            <a:ext cx="5619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71"/>
          </a:bodyPr>
          <a:lstStyle xmlns:a="http://schemas.openxmlformats.org/drawingml/2006/main"/>
          <a:p xmlns:a="http://schemas.openxmlformats.org/drawingml/2006/main">
            <a:pPr algn="l">
              <a:buNone/>
              <a:defRPr sz="457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457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 becomes</a:t>
            </a:r>
          </a:p>
          <a:p xmlns:a="http://schemas.openxmlformats.org/drawingml/2006/main">
            <a:pPr algn="l">
              <a:buNone/>
              <a:defRPr sz="457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457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the connective layer.</a:t>
            </a:r>
          </a:p>
        </p:txBody>
      </p:sp>
      <p:sp>
        <p:nvSpPr>
          <p:cNvPr id="4" name="s4-body">
            <a:extLst xmlns:a="http://schemas.openxmlformats.org/drawingml/2006/main">
              <a:ext uri="{FF2B5EF4-FFF2-40B4-BE49-F238E27FC236}">
                <a16:creationId xmlns:a16="http://schemas.microsoft.com/office/drawing/2014/main" id="{E488E8CF-6DF0-49FB-B0AF-9C224993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321945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rPr>
              <a:t>A shared operating layer makes each handoff easier to schedule, easier to trust, and easier to measure.</a:t>
            </a:r>
          </a:p>
        </p:txBody>
      </p:sp>
      <p:sp>
        <p:nvSpPr>
          <p:cNvPr id="5" name="s4-ring-outer">
            <a:extLst xmlns:a="http://schemas.openxmlformats.org/drawingml/2006/main">
              <a:ext uri="{FF2B5EF4-FFF2-40B4-BE49-F238E27FC236}">
                <a16:creationId xmlns:a16="http://schemas.microsoft.com/office/drawing/2014/main" id="{155AD618-FCCE-4BEE-BE06-2E52C87B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1647825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1A"/>
            </a:solidFill>
            <a:prstDash val="solid"/>
          </a:ln>
        </p:spPr>
      </p:sp>
      <p:sp>
        <p:nvSpPr>
          <p:cNvPr id="6" name="s4-ring-inner">
            <a:extLst xmlns:a="http://schemas.openxmlformats.org/drawingml/2006/main">
              <a:ext uri="{FF2B5EF4-FFF2-40B4-BE49-F238E27FC236}">
                <a16:creationId xmlns:a16="http://schemas.microsoft.com/office/drawing/2014/main" id="{C4DFF4EA-25F0-4C09-8084-70ABA6D9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1938" y="2433638"/>
            <a:ext cx="1857375" cy="1857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9050">
            <a:solidFill>
              <a:srgbClr val="10211A"/>
            </a:solidFill>
            <a:prstDash val="solid"/>
          </a:ln>
        </p:spPr>
      </p:sp>
      <p:sp>
        <p:nvSpPr>
          <p:cNvPr id="7" name="s4-center">
            <a:extLst xmlns:a="http://schemas.openxmlformats.org/drawingml/2006/main">
              <a:ext uri="{FF2B5EF4-FFF2-40B4-BE49-F238E27FC236}">
                <a16:creationId xmlns:a16="http://schemas.microsoft.com/office/drawing/2014/main" id="{0ECF30A8-3B69-4F12-8F82-560070CD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00037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5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</a:t>
            </a:r>
          </a:p>
          <a:p xmlns:a="http://schemas.openxmlformats.org/drawingml/2006/main">
            <a:pPr algn="ctr">
              <a:buNone/>
              <a:defRPr sz="15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5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COORDINATION</a:t>
            </a:r>
          </a:p>
        </p:txBody>
      </p:sp>
      <p:sp>
        <p:nvSpPr>
          <p:cNvPr id="8" name="s4-node-0">
            <a:extLst xmlns:a="http://schemas.openxmlformats.org/drawingml/2006/main">
              <a:ext uri="{FF2B5EF4-FFF2-40B4-BE49-F238E27FC236}">
                <a16:creationId xmlns:a16="http://schemas.microsoft.com/office/drawing/2014/main" id="{FC082D4C-73FE-4F81-96DA-B124E3ED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12096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19050">
            <a:solidFill>
              <a:srgbClr val="10211A"/>
            </a:solidFill>
            <a:prstDash val="solid"/>
          </a:ln>
        </p:spPr>
      </p:sp>
      <p:sp>
        <p:nvSpPr>
          <p:cNvPr id="9" name="s4-code-0">
            <a:extLst xmlns:a="http://schemas.openxmlformats.org/drawingml/2006/main">
              <a:ext uri="{FF2B5EF4-FFF2-40B4-BE49-F238E27FC236}">
                <a16:creationId xmlns:a16="http://schemas.microsoft.com/office/drawing/2014/main" id="{5E1F8A75-6F76-455D-B0EE-0C09EB28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1447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s4-label-0">
            <a:extLst xmlns:a="http://schemas.openxmlformats.org/drawingml/2006/main">
              <a:ext uri="{FF2B5EF4-FFF2-40B4-BE49-F238E27FC236}">
                <a16:creationId xmlns:a16="http://schemas.microsoft.com/office/drawing/2014/main" id="{6A4B18E7-1099-4FF2-84C1-B4E1FB4E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1685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SOURCE</a:t>
            </a:r>
          </a:p>
        </p:txBody>
      </p:sp>
      <p:sp>
        <p:nvSpPr>
          <p:cNvPr id="11" name="s4-node-1">
            <a:extLst xmlns:a="http://schemas.openxmlformats.org/drawingml/2006/main">
              <a:ext uri="{FF2B5EF4-FFF2-40B4-BE49-F238E27FC236}">
                <a16:creationId xmlns:a16="http://schemas.microsoft.com/office/drawing/2014/main" id="{82E7CB41-4D91-4FBC-8411-BAA9142A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34671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19050">
            <a:solidFill>
              <a:srgbClr val="10211A"/>
            </a:solidFill>
            <a:prstDash val="solid"/>
          </a:ln>
        </p:spPr>
      </p:sp>
      <p:sp>
        <p:nvSpPr>
          <p:cNvPr id="12" name="s4-code-1">
            <a:extLst xmlns:a="http://schemas.openxmlformats.org/drawingml/2006/main">
              <a:ext uri="{FF2B5EF4-FFF2-40B4-BE49-F238E27FC236}">
                <a16:creationId xmlns:a16="http://schemas.microsoft.com/office/drawing/2014/main" id="{4AA12FE3-2FE2-4BCA-9827-D58CD62F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6025" y="37052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s4-label-1">
            <a:extLst xmlns:a="http://schemas.openxmlformats.org/drawingml/2006/main">
              <a:ext uri="{FF2B5EF4-FFF2-40B4-BE49-F238E27FC236}">
                <a16:creationId xmlns:a16="http://schemas.microsoft.com/office/drawing/2014/main" id="{35C91AF0-49DB-4582-BC99-AA21D9F8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39433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ROUTE</a:t>
            </a:r>
          </a:p>
        </p:txBody>
      </p:sp>
      <p:sp>
        <p:nvSpPr>
          <p:cNvPr id="14" name="s4-node-2">
            <a:extLst xmlns:a="http://schemas.openxmlformats.org/drawingml/2006/main">
              <a:ext uri="{FF2B5EF4-FFF2-40B4-BE49-F238E27FC236}">
                <a16:creationId xmlns:a16="http://schemas.microsoft.com/office/drawing/2014/main" id="{934A36A1-DC5A-47FA-A893-160D47FA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41814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9050">
            <a:solidFill>
              <a:srgbClr val="10211A"/>
            </a:solidFill>
            <a:prstDash val="solid"/>
          </a:ln>
        </p:spPr>
      </p:sp>
      <p:sp>
        <p:nvSpPr>
          <p:cNvPr id="15" name="s4-code-2">
            <a:extLst xmlns:a="http://schemas.openxmlformats.org/drawingml/2006/main">
              <a:ext uri="{FF2B5EF4-FFF2-40B4-BE49-F238E27FC236}">
                <a16:creationId xmlns:a16="http://schemas.microsoft.com/office/drawing/2014/main" id="{6D5DBF22-7D99-4D2C-A22D-73341793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4196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6" name="s4-label-2">
            <a:extLst xmlns:a="http://schemas.openxmlformats.org/drawingml/2006/main">
              <a:ext uri="{FF2B5EF4-FFF2-40B4-BE49-F238E27FC236}">
                <a16:creationId xmlns:a16="http://schemas.microsoft.com/office/drawing/2014/main" id="{E1E79953-C8C7-4888-9F35-89386E3D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8525" y="46577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SERVE</a:t>
            </a:r>
          </a:p>
        </p:txBody>
      </p:sp>
      <p:sp>
        <p:nvSpPr>
          <p:cNvPr id="17" name="s4-not">
            <a:extLst xmlns:a="http://schemas.openxmlformats.org/drawingml/2006/main">
              <a:ext uri="{FF2B5EF4-FFF2-40B4-BE49-F238E27FC236}">
                <a16:creationId xmlns:a16="http://schemas.microsoft.com/office/drawing/2014/main" id="{771F433A-26D5-4F08-B507-B99EB36B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2101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NOT A CHARITY BIN  /  NOT ANOTHER DELIVERY APP</a:t>
            </a:r>
          </a:p>
        </p:txBody>
      </p:sp>
      <p:sp>
        <p:nvSpPr>
          <p:cNvPr id="18" name="s4-is">
            <a:extLst xmlns:a="http://schemas.openxmlformats.org/drawingml/2006/main">
              <a:ext uri="{FF2B5EF4-FFF2-40B4-BE49-F238E27FC236}">
                <a16:creationId xmlns:a16="http://schemas.microsoft.com/office/drawing/2014/main" id="{D2291C82-337B-4569-ADF0-E068BB4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52450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98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Shared infrastructure for a more resourceful city.</a:t>
            </a:r>
          </a:p>
        </p:txBody>
      </p:sp>
      <p:sp>
        <p:nvSpPr>
          <p:cNvPr id="1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7464B2B-A23D-47C5-A762-57CE16B7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5098"/>
              </a:srgbClr>
            </a:solidFill>
            <a:prstDash val="solid"/>
          </a:ln>
        </p:spPr>
      </p:sp>
      <p:sp>
        <p:nvSpPr>
          <p:cNvPr id="20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EAE0CEB3-5DA3-4BCE-B179-E3A58D07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2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58B4864-F6DD-4137-B3B6-F2A38087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805278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5">
            <a:extLst xmlns:a="http://schemas.openxmlformats.org/drawingml/2006/main">
              <a:ext uri="{FF2B5EF4-FFF2-40B4-BE49-F238E27FC236}">
                <a16:creationId xmlns:a16="http://schemas.microsoft.com/office/drawing/2014/main" id="{88A6072A-C3D1-42EF-BDA6-CC63F131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eyebrow-5-THE PARTNER JOURNEY">
            <a:extLst xmlns:a="http://schemas.openxmlformats.org/drawingml/2006/main">
              <a:ext uri="{FF2B5EF4-FFF2-40B4-BE49-F238E27FC236}">
                <a16:creationId xmlns:a16="http://schemas.microsoft.com/office/drawing/2014/main" id="{B6A92A11-D715-4F52-8C0B-CB909A2F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THE PARTNER JOURNEY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096CE97D-C124-48C9-9AA8-4931DA5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4425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Five decisions. No mystery.</a:t>
            </a:r>
          </a:p>
        </p:txBody>
      </p:sp>
      <p:sp>
        <p:nvSpPr>
          <p:cNvPr id="4" name="s5-sub">
            <a:extLst xmlns:a="http://schemas.openxmlformats.org/drawingml/2006/main">
              <a:ext uri="{FF2B5EF4-FFF2-40B4-BE49-F238E27FC236}">
                <a16:creationId xmlns:a16="http://schemas.microsoft.com/office/drawing/2014/main" id="{0D8F88A3-60CC-439D-81D6-0CD4E001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2193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4F0E8">
                    <a:alpha val="6588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F4F0E8">
                    <a:alpha val="65882"/>
                  </a:srgbClr>
                </a:solidFill>
                <a:latin typeface="Aptos"/>
                <a:ea typeface="Aptos"/>
                <a:cs typeface="Aptos"/>
              </a:rPr>
              <a:t>Complex rules stay available—but they never get in the way of the next clear action.</a:t>
            </a:r>
          </a:p>
        </p:txBody>
      </p:sp>
      <p:sp>
        <p:nvSpPr>
          <p:cNvPr id="5" name="s5-track">
            <a:extLst xmlns:a="http://schemas.openxmlformats.org/drawingml/2006/main">
              <a:ext uri="{FF2B5EF4-FFF2-40B4-BE49-F238E27FC236}">
                <a16:creationId xmlns:a16="http://schemas.microsoft.com/office/drawing/2014/main" id="{04C80167-5193-4B4F-8080-86B32E3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57625"/>
            <a:ext cx="861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F0E8">
                <a:alpha val="37647"/>
              </a:srgbClr>
            </a:solidFill>
            <a:prstDash val="solid"/>
          </a:ln>
        </p:spPr>
      </p:sp>
      <p:sp>
        <p:nvSpPr>
          <p:cNvPr id="6" name="s5-node-0">
            <a:extLst xmlns:a="http://schemas.openxmlformats.org/drawingml/2006/main">
              <a:ext uri="{FF2B5EF4-FFF2-40B4-BE49-F238E27FC236}">
                <a16:creationId xmlns:a16="http://schemas.microsoft.com/office/drawing/2014/main" id="{EEDB3554-26F9-4899-90DA-24D41DB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52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19050">
            <a:solidFill>
              <a:srgbClr val="F4F0E8"/>
            </a:solidFill>
            <a:prstDash val="solid"/>
          </a:ln>
        </p:spPr>
      </p:sp>
      <p:sp>
        <p:nvSpPr>
          <p:cNvPr id="7" name="s5-num-0">
            <a:extLst xmlns:a="http://schemas.openxmlformats.org/drawingml/2006/main">
              <a:ext uri="{FF2B5EF4-FFF2-40B4-BE49-F238E27FC236}">
                <a16:creationId xmlns:a16="http://schemas.microsoft.com/office/drawing/2014/main" id="{8626411A-8B6D-4E5A-A5DA-284B2A79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724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s5-step-0">
            <a:extLst xmlns:a="http://schemas.openxmlformats.org/drawingml/2006/main">
              <a:ext uri="{FF2B5EF4-FFF2-40B4-BE49-F238E27FC236}">
                <a16:creationId xmlns:a16="http://schemas.microsoft.com/office/drawing/2014/main" id="{736126E3-1554-486F-9F19-312E97B9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410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QUALIFY</a:t>
            </a:r>
          </a:p>
        </p:txBody>
      </p:sp>
      <p:sp>
        <p:nvSpPr>
          <p:cNvPr id="9" name="s5-question-0">
            <a:extLst xmlns:a="http://schemas.openxmlformats.org/drawingml/2006/main">
              <a:ext uri="{FF2B5EF4-FFF2-40B4-BE49-F238E27FC236}">
                <a16:creationId xmlns:a16="http://schemas.microsoft.com/office/drawing/2014/main" id="{B2BDFEE7-C67C-4541-862B-220BFED4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810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Is it eligible?</a:t>
            </a:r>
          </a:p>
        </p:txBody>
      </p:sp>
      <p:sp>
        <p:nvSpPr>
          <p:cNvPr id="10" name="s5-node-1">
            <a:extLst xmlns:a="http://schemas.openxmlformats.org/drawingml/2006/main">
              <a:ext uri="{FF2B5EF4-FFF2-40B4-BE49-F238E27FC236}">
                <a16:creationId xmlns:a16="http://schemas.microsoft.com/office/drawing/2014/main" id="{48B46AAD-B348-4E9A-8F46-5F0A2ED2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3552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19050">
            <a:solidFill>
              <a:srgbClr val="F4F0E8"/>
            </a:solidFill>
            <a:prstDash val="solid"/>
          </a:ln>
        </p:spPr>
      </p:sp>
      <p:sp>
        <p:nvSpPr>
          <p:cNvPr id="11" name="s5-num-1">
            <a:extLst xmlns:a="http://schemas.openxmlformats.org/drawingml/2006/main">
              <a:ext uri="{FF2B5EF4-FFF2-40B4-BE49-F238E27FC236}">
                <a16:creationId xmlns:a16="http://schemas.microsoft.com/office/drawing/2014/main" id="{5C69E341-28E8-4253-8C66-55296C3E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3724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s5-step-1">
            <a:extLst xmlns:a="http://schemas.openxmlformats.org/drawingml/2006/main">
              <a:ext uri="{FF2B5EF4-FFF2-40B4-BE49-F238E27FC236}">
                <a16:creationId xmlns:a16="http://schemas.microsoft.com/office/drawing/2014/main" id="{167371C9-9F26-48A9-85E8-3D70820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4410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DESCRIBE</a:t>
            </a:r>
          </a:p>
        </p:txBody>
      </p:sp>
      <p:sp>
        <p:nvSpPr>
          <p:cNvPr id="13" name="s5-question-1">
            <a:extLst xmlns:a="http://schemas.openxmlformats.org/drawingml/2006/main">
              <a:ext uri="{FF2B5EF4-FFF2-40B4-BE49-F238E27FC236}">
                <a16:creationId xmlns:a16="http://schemas.microsoft.com/office/drawing/2014/main" id="{387829E3-E647-42DA-B068-D5BCF19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4810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What is ready?</a:t>
            </a:r>
          </a:p>
        </p:txBody>
      </p:sp>
      <p:sp>
        <p:nvSpPr>
          <p:cNvPr id="14" name="s5-node-2">
            <a:extLst xmlns:a="http://schemas.openxmlformats.org/drawingml/2006/main">
              <a:ext uri="{FF2B5EF4-FFF2-40B4-BE49-F238E27FC236}">
                <a16:creationId xmlns:a16="http://schemas.microsoft.com/office/drawing/2014/main" id="{281DF5BB-E9DD-496B-8F32-326D0848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3552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19050">
            <a:solidFill>
              <a:srgbClr val="F4F0E8"/>
            </a:solidFill>
            <a:prstDash val="solid"/>
          </a:ln>
        </p:spPr>
      </p:sp>
      <p:sp>
        <p:nvSpPr>
          <p:cNvPr id="15" name="s5-num-2">
            <a:extLst xmlns:a="http://schemas.openxmlformats.org/drawingml/2006/main">
              <a:ext uri="{FF2B5EF4-FFF2-40B4-BE49-F238E27FC236}">
                <a16:creationId xmlns:a16="http://schemas.microsoft.com/office/drawing/2014/main" id="{EA224E9B-EC25-46BA-BE2A-AE7A4F80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50" y="3724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6" name="s5-step-2">
            <a:extLst xmlns:a="http://schemas.openxmlformats.org/drawingml/2006/main">
              <a:ext uri="{FF2B5EF4-FFF2-40B4-BE49-F238E27FC236}">
                <a16:creationId xmlns:a16="http://schemas.microsoft.com/office/drawing/2014/main" id="{4234E722-9BC6-4E92-BC7A-4B9058D5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4410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SCHEDULE</a:t>
            </a:r>
          </a:p>
        </p:txBody>
      </p:sp>
      <p:sp>
        <p:nvSpPr>
          <p:cNvPr id="17" name="s5-question-2">
            <a:extLst xmlns:a="http://schemas.openxmlformats.org/drawingml/2006/main">
              <a:ext uri="{FF2B5EF4-FFF2-40B4-BE49-F238E27FC236}">
                <a16:creationId xmlns:a16="http://schemas.microsoft.com/office/drawing/2014/main" id="{9C041554-E708-4DB6-BADC-85F0AB06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4810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When can it move?</a:t>
            </a:r>
          </a:p>
        </p:txBody>
      </p:sp>
      <p:sp>
        <p:nvSpPr>
          <p:cNvPr id="18" name="s5-node-3">
            <a:extLst xmlns:a="http://schemas.openxmlformats.org/drawingml/2006/main">
              <a:ext uri="{FF2B5EF4-FFF2-40B4-BE49-F238E27FC236}">
                <a16:creationId xmlns:a16="http://schemas.microsoft.com/office/drawing/2014/main" id="{A2B336C7-98CB-4CB7-8DB8-ACDE14D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552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19050">
            <a:solidFill>
              <a:srgbClr val="F4F0E8"/>
            </a:solidFill>
            <a:prstDash val="solid"/>
          </a:ln>
        </p:spPr>
      </p:sp>
      <p:sp>
        <p:nvSpPr>
          <p:cNvPr id="19" name="s5-num-3">
            <a:extLst xmlns:a="http://schemas.openxmlformats.org/drawingml/2006/main">
              <a:ext uri="{FF2B5EF4-FFF2-40B4-BE49-F238E27FC236}">
                <a16:creationId xmlns:a16="http://schemas.microsoft.com/office/drawing/2014/main" id="{E8316EE4-658E-422D-8430-AD1FD13D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3724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0" name="s5-step-3">
            <a:extLst xmlns:a="http://schemas.openxmlformats.org/drawingml/2006/main">
              <a:ext uri="{FF2B5EF4-FFF2-40B4-BE49-F238E27FC236}">
                <a16:creationId xmlns:a16="http://schemas.microsoft.com/office/drawing/2014/main" id="{8173DD65-810C-414F-9D96-370F1B7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4410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CONFIRM</a:t>
            </a:r>
          </a:p>
        </p:txBody>
      </p:sp>
      <p:sp>
        <p:nvSpPr>
          <p:cNvPr id="21" name="s5-question-3">
            <a:extLst xmlns:a="http://schemas.openxmlformats.org/drawingml/2006/main">
              <a:ext uri="{FF2B5EF4-FFF2-40B4-BE49-F238E27FC236}">
                <a16:creationId xmlns:a16="http://schemas.microsoft.com/office/drawing/2014/main" id="{4DD0C378-5ED9-4CFE-9CF6-22589E3E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4810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Who owns pickup?</a:t>
            </a:r>
          </a:p>
        </p:txBody>
      </p:sp>
      <p:sp>
        <p:nvSpPr>
          <p:cNvPr id="22" name="s5-node-4">
            <a:extLst xmlns:a="http://schemas.openxmlformats.org/drawingml/2006/main">
              <a:ext uri="{FF2B5EF4-FFF2-40B4-BE49-F238E27FC236}">
                <a16:creationId xmlns:a16="http://schemas.microsoft.com/office/drawing/2014/main" id="{8601DD52-1345-474D-A0D7-5AD52C2C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3552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19050">
            <a:solidFill>
              <a:srgbClr val="F4F0E8"/>
            </a:solidFill>
            <a:prstDash val="solid"/>
          </a:ln>
        </p:spPr>
      </p:sp>
      <p:sp>
        <p:nvSpPr>
          <p:cNvPr id="23" name="s5-num-4">
            <a:extLst xmlns:a="http://schemas.openxmlformats.org/drawingml/2006/main">
              <a:ext uri="{FF2B5EF4-FFF2-40B4-BE49-F238E27FC236}">
                <a16:creationId xmlns:a16="http://schemas.microsoft.com/office/drawing/2014/main" id="{8A2DEE3D-4529-49B3-8C72-021CDC7A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3724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4" name="s5-step-4">
            <a:extLst xmlns:a="http://schemas.openxmlformats.org/drawingml/2006/main">
              <a:ext uri="{FF2B5EF4-FFF2-40B4-BE49-F238E27FC236}">
                <a16:creationId xmlns:a16="http://schemas.microsoft.com/office/drawing/2014/main" id="{CEAC25CF-15D4-4400-82EE-60F2330A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44100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REPORT</a:t>
            </a:r>
          </a:p>
        </p:txBody>
      </p:sp>
      <p:sp>
        <p:nvSpPr>
          <p:cNvPr id="25" name="s5-question-4">
            <a:extLst xmlns:a="http://schemas.openxmlformats.org/drawingml/2006/main">
              <a:ext uri="{FF2B5EF4-FFF2-40B4-BE49-F238E27FC236}">
                <a16:creationId xmlns:a16="http://schemas.microsoft.com/office/drawing/2014/main" id="{BE0E3AF9-9E34-4B06-8D29-0B8B67BC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4810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Where did it help?</a:t>
            </a:r>
          </a:p>
        </p:txBody>
      </p:sp>
      <p:sp>
        <p:nvSpPr>
          <p:cNvPr id="26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07719E79-76DA-4BA9-9796-FA5DE3D0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F0E8">
                <a:alpha val="30196"/>
              </a:srgbClr>
            </a:solidFill>
            <a:prstDash val="solid"/>
          </a:ln>
        </p:spPr>
      </p:sp>
      <p:sp>
        <p:nvSpPr>
          <p:cNvPr id="27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E0D8BA60-9AA6-41DE-ADC7-FA3D177E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4F0E8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F4F0E8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28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EEDE6ED-DD62-4215-8DF6-67AF30A6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F4F0E8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F4F0E8"/>
                </a:solidFill>
                <a:latin typeface="Aptos Mono"/>
                <a:ea typeface="Aptos Mono"/>
                <a:cs typeface="Aptos Mono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396124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6">
            <a:extLst xmlns:a="http://schemas.openxmlformats.org/drawingml/2006/main">
              <a:ext uri="{FF2B5EF4-FFF2-40B4-BE49-F238E27FC236}">
                <a16:creationId xmlns:a16="http://schemas.microsoft.com/office/drawing/2014/main" id="{676EC9F5-8885-42CB-AFFE-71030BF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eyebrow-6-THE BRAND PROMISE">
            <a:extLst xmlns:a="http://schemas.openxmlformats.org/drawingml/2006/main">
              <a:ext uri="{FF2B5EF4-FFF2-40B4-BE49-F238E27FC236}">
                <a16:creationId xmlns:a16="http://schemas.microsoft.com/office/drawing/2014/main" id="{4F76E20F-DE46-44CF-A97E-645F6CE3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THE BRAND PROMISE</a:t>
            </a:r>
          </a:p>
        </p:txBody>
      </p:sp>
      <p:sp>
        <p:nvSpPr>
          <p:cNvPr id="3" name="s6-good">
            <a:extLst xmlns:a="http://schemas.openxmlformats.org/drawingml/2006/main">
              <a:ext uri="{FF2B5EF4-FFF2-40B4-BE49-F238E27FC236}">
                <a16:creationId xmlns:a16="http://schemas.microsoft.com/office/drawing/2014/main" id="{BD1FA2A6-AEB5-432A-8DDB-551983B8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954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634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5" b="1" i="0">
                <a:solidFill>
                  <a:srgbClr val="173629"/>
                </a:solidFill>
                <a:latin typeface="Aptos"/>
                <a:ea typeface="Aptos"/>
                <a:cs typeface="Aptos"/>
              </a:defRPr>
            </a:pPr>
            <a:r>
              <a:rPr sz="7575" b="1" i="0">
                <a:solidFill>
                  <a:srgbClr val="173629"/>
                </a:solidFill>
                <a:latin typeface="Aptos"/>
                <a:ea typeface="Aptos"/>
                <a:cs typeface="Aptos"/>
              </a:rPr>
              <a:t>GOOD FOOD.</a:t>
            </a:r>
          </a:p>
        </p:txBody>
      </p:sp>
      <p:sp>
        <p:nvSpPr>
          <p:cNvPr id="4" name="s6-further">
            <a:extLst xmlns:a="http://schemas.openxmlformats.org/drawingml/2006/main">
              <a:ext uri="{FF2B5EF4-FFF2-40B4-BE49-F238E27FC236}">
                <a16:creationId xmlns:a16="http://schemas.microsoft.com/office/drawing/2014/main" id="{DA0ACC89-A793-4DD0-88C7-071A5F4E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860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0" b="0" i="1">
                <a:solidFill>
                  <a:srgbClr val="F15B40"/>
                </a:solidFill>
                <a:latin typeface="Georgia"/>
                <a:ea typeface="Georgia"/>
                <a:cs typeface="Georgia"/>
              </a:defRPr>
            </a:pPr>
            <a:r>
              <a:rPr sz="7500" b="0" i="1">
                <a:solidFill>
                  <a:srgbClr val="F15B40"/>
                </a:solidFill>
                <a:latin typeface="Georgia"/>
                <a:ea typeface="Georgia"/>
                <a:cs typeface="Georgia"/>
              </a:rPr>
              <a:t>Further.</a:t>
            </a:r>
          </a:p>
        </p:txBody>
      </p:sp>
      <p:sp>
        <p:nvSpPr>
          <p:cNvPr id="5" name="s6-body">
            <a:extLst xmlns:a="http://schemas.openxmlformats.org/drawingml/2006/main">
              <a:ext uri="{FF2B5EF4-FFF2-40B4-BE49-F238E27FC236}">
                <a16:creationId xmlns:a16="http://schemas.microsoft.com/office/drawing/2014/main" id="{0BE82806-B96F-4790-ADC5-6B3D92A9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4100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rPr>
              <a:t>The voice is direct, optimistic, human, and informed. It makes the action feel possible without minimizing the operational work behind it.</a:t>
            </a:r>
          </a:p>
        </p:txBody>
      </p:sp>
      <p:sp>
        <p:nvSpPr>
          <p:cNvPr id="6" name="route-ring-6-835">
            <a:extLst xmlns:a="http://schemas.openxmlformats.org/drawingml/2006/main">
              <a:ext uri="{FF2B5EF4-FFF2-40B4-BE49-F238E27FC236}">
                <a16:creationId xmlns:a16="http://schemas.microsoft.com/office/drawing/2014/main" id="{1847A813-6FEF-47D9-8C42-8BD9F4A0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14763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0963">
            <a:solidFill>
              <a:srgbClr val="173629"/>
            </a:solidFill>
            <a:prstDash val="solid"/>
          </a:ln>
        </p:spPr>
      </p:sp>
      <p:sp>
        <p:nvSpPr>
          <p:cNvPr id="7" name="route-gap-6-835">
            <a:extLst xmlns:a="http://schemas.openxmlformats.org/drawingml/2006/main">
              <a:ext uri="{FF2B5EF4-FFF2-40B4-BE49-F238E27FC236}">
                <a16:creationId xmlns:a16="http://schemas.microsoft.com/office/drawing/2014/main" id="{89FBEFBD-665F-4B3A-BB90-BF6A22CC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877175" y="1524000"/>
            <a:ext cx="714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ute-turn-a-6-835">
            <a:extLst xmlns:a="http://schemas.openxmlformats.org/drawingml/2006/main">
              <a:ext uri="{FF2B5EF4-FFF2-40B4-BE49-F238E27FC236}">
                <a16:creationId xmlns:a16="http://schemas.microsoft.com/office/drawing/2014/main" id="{D9C5F34D-02B1-40CC-928C-29E6481A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6768" y="1589768"/>
            <a:ext cx="0" cy="572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963">
            <a:solidFill>
              <a:srgbClr val="173629"/>
            </a:solidFill>
            <a:prstDash val="solid"/>
          </a:ln>
        </p:spPr>
      </p:sp>
      <p:sp>
        <p:nvSpPr>
          <p:cNvPr id="9" name="route-turn-b-6-835">
            <a:extLst xmlns:a="http://schemas.openxmlformats.org/drawingml/2006/main">
              <a:ext uri="{FF2B5EF4-FFF2-40B4-BE49-F238E27FC236}">
                <a16:creationId xmlns:a16="http://schemas.microsoft.com/office/drawing/2014/main" id="{CB99F398-8D14-4BFB-B6ED-3F21F764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6768" y="1589768"/>
            <a:ext cx="5726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963">
            <a:solidFill>
              <a:srgbClr val="173629"/>
            </a:solidFill>
            <a:prstDash val="solid"/>
          </a:ln>
        </p:spPr>
      </p:sp>
      <p:sp>
        <p:nvSpPr>
          <p:cNvPr id="10" name="route-node-a-6-835">
            <a:extLst xmlns:a="http://schemas.openxmlformats.org/drawingml/2006/main">
              <a:ext uri="{FF2B5EF4-FFF2-40B4-BE49-F238E27FC236}">
                <a16:creationId xmlns:a16="http://schemas.microsoft.com/office/drawing/2014/main" id="{66A6595F-34DE-4BA4-845C-9370EA4A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2000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27146">
            <a:solidFill>
              <a:srgbClr val="173629"/>
            </a:solidFill>
            <a:prstDash val="solid"/>
          </a:ln>
        </p:spPr>
      </p:sp>
      <p:sp>
        <p:nvSpPr>
          <p:cNvPr id="11" name="route-node-b-6-835">
            <a:extLst xmlns:a="http://schemas.openxmlformats.org/drawingml/2006/main">
              <a:ext uri="{FF2B5EF4-FFF2-40B4-BE49-F238E27FC236}">
                <a16:creationId xmlns:a16="http://schemas.microsoft.com/office/drawing/2014/main" id="{5639C86F-8DAA-4C1D-9A77-868CA7C3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6" y="352425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27146">
            <a:solidFill>
              <a:srgbClr val="173629"/>
            </a:solidFill>
            <a:prstDash val="solid"/>
          </a:ln>
        </p:spPr>
      </p:sp>
      <p:sp>
        <p:nvSpPr>
          <p:cNvPr id="12" name="route-node-c-6-835">
            <a:extLst xmlns:a="http://schemas.openxmlformats.org/drawingml/2006/main">
              <a:ext uri="{FF2B5EF4-FFF2-40B4-BE49-F238E27FC236}">
                <a16:creationId xmlns:a16="http://schemas.microsoft.com/office/drawing/2014/main" id="{8CD57B10-D333-479E-92BD-23BDD11F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905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27146">
            <a:solidFill>
              <a:srgbClr val="173629"/>
            </a:solidFill>
            <a:prstDash val="solid"/>
          </a:ln>
        </p:spPr>
      </p:sp>
      <p:sp>
        <p:nvSpPr>
          <p:cNvPr id="13" name="s6-swatch-0">
            <a:extLst xmlns:a="http://schemas.openxmlformats.org/drawingml/2006/main">
              <a:ext uri="{FF2B5EF4-FFF2-40B4-BE49-F238E27FC236}">
                <a16:creationId xmlns:a16="http://schemas.microsoft.com/office/drawing/2014/main" id="{A9C7AECC-2217-4A7F-A553-53B422DE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4552950"/>
            <a:ext cx="990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29"/>
          </a:solidFill>
          <a:ln xmlns:a="http://schemas.openxmlformats.org/drawingml/2006/main" w="9525">
            <a:solidFill>
              <a:srgbClr val="10211A"/>
            </a:solidFill>
            <a:prstDash val="solid"/>
          </a:ln>
        </p:spPr>
      </p:sp>
      <p:sp>
        <p:nvSpPr>
          <p:cNvPr id="14" name="s6-swatch-label-0">
            <a:extLst xmlns:a="http://schemas.openxmlformats.org/drawingml/2006/main">
              <a:ext uri="{FF2B5EF4-FFF2-40B4-BE49-F238E27FC236}">
                <a16:creationId xmlns:a16="http://schemas.microsoft.com/office/drawing/2014/main" id="{5CA6BA7D-93E8-4F3E-AD19-9CBE396A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55626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ROUTE</a:t>
            </a:r>
          </a:p>
        </p:txBody>
      </p:sp>
      <p:sp>
        <p:nvSpPr>
          <p:cNvPr id="15" name="s6-swatch-1">
            <a:extLst xmlns:a="http://schemas.openxmlformats.org/drawingml/2006/main">
              <a:ext uri="{FF2B5EF4-FFF2-40B4-BE49-F238E27FC236}">
                <a16:creationId xmlns:a16="http://schemas.microsoft.com/office/drawing/2014/main" id="{0D08F659-291D-4655-B6CF-E67E73E1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4552950"/>
            <a:ext cx="990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9525">
            <a:solidFill>
              <a:srgbClr val="10211A"/>
            </a:solidFill>
            <a:prstDash val="solid"/>
          </a:ln>
        </p:spPr>
      </p:sp>
      <p:sp>
        <p:nvSpPr>
          <p:cNvPr id="16" name="s6-swatch-label-1">
            <a:extLst xmlns:a="http://schemas.openxmlformats.org/drawingml/2006/main">
              <a:ext uri="{FF2B5EF4-FFF2-40B4-BE49-F238E27FC236}">
                <a16:creationId xmlns:a16="http://schemas.microsoft.com/office/drawing/2014/main" id="{B0160E98-868E-4923-A7EE-64B052F4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55626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HANDOFF</a:t>
            </a:r>
          </a:p>
        </p:txBody>
      </p:sp>
      <p:sp>
        <p:nvSpPr>
          <p:cNvPr id="17" name="s6-swatch-2">
            <a:extLst xmlns:a="http://schemas.openxmlformats.org/drawingml/2006/main">
              <a:ext uri="{FF2B5EF4-FFF2-40B4-BE49-F238E27FC236}">
                <a16:creationId xmlns:a16="http://schemas.microsoft.com/office/drawing/2014/main" id="{5636B556-9692-4E7B-B700-4A39F5D9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4552950"/>
            <a:ext cx="990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9525">
            <a:solidFill>
              <a:srgbClr val="10211A"/>
            </a:solidFill>
            <a:prstDash val="solid"/>
          </a:ln>
        </p:spPr>
      </p:sp>
      <p:sp>
        <p:nvSpPr>
          <p:cNvPr id="18" name="s6-swatch-label-2">
            <a:extLst xmlns:a="http://schemas.openxmlformats.org/drawingml/2006/main">
              <a:ext uri="{FF2B5EF4-FFF2-40B4-BE49-F238E27FC236}">
                <a16:creationId xmlns:a16="http://schemas.microsoft.com/office/drawing/2014/main" id="{6230E3C0-56FC-4743-9C74-9CEBCB29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55626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SIGNAL</a:t>
            </a:r>
          </a:p>
        </p:txBody>
      </p:sp>
      <p:sp>
        <p:nvSpPr>
          <p:cNvPr id="19" name="s6-swatch-3">
            <a:extLst xmlns:a="http://schemas.openxmlformats.org/drawingml/2006/main">
              <a:ext uri="{FF2B5EF4-FFF2-40B4-BE49-F238E27FC236}">
                <a16:creationId xmlns:a16="http://schemas.microsoft.com/office/drawing/2014/main" id="{82ADD45E-4AD7-4B55-8907-60E5D5B3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4552950"/>
            <a:ext cx="990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9525">
            <a:solidFill>
              <a:srgbClr val="10211A"/>
            </a:solidFill>
            <a:prstDash val="solid"/>
          </a:ln>
        </p:spPr>
      </p:sp>
      <p:sp>
        <p:nvSpPr>
          <p:cNvPr id="20" name="s6-swatch-label-3">
            <a:extLst xmlns:a="http://schemas.openxmlformats.org/drawingml/2006/main">
              <a:ext uri="{FF2B5EF4-FFF2-40B4-BE49-F238E27FC236}">
                <a16:creationId xmlns:a16="http://schemas.microsoft.com/office/drawing/2014/main" id="{DF07C666-C308-4EE7-AE6D-D7C3F430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55626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FRESH</a:t>
            </a:r>
          </a:p>
        </p:txBody>
      </p:sp>
      <p:sp>
        <p:nvSpPr>
          <p:cNvPr id="21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E1A6F918-2891-45A9-B269-BB90B4BF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5098"/>
              </a:srgbClr>
            </a:solidFill>
            <a:prstDash val="solid"/>
          </a:ln>
        </p:spPr>
      </p:sp>
      <p:sp>
        <p:nvSpPr>
          <p:cNvPr id="22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09E75D4E-E6E0-4257-8AF2-9C9AE4AC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2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A68B0AD-CD8F-4FEA-861B-ADD886F5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696559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7">
            <a:extLst xmlns:a="http://schemas.openxmlformats.org/drawingml/2006/main">
              <a:ext uri="{FF2B5EF4-FFF2-40B4-BE49-F238E27FC236}">
                <a16:creationId xmlns:a16="http://schemas.microsoft.com/office/drawing/2014/main" id="{436F9184-8FE0-46B3-97C5-4F9DD58D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eyebrow-7-THE APPLICATION SYSTEM">
            <a:extLst xmlns:a="http://schemas.openxmlformats.org/drawingml/2006/main">
              <a:ext uri="{FF2B5EF4-FFF2-40B4-BE49-F238E27FC236}">
                <a16:creationId xmlns:a16="http://schemas.microsoft.com/office/drawing/2014/main" id="{5E3D7C10-B69B-47EB-84FA-E653C2AF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THE APPLICATION SYSTEM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818716EC-D4EE-46A1-A6E3-B945678C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9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One idea flexes across every channel.</a:t>
            </a:r>
          </a:p>
        </p:txBody>
      </p:sp>
      <p:sp>
        <p:nvSpPr>
          <p:cNvPr id="4" name="s7-app-0">
            <a:extLst xmlns:a="http://schemas.openxmlformats.org/drawingml/2006/main">
              <a:ext uri="{FF2B5EF4-FFF2-40B4-BE49-F238E27FC236}">
                <a16:creationId xmlns:a16="http://schemas.microsoft.com/office/drawing/2014/main" id="{F92F9FB3-908E-4466-B464-A6FFA910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533650"/>
            <a:ext cx="33337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app-label-0">
            <a:extLst xmlns:a="http://schemas.openxmlformats.org/drawingml/2006/main">
              <a:ext uri="{FF2B5EF4-FFF2-40B4-BE49-F238E27FC236}">
                <a16:creationId xmlns:a16="http://schemas.microsoft.com/office/drawing/2014/main" id="{FA457EF2-033D-4127-B6EB-2524D771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7813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PRINT</a:t>
            </a:r>
          </a:p>
        </p:txBody>
      </p:sp>
      <p:sp>
        <p:nvSpPr>
          <p:cNvPr id="6" name="s7-app-head-0">
            <a:extLst xmlns:a="http://schemas.openxmlformats.org/drawingml/2006/main">
              <a:ext uri="{FF2B5EF4-FFF2-40B4-BE49-F238E27FC236}">
                <a16:creationId xmlns:a16="http://schemas.microsoft.com/office/drawing/2014/main" id="{D5BD33AB-0D59-468B-B539-EA445CFA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390900"/>
            <a:ext cx="2876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6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PACK IT.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6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POST IT.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6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PASS IT ON.</a:t>
            </a:r>
          </a:p>
        </p:txBody>
      </p:sp>
      <p:sp>
        <p:nvSpPr>
          <p:cNvPr id="7" name="s7-app-rule-0">
            <a:extLst xmlns:a="http://schemas.openxmlformats.org/drawingml/2006/main">
              <a:ext uri="{FF2B5EF4-FFF2-40B4-BE49-F238E27FC236}">
                <a16:creationId xmlns:a16="http://schemas.microsoft.com/office/drawing/2014/main" id="{C0923A73-71E8-4BF5-9BB7-07CE431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43922"/>
              </a:srgbClr>
            </a:solidFill>
            <a:prstDash val="solid"/>
          </a:ln>
        </p:spPr>
      </p:sp>
      <p:sp>
        <p:nvSpPr>
          <p:cNvPr id="8" name="s7-app-note-0">
            <a:extLst xmlns:a="http://schemas.openxmlformats.org/drawingml/2006/main">
              <a:ext uri="{FF2B5EF4-FFF2-40B4-BE49-F238E27FC236}">
                <a16:creationId xmlns:a16="http://schemas.microsoft.com/office/drawing/2014/main" id="{0BEAD897-149E-4435-8F6C-F8F8E88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2959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CMYK + one-color fallback</a:t>
            </a:r>
          </a:p>
        </p:txBody>
      </p:sp>
      <p:sp>
        <p:nvSpPr>
          <p:cNvPr id="9" name="s7-app-1">
            <a:extLst xmlns:a="http://schemas.openxmlformats.org/drawingml/2006/main">
              <a:ext uri="{FF2B5EF4-FFF2-40B4-BE49-F238E27FC236}">
                <a16:creationId xmlns:a16="http://schemas.microsoft.com/office/drawing/2014/main" id="{E9345900-C8F6-488C-BBC0-23EA83D7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2533650"/>
            <a:ext cx="33337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7-app-label-1">
            <a:extLst xmlns:a="http://schemas.openxmlformats.org/drawingml/2006/main">
              <a:ext uri="{FF2B5EF4-FFF2-40B4-BE49-F238E27FC236}">
                <a16:creationId xmlns:a16="http://schemas.microsoft.com/office/drawing/2014/main" id="{A8901A4E-2C20-487D-ACFB-A652CFB4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27813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DIGITAL</a:t>
            </a:r>
          </a:p>
        </p:txBody>
      </p:sp>
      <p:sp>
        <p:nvSpPr>
          <p:cNvPr id="11" name="s7-app-head-1">
            <a:extLst xmlns:a="http://schemas.openxmlformats.org/drawingml/2006/main">
              <a:ext uri="{FF2B5EF4-FFF2-40B4-BE49-F238E27FC236}">
                <a16:creationId xmlns:a16="http://schemas.microsoft.com/office/drawing/2014/main" id="{0F2F995F-7FBE-4CC1-86DD-763C7F0E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3390900"/>
            <a:ext cx="2876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60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WHAT’S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60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READY TO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60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MOVE?</a:t>
            </a:r>
          </a:p>
        </p:txBody>
      </p:sp>
      <p:sp>
        <p:nvSpPr>
          <p:cNvPr id="12" name="s7-app-rule-1">
            <a:extLst xmlns:a="http://schemas.openxmlformats.org/drawingml/2006/main">
              <a:ext uri="{FF2B5EF4-FFF2-40B4-BE49-F238E27FC236}">
                <a16:creationId xmlns:a16="http://schemas.microsoft.com/office/drawing/2014/main" id="{C366ED31-3D8A-41E8-B79D-6FCF9A58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1435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F0E8">
                <a:alpha val="43922"/>
              </a:srgbClr>
            </a:solidFill>
            <a:prstDash val="solid"/>
          </a:ln>
        </p:spPr>
      </p:sp>
      <p:sp>
        <p:nvSpPr>
          <p:cNvPr id="13" name="s7-app-note-1">
            <a:extLst xmlns:a="http://schemas.openxmlformats.org/drawingml/2006/main">
              <a:ext uri="{FF2B5EF4-FFF2-40B4-BE49-F238E27FC236}">
                <a16:creationId xmlns:a16="http://schemas.microsoft.com/office/drawing/2014/main" id="{DD082F77-C68A-4E22-8B9B-3B6D3750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52959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4F0E8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F4F0E8"/>
                </a:solidFill>
                <a:latin typeface="Aptos Mono"/>
                <a:ea typeface="Aptos Mono"/>
                <a:cs typeface="Aptos Mono"/>
              </a:rPr>
              <a:t>Responsive + accessible</a:t>
            </a:r>
          </a:p>
        </p:txBody>
      </p:sp>
      <p:sp>
        <p:nvSpPr>
          <p:cNvPr id="14" name="s7-app-2">
            <a:extLst xmlns:a="http://schemas.openxmlformats.org/drawingml/2006/main">
              <a:ext uri="{FF2B5EF4-FFF2-40B4-BE49-F238E27FC236}">
                <a16:creationId xmlns:a16="http://schemas.microsoft.com/office/drawing/2014/main" id="{DF32916A-E2D6-4819-A703-D75750AB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533650"/>
            <a:ext cx="37147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7-app-label-2">
            <a:extLst xmlns:a="http://schemas.openxmlformats.org/drawingml/2006/main">
              <a:ext uri="{FF2B5EF4-FFF2-40B4-BE49-F238E27FC236}">
                <a16:creationId xmlns:a16="http://schemas.microsoft.com/office/drawing/2014/main" id="{2151CF9A-293F-4ED1-BB90-9F9C7320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7813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OUTREACH</a:t>
            </a:r>
          </a:p>
        </p:txBody>
      </p:sp>
      <p:sp>
        <p:nvSpPr>
          <p:cNvPr id="16" name="s7-app-head-2">
            <a:extLst xmlns:a="http://schemas.openxmlformats.org/drawingml/2006/main">
              <a:ext uri="{FF2B5EF4-FFF2-40B4-BE49-F238E27FC236}">
                <a16:creationId xmlns:a16="http://schemas.microsoft.com/office/drawing/2014/main" id="{B2C3043C-959A-40AD-8157-D5178AB5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390900"/>
            <a:ext cx="3257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KEEP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WHAT’S GOOD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2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GOING.</a:t>
            </a:r>
          </a:p>
        </p:txBody>
      </p:sp>
      <p:sp>
        <p:nvSpPr>
          <p:cNvPr id="17" name="s7-app-rule-2">
            <a:extLst xmlns:a="http://schemas.openxmlformats.org/drawingml/2006/main">
              <a:ext uri="{FF2B5EF4-FFF2-40B4-BE49-F238E27FC236}">
                <a16:creationId xmlns:a16="http://schemas.microsoft.com/office/drawing/2014/main" id="{A8EC8E78-5BC9-43B3-A9A7-8F6222C8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4350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43922"/>
              </a:srgbClr>
            </a:solidFill>
            <a:prstDash val="solid"/>
          </a:ln>
        </p:spPr>
      </p:sp>
      <p:sp>
        <p:nvSpPr>
          <p:cNvPr id="18" name="s7-app-note-2">
            <a:extLst xmlns:a="http://schemas.openxmlformats.org/drawingml/2006/main">
              <a:ext uri="{FF2B5EF4-FFF2-40B4-BE49-F238E27FC236}">
                <a16:creationId xmlns:a16="http://schemas.microsoft.com/office/drawing/2014/main" id="{143469DF-A0B6-4431-A3A3-9E0E15E3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52959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2-second message architecture</a:t>
            </a:r>
          </a:p>
        </p:txBody>
      </p:sp>
      <p:sp>
        <p:nvSpPr>
          <p:cNvPr id="19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8610C823-97D2-4D9E-83A9-89F71AD0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5098"/>
              </a:srgbClr>
            </a:solidFill>
            <a:prstDash val="solid"/>
          </a:ln>
        </p:spPr>
      </p:sp>
      <p:sp>
        <p:nvSpPr>
          <p:cNvPr id="20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3D892E42-413A-41D7-ADFF-732A3684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2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6F9DC72-ED1F-4513-BA1A-80A0838D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9702943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8">
            <a:extLst xmlns:a="http://schemas.openxmlformats.org/drawingml/2006/main">
              <a:ext uri="{FF2B5EF4-FFF2-40B4-BE49-F238E27FC236}">
                <a16:creationId xmlns:a16="http://schemas.microsoft.com/office/drawing/2014/main" id="{F148A046-D50A-438B-80FF-1A0FAC91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eyebrow-8-THE MEASUREMENT MODEL">
            <a:extLst xmlns:a="http://schemas.openxmlformats.org/drawingml/2006/main">
              <a:ext uri="{FF2B5EF4-FFF2-40B4-BE49-F238E27FC236}">
                <a16:creationId xmlns:a16="http://schemas.microsoft.com/office/drawing/2014/main" id="{DD695204-4E49-4214-AAC8-1EC5037A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THE MEASUREMENT MODEL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EF941777-422B-4375-9C74-6A40399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97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Every handoff creates a measurable signal.</a:t>
            </a:r>
          </a:p>
        </p:txBody>
      </p:sp>
      <p:sp>
        <p:nvSpPr>
          <p:cNvPr id="4" name="s8-body">
            <a:extLst xmlns:a="http://schemas.openxmlformats.org/drawingml/2006/main">
              <a:ext uri="{FF2B5EF4-FFF2-40B4-BE49-F238E27FC236}">
                <a16:creationId xmlns:a16="http://schemas.microsoft.com/office/drawing/2014/main" id="{5BC6E706-81EF-4443-85E7-FD754DD4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1526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0211A">
                    <a:alpha val="6470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0211A">
                    <a:alpha val="64706"/>
                  </a:srgbClr>
                </a:solidFill>
                <a:latin typeface="Aptos"/>
                <a:ea typeface="Aptos"/>
                <a:cs typeface="Aptos"/>
              </a:rPr>
              <a:t>The pilot measures movement through the route—not vanity reach.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85800" y="2990850"/>
          <a:ext xmlns:a="http://schemas.openxmlformats.org/drawingml/2006/main" cx="6334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edd9136f814289"/>
          </a:graphicData>
        </a:graphic>
      </p:graphicFrame>
      <p:sp>
        <p:nvSpPr>
          <p:cNvPr id="6" name="s8-chart-note">
            <a:extLst xmlns:a="http://schemas.openxmlformats.org/drawingml/2006/main">
              <a:ext uri="{FF2B5EF4-FFF2-40B4-BE49-F238E27FC236}">
                <a16:creationId xmlns:a16="http://schemas.microsoft.com/office/drawing/2014/main" id="{0CE4B7A5-6BF6-44ED-B21D-ADE8C946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5724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ILLUSTRATIVE PROGRESSION / NOT ACTUAL PERFORMANCE</a:t>
            </a:r>
          </a:p>
        </p:txBody>
      </p:sp>
      <p:sp>
        <p:nvSpPr>
          <p:cNvPr id="7" name="s8-metric-num-0">
            <a:extLst xmlns:a="http://schemas.openxmlformats.org/drawingml/2006/main">
              <a:ext uri="{FF2B5EF4-FFF2-40B4-BE49-F238E27FC236}">
                <a16:creationId xmlns:a16="http://schemas.microsoft.com/office/drawing/2014/main" id="{6E6ED635-CC72-4B9E-8D9F-F0C0526E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s8-metric-name-0">
            <a:extLst xmlns:a="http://schemas.openxmlformats.org/drawingml/2006/main">
              <a:ext uri="{FF2B5EF4-FFF2-40B4-BE49-F238E27FC236}">
                <a16:creationId xmlns:a16="http://schemas.microsoft.com/office/drawing/2014/main" id="{18E0FBD0-F6C3-42D5-A13A-AFDB3157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952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SPEED</a:t>
            </a:r>
          </a:p>
        </p:txBody>
      </p:sp>
      <p:sp>
        <p:nvSpPr>
          <p:cNvPr id="9" name="s8-metric-copy-0">
            <a:extLst xmlns:a="http://schemas.openxmlformats.org/drawingml/2006/main">
              <a:ext uri="{FF2B5EF4-FFF2-40B4-BE49-F238E27FC236}">
                <a16:creationId xmlns:a16="http://schemas.microsoft.com/office/drawing/2014/main" id="{9ED929B7-FB5B-4AA5-83A2-CCA85D27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20992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rPr>
              <a:t>Time from post to match</a:t>
            </a:r>
          </a:p>
        </p:txBody>
      </p:sp>
      <p:sp>
        <p:nvSpPr>
          <p:cNvPr id="10" name="s8-metric-rule-0">
            <a:extLst xmlns:a="http://schemas.openxmlformats.org/drawingml/2006/main">
              <a:ext uri="{FF2B5EF4-FFF2-40B4-BE49-F238E27FC236}">
                <a16:creationId xmlns:a16="http://schemas.microsoft.com/office/drawing/2014/main" id="{DA3179FF-CD71-4B7D-AC13-0DF124E6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528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18824"/>
              </a:srgbClr>
            </a:solidFill>
            <a:prstDash val="solid"/>
          </a:ln>
        </p:spPr>
      </p:sp>
      <p:sp>
        <p:nvSpPr>
          <p:cNvPr id="11" name="s8-metric-num-1">
            <a:extLst xmlns:a="http://schemas.openxmlformats.org/drawingml/2006/main">
              <a:ext uri="{FF2B5EF4-FFF2-40B4-BE49-F238E27FC236}">
                <a16:creationId xmlns:a16="http://schemas.microsoft.com/office/drawing/2014/main" id="{BFD4C872-F7C4-4F81-8D3D-68EF58AB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667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s8-metric-name-1">
            <a:extLst xmlns:a="http://schemas.openxmlformats.org/drawingml/2006/main">
              <a:ext uri="{FF2B5EF4-FFF2-40B4-BE49-F238E27FC236}">
                <a16:creationId xmlns:a16="http://schemas.microsoft.com/office/drawing/2014/main" id="{87B419ED-7B35-4EF8-A207-9257E06A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667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RELIABILITY</a:t>
            </a:r>
          </a:p>
        </p:txBody>
      </p:sp>
      <p:sp>
        <p:nvSpPr>
          <p:cNvPr id="13" name="s8-metric-copy-1">
            <a:extLst xmlns:a="http://schemas.openxmlformats.org/drawingml/2006/main">
              <a:ext uri="{FF2B5EF4-FFF2-40B4-BE49-F238E27FC236}">
                <a16:creationId xmlns:a16="http://schemas.microsoft.com/office/drawing/2014/main" id="{3BCC298D-601A-44EE-BD2E-ADB88E1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9243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rPr>
              <a:t>Completed pickups / scheduled</a:t>
            </a:r>
          </a:p>
        </p:txBody>
      </p:sp>
      <p:sp>
        <p:nvSpPr>
          <p:cNvPr id="14" name="s8-metric-rule-1">
            <a:extLst xmlns:a="http://schemas.openxmlformats.org/drawingml/2006/main">
              <a:ext uri="{FF2B5EF4-FFF2-40B4-BE49-F238E27FC236}">
                <a16:creationId xmlns:a16="http://schemas.microsoft.com/office/drawing/2014/main" id="{3B77F725-7C19-423C-AC1C-70E726FE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18824"/>
              </a:srgbClr>
            </a:solidFill>
            <a:prstDash val="solid"/>
          </a:ln>
        </p:spPr>
      </p:sp>
      <p:sp>
        <p:nvSpPr>
          <p:cNvPr id="15" name="s8-metric-num-2">
            <a:extLst xmlns:a="http://schemas.openxmlformats.org/drawingml/2006/main">
              <a:ext uri="{FF2B5EF4-FFF2-40B4-BE49-F238E27FC236}">
                <a16:creationId xmlns:a16="http://schemas.microsoft.com/office/drawing/2014/main" id="{703F3FFD-3DA7-414E-BE90-B9F7E13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381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6" name="s8-metric-name-2">
            <a:extLst xmlns:a="http://schemas.openxmlformats.org/drawingml/2006/main">
              <a:ext uri="{FF2B5EF4-FFF2-40B4-BE49-F238E27FC236}">
                <a16:creationId xmlns:a16="http://schemas.microsoft.com/office/drawing/2014/main" id="{90C73676-3F0C-442C-B85D-5C8090EF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381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VALUE</a:t>
            </a:r>
          </a:p>
        </p:txBody>
      </p:sp>
      <p:sp>
        <p:nvSpPr>
          <p:cNvPr id="17" name="s8-metric-copy-2">
            <a:extLst xmlns:a="http://schemas.openxmlformats.org/drawingml/2006/main">
              <a:ext uri="{FF2B5EF4-FFF2-40B4-BE49-F238E27FC236}">
                <a16:creationId xmlns:a16="http://schemas.microsoft.com/office/drawing/2014/main" id="{D1A9CEEE-5DF8-4F27-BC3E-127094E2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63867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rPr>
              <a:t>Servings or weight redirected</a:t>
            </a:r>
          </a:p>
        </p:txBody>
      </p:sp>
      <p:sp>
        <p:nvSpPr>
          <p:cNvPr id="18" name="s8-metric-rule-2">
            <a:extLst xmlns:a="http://schemas.openxmlformats.org/drawingml/2006/main">
              <a:ext uri="{FF2B5EF4-FFF2-40B4-BE49-F238E27FC236}">
                <a16:creationId xmlns:a16="http://schemas.microsoft.com/office/drawing/2014/main" id="{54A42905-3C68-486A-AB61-DAE8113A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815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18824"/>
              </a:srgbClr>
            </a:solidFill>
            <a:prstDash val="solid"/>
          </a:ln>
        </p:spPr>
      </p:sp>
      <p:sp>
        <p:nvSpPr>
          <p:cNvPr id="19" name="s8-metric-num-3">
            <a:extLst xmlns:a="http://schemas.openxmlformats.org/drawingml/2006/main">
              <a:ext uri="{FF2B5EF4-FFF2-40B4-BE49-F238E27FC236}">
                <a16:creationId xmlns:a16="http://schemas.microsoft.com/office/drawing/2014/main" id="{66D81D6B-EA56-4154-850B-3FF1548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5095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0" name="s8-metric-name-3">
            <a:extLst xmlns:a="http://schemas.openxmlformats.org/drawingml/2006/main">
              <a:ext uri="{FF2B5EF4-FFF2-40B4-BE49-F238E27FC236}">
                <a16:creationId xmlns:a16="http://schemas.microsoft.com/office/drawing/2014/main" id="{00883D5C-5B3D-48EB-9F49-45474BDE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0958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EFFICIENCY</a:t>
            </a:r>
          </a:p>
        </p:txBody>
      </p:sp>
      <p:sp>
        <p:nvSpPr>
          <p:cNvPr id="21" name="s8-metric-copy-3">
            <a:extLst xmlns:a="http://schemas.openxmlformats.org/drawingml/2006/main">
              <a:ext uri="{FF2B5EF4-FFF2-40B4-BE49-F238E27FC236}">
                <a16:creationId xmlns:a16="http://schemas.microsoft.com/office/drawing/2014/main" id="{97841372-D39F-45E3-881C-12D7E605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3530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0211A">
                    <a:alpha val="70196"/>
                  </a:srgbClr>
                </a:solidFill>
                <a:latin typeface="Aptos"/>
                <a:ea typeface="Aptos"/>
                <a:cs typeface="Aptos"/>
              </a:rPr>
              <a:t>Cost per completed route</a:t>
            </a:r>
          </a:p>
        </p:txBody>
      </p:sp>
      <p:sp>
        <p:nvSpPr>
          <p:cNvPr id="22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03FBC03F-A4EB-4E6C-BD4E-093994B2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5098"/>
              </a:srgbClr>
            </a:solidFill>
            <a:prstDash val="solid"/>
          </a:ln>
        </p:spPr>
      </p:sp>
      <p:sp>
        <p:nvSpPr>
          <p:cNvPr id="23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47481298-3207-4257-AA62-1E43C77C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2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D43BF3EC-9F8E-48A2-A772-234E11BC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360014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5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9">
            <a:extLst xmlns:a="http://schemas.openxmlformats.org/drawingml/2006/main">
              <a:ext uri="{FF2B5EF4-FFF2-40B4-BE49-F238E27FC236}">
                <a16:creationId xmlns:a16="http://schemas.microsoft.com/office/drawing/2014/main" id="{839B3E13-7F31-4780-9A43-41F0248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eyebrow-9-THE PROPOSED PILOT">
            <a:extLst xmlns:a="http://schemas.openxmlformats.org/drawingml/2006/main">
              <a:ext uri="{FF2B5EF4-FFF2-40B4-BE49-F238E27FC236}">
                <a16:creationId xmlns:a16="http://schemas.microsoft.com/office/drawing/2014/main" id="{EE23D574-2F6F-4647-9A16-0540E5E9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THE PROPOSED PILOT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58FE0996-7201-4DDC-B17B-4173B00B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Eight weeks can prove the operating rhythm.</a:t>
            </a:r>
          </a:p>
        </p:txBody>
      </p:sp>
      <p:sp>
        <p:nvSpPr>
          <p:cNvPr id="4" name="s9-label">
            <a:extLst xmlns:a="http://schemas.openxmlformats.org/drawingml/2006/main">
              <a:ext uri="{FF2B5EF4-FFF2-40B4-BE49-F238E27FC236}">
                <a16:creationId xmlns:a16="http://schemas.microsoft.com/office/drawing/2014/main" id="{8EC0A286-F4ED-4CFF-88B9-71C874DD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3526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05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PROPOSED PARAMETERS</a:t>
            </a:r>
          </a:p>
        </p:txBody>
      </p:sp>
      <p:sp>
        <p:nvSpPr>
          <p:cNvPr id="5" name="s9-params">
            <a:extLst xmlns:a="http://schemas.openxmlformats.org/drawingml/2006/main">
              <a:ext uri="{FF2B5EF4-FFF2-40B4-BE49-F238E27FC236}">
                <a16:creationId xmlns:a16="http://schemas.microsoft.com/office/drawing/2014/main" id="{77751914-8F8D-43F9-830F-24D766A4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6765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5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1 PILOT ZONE   /   12 KITCHENS   /   3 COMMUNITY PARTNERS   /   WEEKLY REVIEW</a:t>
            </a:r>
          </a:p>
        </p:txBody>
      </p:sp>
      <p:sp>
        <p:nvSpPr>
          <p:cNvPr id="6" name="s9-top-rule-0">
            <a:extLst xmlns:a="http://schemas.openxmlformats.org/drawingml/2006/main">
              <a:ext uri="{FF2B5EF4-FFF2-40B4-BE49-F238E27FC236}">
                <a16:creationId xmlns:a16="http://schemas.microsoft.com/office/drawing/2014/main" id="{7C4B0008-B1FA-4858-8DC4-365FED4F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43922"/>
              </a:srgbClr>
            </a:solidFill>
            <a:prstDash val="solid"/>
          </a:ln>
        </p:spPr>
      </p:sp>
      <p:sp>
        <p:nvSpPr>
          <p:cNvPr id="7" name="s9-circle-0">
            <a:extLst xmlns:a="http://schemas.openxmlformats.org/drawingml/2006/main">
              <a:ext uri="{FF2B5EF4-FFF2-40B4-BE49-F238E27FC236}">
                <a16:creationId xmlns:a16="http://schemas.microsoft.com/office/drawing/2014/main" id="{A6CAF623-BC3D-4A97-BE47-C47D29D8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629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4288">
            <a:solidFill>
              <a:srgbClr val="10211A"/>
            </a:solidFill>
            <a:prstDash val="solid"/>
          </a:ln>
        </p:spPr>
      </p:sp>
      <p:sp>
        <p:nvSpPr>
          <p:cNvPr id="8" name="s9-num-0">
            <a:extLst xmlns:a="http://schemas.openxmlformats.org/drawingml/2006/main">
              <a:ext uri="{FF2B5EF4-FFF2-40B4-BE49-F238E27FC236}">
                <a16:creationId xmlns:a16="http://schemas.microsoft.com/office/drawing/2014/main" id="{34B279F5-04CC-4B16-A920-F34BF75C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752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9" name="s9-week-0">
            <a:extLst xmlns:a="http://schemas.openxmlformats.org/drawingml/2006/main">
              <a:ext uri="{FF2B5EF4-FFF2-40B4-BE49-F238E27FC236}">
                <a16:creationId xmlns:a16="http://schemas.microsoft.com/office/drawing/2014/main" id="{816A3CA9-80E5-4F48-9AFE-3C02B5E6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62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WEEKS 1–2</a:t>
            </a:r>
          </a:p>
        </p:txBody>
      </p:sp>
      <p:sp>
        <p:nvSpPr>
          <p:cNvPr id="10" name="s9-phase-0">
            <a:extLst xmlns:a="http://schemas.openxmlformats.org/drawingml/2006/main">
              <a:ext uri="{FF2B5EF4-FFF2-40B4-BE49-F238E27FC236}">
                <a16:creationId xmlns:a16="http://schemas.microsoft.com/office/drawing/2014/main" id="{B6EF7A05-5106-4827-B426-39A79CBB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62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11" name="s9-copy-0">
            <a:extLst xmlns:a="http://schemas.openxmlformats.org/drawingml/2006/main">
              <a:ext uri="{FF2B5EF4-FFF2-40B4-BE49-F238E27FC236}">
                <a16:creationId xmlns:a16="http://schemas.microsoft.com/office/drawing/2014/main" id="{59331E21-3249-4883-85FD-DD2C6061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2768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rPr>
              <a:t>Confirm partners, constraints, and baseline.</a:t>
            </a:r>
          </a:p>
        </p:txBody>
      </p:sp>
      <p:sp>
        <p:nvSpPr>
          <p:cNvPr id="12" name="s9-top-rule-1">
            <a:extLst xmlns:a="http://schemas.openxmlformats.org/drawingml/2006/main">
              <a:ext uri="{FF2B5EF4-FFF2-40B4-BE49-F238E27FC236}">
                <a16:creationId xmlns:a16="http://schemas.microsoft.com/office/drawing/2014/main" id="{AC1F1B91-E07F-42D5-A690-DBA1954C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43922"/>
              </a:srgbClr>
            </a:solidFill>
            <a:prstDash val="solid"/>
          </a:ln>
        </p:spPr>
      </p:sp>
      <p:sp>
        <p:nvSpPr>
          <p:cNvPr id="13" name="s9-circle-1">
            <a:extLst xmlns:a="http://schemas.openxmlformats.org/drawingml/2006/main">
              <a:ext uri="{FF2B5EF4-FFF2-40B4-BE49-F238E27FC236}">
                <a16:creationId xmlns:a16="http://schemas.microsoft.com/office/drawing/2014/main" id="{76EF5A50-6AA6-428D-8BE5-ABC5E4C8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3629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4288">
            <a:solidFill>
              <a:srgbClr val="10211A"/>
            </a:solidFill>
            <a:prstDash val="solid"/>
          </a:ln>
        </p:spPr>
      </p:sp>
      <p:sp>
        <p:nvSpPr>
          <p:cNvPr id="14" name="s9-num-1">
            <a:extLst xmlns:a="http://schemas.openxmlformats.org/drawingml/2006/main">
              <a:ext uri="{FF2B5EF4-FFF2-40B4-BE49-F238E27FC236}">
                <a16:creationId xmlns:a16="http://schemas.microsoft.com/office/drawing/2014/main" id="{5F226E09-37AA-4EC7-B82B-D4C70046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3752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s9-week-1">
            <a:extLst xmlns:a="http://schemas.openxmlformats.org/drawingml/2006/main">
              <a:ext uri="{FF2B5EF4-FFF2-40B4-BE49-F238E27FC236}">
                <a16:creationId xmlns:a16="http://schemas.microsoft.com/office/drawing/2014/main" id="{956F72A4-EC6C-419A-A875-73F1C625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362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WEEKS 3–4</a:t>
            </a:r>
          </a:p>
        </p:txBody>
      </p:sp>
      <p:sp>
        <p:nvSpPr>
          <p:cNvPr id="16" name="s9-phase-1">
            <a:extLst xmlns:a="http://schemas.openxmlformats.org/drawingml/2006/main">
              <a:ext uri="{FF2B5EF4-FFF2-40B4-BE49-F238E27FC236}">
                <a16:creationId xmlns:a16="http://schemas.microsoft.com/office/drawing/2014/main" id="{F58D6836-99B8-402C-A350-EF80CB84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762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SET UP</a:t>
            </a:r>
          </a:p>
        </p:txBody>
      </p:sp>
      <p:sp>
        <p:nvSpPr>
          <p:cNvPr id="17" name="s9-copy-1">
            <a:extLst xmlns:a="http://schemas.openxmlformats.org/drawingml/2006/main">
              <a:ext uri="{FF2B5EF4-FFF2-40B4-BE49-F238E27FC236}">
                <a16:creationId xmlns:a16="http://schemas.microsoft.com/office/drawing/2014/main" id="{6D8E34B8-53CB-4244-A1BF-28BF5562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52768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rPr>
              <a:t>Configure routes, training, and templates.</a:t>
            </a:r>
          </a:p>
        </p:txBody>
      </p:sp>
      <p:sp>
        <p:nvSpPr>
          <p:cNvPr id="18" name="s9-top-rule-2">
            <a:extLst xmlns:a="http://schemas.openxmlformats.org/drawingml/2006/main">
              <a:ext uri="{FF2B5EF4-FFF2-40B4-BE49-F238E27FC236}">
                <a16:creationId xmlns:a16="http://schemas.microsoft.com/office/drawing/2014/main" id="{AE801D3F-2652-4FD7-8B1D-681247DD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43922"/>
              </a:srgbClr>
            </a:solidFill>
            <a:prstDash val="solid"/>
          </a:ln>
        </p:spPr>
      </p:sp>
      <p:sp>
        <p:nvSpPr>
          <p:cNvPr id="19" name="s9-circle-2">
            <a:extLst xmlns:a="http://schemas.openxmlformats.org/drawingml/2006/main">
              <a:ext uri="{FF2B5EF4-FFF2-40B4-BE49-F238E27FC236}">
                <a16:creationId xmlns:a16="http://schemas.microsoft.com/office/drawing/2014/main" id="{6DE37C73-0159-4EAF-B030-95B73D0C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3629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14288">
            <a:solidFill>
              <a:srgbClr val="10211A"/>
            </a:solidFill>
            <a:prstDash val="solid"/>
          </a:ln>
        </p:spPr>
      </p:sp>
      <p:sp>
        <p:nvSpPr>
          <p:cNvPr id="20" name="s9-num-2">
            <a:extLst xmlns:a="http://schemas.openxmlformats.org/drawingml/2006/main">
              <a:ext uri="{FF2B5EF4-FFF2-40B4-BE49-F238E27FC236}">
                <a16:creationId xmlns:a16="http://schemas.microsoft.com/office/drawing/2014/main" id="{D2936BD8-7841-4CB0-A085-EC2F4BB7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752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1" name="s9-week-2">
            <a:extLst xmlns:a="http://schemas.openxmlformats.org/drawingml/2006/main">
              <a:ext uri="{FF2B5EF4-FFF2-40B4-BE49-F238E27FC236}">
                <a16:creationId xmlns:a16="http://schemas.microsoft.com/office/drawing/2014/main" id="{1725DDAE-C6EB-436A-A968-D8109D9B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362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WEEKS 5–6</a:t>
            </a:r>
          </a:p>
        </p:txBody>
      </p:sp>
      <p:sp>
        <p:nvSpPr>
          <p:cNvPr id="22" name="s9-phase-2">
            <a:extLst xmlns:a="http://schemas.openxmlformats.org/drawingml/2006/main">
              <a:ext uri="{FF2B5EF4-FFF2-40B4-BE49-F238E27FC236}">
                <a16:creationId xmlns:a16="http://schemas.microsoft.com/office/drawing/2014/main" id="{59543FE7-521B-49DB-A331-D7FE71E0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762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3" name="s9-copy-2">
            <a:extLst xmlns:a="http://schemas.openxmlformats.org/drawingml/2006/main">
              <a:ext uri="{FF2B5EF4-FFF2-40B4-BE49-F238E27FC236}">
                <a16:creationId xmlns:a16="http://schemas.microsoft.com/office/drawing/2014/main" id="{70A89C77-D6B2-4951-B2EF-D7D32F37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2768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rPr>
              <a:t>Operate pickups and review exceptions.</a:t>
            </a:r>
          </a:p>
        </p:txBody>
      </p:sp>
      <p:sp>
        <p:nvSpPr>
          <p:cNvPr id="24" name="s9-top-rule-3">
            <a:extLst xmlns:a="http://schemas.openxmlformats.org/drawingml/2006/main">
              <a:ext uri="{FF2B5EF4-FFF2-40B4-BE49-F238E27FC236}">
                <a16:creationId xmlns:a16="http://schemas.microsoft.com/office/drawing/2014/main" id="{1D6A0643-566D-4212-BF6A-21472835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43922"/>
              </a:srgbClr>
            </a:solidFill>
            <a:prstDash val="solid"/>
          </a:ln>
        </p:spPr>
      </p:sp>
      <p:sp>
        <p:nvSpPr>
          <p:cNvPr id="25" name="s9-circle-3">
            <a:extLst xmlns:a="http://schemas.openxmlformats.org/drawingml/2006/main">
              <a:ext uri="{FF2B5EF4-FFF2-40B4-BE49-F238E27FC236}">
                <a16:creationId xmlns:a16="http://schemas.microsoft.com/office/drawing/2014/main" id="{0F049F24-09B9-4DBE-A146-53F5A383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629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4288">
            <a:solidFill>
              <a:srgbClr val="10211A"/>
            </a:solidFill>
            <a:prstDash val="solid"/>
          </a:ln>
        </p:spPr>
      </p:sp>
      <p:sp>
        <p:nvSpPr>
          <p:cNvPr id="26" name="s9-num-3">
            <a:extLst xmlns:a="http://schemas.openxmlformats.org/drawingml/2006/main">
              <a:ext uri="{FF2B5EF4-FFF2-40B4-BE49-F238E27FC236}">
                <a16:creationId xmlns:a16="http://schemas.microsoft.com/office/drawing/2014/main" id="{4449E295-3D48-4783-B667-14CA6005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3752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7" name="s9-week-3">
            <a:extLst xmlns:a="http://schemas.openxmlformats.org/drawingml/2006/main">
              <a:ext uri="{FF2B5EF4-FFF2-40B4-BE49-F238E27FC236}">
                <a16:creationId xmlns:a16="http://schemas.microsoft.com/office/drawing/2014/main" id="{4C2F5E21-3893-4270-BD19-EB45D6B3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4362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WEEKS 7–8</a:t>
            </a:r>
          </a:p>
        </p:txBody>
      </p:sp>
      <p:sp>
        <p:nvSpPr>
          <p:cNvPr id="28" name="s9-phase-3">
            <a:extLst xmlns:a="http://schemas.openxmlformats.org/drawingml/2006/main">
              <a:ext uri="{FF2B5EF4-FFF2-40B4-BE49-F238E27FC236}">
                <a16:creationId xmlns:a16="http://schemas.microsoft.com/office/drawing/2014/main" id="{20FF41C5-5B64-45F3-AAB6-5CFF4D1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4762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29" name="s9-copy-3">
            <a:extLst xmlns:a="http://schemas.openxmlformats.org/drawingml/2006/main">
              <a:ext uri="{FF2B5EF4-FFF2-40B4-BE49-F238E27FC236}">
                <a16:creationId xmlns:a16="http://schemas.microsoft.com/office/drawing/2014/main" id="{1FDEF2CF-5532-48B4-9707-2831455D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52768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rPr>
              <a:t>Compare signals and recommend scale.</a:t>
            </a:r>
          </a:p>
        </p:txBody>
      </p:sp>
      <p:sp>
        <p:nvSpPr>
          <p:cNvPr id="30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2EA4F68D-DD81-4736-A078-61F76249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5098"/>
              </a:srgbClr>
            </a:solidFill>
            <a:prstDash val="solid"/>
          </a:ln>
        </p:spPr>
      </p:sp>
      <p:sp>
        <p:nvSpPr>
          <p:cNvPr id="31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7EC8580A-1C28-4073-8797-959571E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3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0DCA22B-D295-4822-9B1F-269334D8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851013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10">
            <a:extLst xmlns:a="http://schemas.openxmlformats.org/drawingml/2006/main">
              <a:ext uri="{FF2B5EF4-FFF2-40B4-BE49-F238E27FC236}">
                <a16:creationId xmlns:a16="http://schemas.microsoft.com/office/drawing/2014/main" id="{1608E7ED-EC4B-41F9-91EA-4A058BF9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eyebrow-10-THE PARTNERSHIP VALUE">
            <a:extLst xmlns:a="http://schemas.openxmlformats.org/drawingml/2006/main">
              <a:ext uri="{FF2B5EF4-FFF2-40B4-BE49-F238E27FC236}">
                <a16:creationId xmlns:a16="http://schemas.microsoft.com/office/drawing/2014/main" id="{C07FB3C7-5E6E-4B2E-85EE-3E45568B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BDCCB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BBDCCB"/>
                </a:solidFill>
                <a:latin typeface="Aptos Mono"/>
                <a:ea typeface="Aptos Mono"/>
                <a:cs typeface="Aptos Mono"/>
              </a:rPr>
              <a:t>THE PARTNERSHIP VALUE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4AB6439D-746B-4EB6-B990-1BA0F797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390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Sponsors fund the connective tissue.</a:t>
            </a:r>
          </a:p>
        </p:txBody>
      </p:sp>
      <p:sp>
        <p:nvSpPr>
          <p:cNvPr id="4" name="s10-body">
            <a:extLst xmlns:a="http://schemas.openxmlformats.org/drawingml/2006/main">
              <a:ext uri="{FF2B5EF4-FFF2-40B4-BE49-F238E27FC236}">
                <a16:creationId xmlns:a16="http://schemas.microsoft.com/office/drawing/2014/main" id="{140DEFDC-A300-4F33-BE4F-508F8F72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002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4F0E8">
                    <a:alpha val="6588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4F0E8">
                    <a:alpha val="65882"/>
                  </a:srgbClr>
                </a:solidFill>
                <a:latin typeface="Aptos"/>
                <a:ea typeface="Aptos"/>
                <a:cs typeface="Aptos"/>
              </a:rPr>
              <a:t>Support becomes more useful when it strengthens the shared route—not just one isolated moment.</a:t>
            </a:r>
          </a:p>
        </p:txBody>
      </p:sp>
      <p:sp>
        <p:nvSpPr>
          <p:cNvPr id="5" name="s10-circle-0">
            <a:extLst xmlns:a="http://schemas.openxmlformats.org/drawingml/2006/main">
              <a:ext uri="{FF2B5EF4-FFF2-40B4-BE49-F238E27FC236}">
                <a16:creationId xmlns:a16="http://schemas.microsoft.com/office/drawing/2014/main" id="{B3789431-02A1-4E4B-8E60-4AB931CF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0765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19050">
            <a:solidFill>
              <a:srgbClr val="F4F0E8"/>
            </a:solidFill>
            <a:prstDash val="solid"/>
          </a:ln>
        </p:spPr>
      </p:sp>
      <p:sp>
        <p:nvSpPr>
          <p:cNvPr id="6" name="s10-num-0">
            <a:extLst xmlns:a="http://schemas.openxmlformats.org/drawingml/2006/main">
              <a:ext uri="{FF2B5EF4-FFF2-40B4-BE49-F238E27FC236}">
                <a16:creationId xmlns:a16="http://schemas.microsoft.com/office/drawing/2014/main" id="{93EDA780-AE01-4ADC-8A95-191A5432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s10-title-0">
            <a:extLst xmlns:a="http://schemas.openxmlformats.org/drawingml/2006/main">
              <a:ext uri="{FF2B5EF4-FFF2-40B4-BE49-F238E27FC236}">
                <a16:creationId xmlns:a16="http://schemas.microsoft.com/office/drawing/2014/main" id="{3AA3CCAE-024A-4893-9E6D-03298918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99097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OPERATE</a:t>
            </a:r>
          </a:p>
        </p:txBody>
      </p:sp>
      <p:sp>
        <p:nvSpPr>
          <p:cNvPr id="8" name="s10-copy-0">
            <a:extLst xmlns:a="http://schemas.openxmlformats.org/drawingml/2006/main">
              <a:ext uri="{FF2B5EF4-FFF2-40B4-BE49-F238E27FC236}">
                <a16:creationId xmlns:a16="http://schemas.microsoft.com/office/drawing/2014/main" id="{14DF6447-44F6-4559-B0F8-7B2DE7AB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291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4F0E8">
                    <a:alpha val="7215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4F0E8">
                    <a:alpha val="72157"/>
                  </a:srgbClr>
                </a:solidFill>
                <a:latin typeface="Aptos"/>
                <a:ea typeface="Aptos"/>
                <a:cs typeface="Aptos"/>
              </a:rPr>
              <a:t>Fund route coordination, cold-chain basics, and partner onboarding.</a:t>
            </a:r>
          </a:p>
        </p:txBody>
      </p:sp>
      <p:sp>
        <p:nvSpPr>
          <p:cNvPr id="9" name="s10-divider-0">
            <a:extLst xmlns:a="http://schemas.openxmlformats.org/drawingml/2006/main">
              <a:ext uri="{FF2B5EF4-FFF2-40B4-BE49-F238E27FC236}">
                <a16:creationId xmlns:a16="http://schemas.microsoft.com/office/drawing/2014/main" id="{B6B30BD3-6B6A-4A78-808C-56B83977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F0E8">
                <a:alpha val="22745"/>
              </a:srgbClr>
            </a:solidFill>
            <a:prstDash val="solid"/>
          </a:ln>
        </p:spPr>
      </p:sp>
      <p:sp>
        <p:nvSpPr>
          <p:cNvPr id="10" name="s10-circle-1">
            <a:extLst xmlns:a="http://schemas.openxmlformats.org/drawingml/2006/main">
              <a:ext uri="{FF2B5EF4-FFF2-40B4-BE49-F238E27FC236}">
                <a16:creationId xmlns:a16="http://schemas.microsoft.com/office/drawing/2014/main" id="{25B74880-815E-4858-AF6D-928FBCEA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0765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19050">
            <a:solidFill>
              <a:srgbClr val="F4F0E8"/>
            </a:solidFill>
            <a:prstDash val="solid"/>
          </a:ln>
        </p:spPr>
      </p:sp>
      <p:sp>
        <p:nvSpPr>
          <p:cNvPr id="11" name="s10-num-1">
            <a:extLst xmlns:a="http://schemas.openxmlformats.org/drawingml/2006/main">
              <a:ext uri="{FF2B5EF4-FFF2-40B4-BE49-F238E27FC236}">
                <a16:creationId xmlns:a16="http://schemas.microsoft.com/office/drawing/2014/main" id="{9B0F8D86-F65D-4A09-8C18-5D2428CC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s10-title-1">
            <a:extLst xmlns:a="http://schemas.openxmlformats.org/drawingml/2006/main">
              <a:ext uri="{FF2B5EF4-FFF2-40B4-BE49-F238E27FC236}">
                <a16:creationId xmlns:a16="http://schemas.microsoft.com/office/drawing/2014/main" id="{997C6503-5B70-4903-A8DC-E8870969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99097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3" name="s10-copy-1">
            <a:extLst xmlns:a="http://schemas.openxmlformats.org/drawingml/2006/main">
              <a:ext uri="{FF2B5EF4-FFF2-40B4-BE49-F238E27FC236}">
                <a16:creationId xmlns:a16="http://schemas.microsoft.com/office/drawing/2014/main" id="{AC75E671-237B-4990-A774-4712E210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6291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4F0E8">
                    <a:alpha val="7215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4F0E8">
                    <a:alpha val="72157"/>
                  </a:srgbClr>
                </a:solidFill>
                <a:latin typeface="Aptos"/>
                <a:ea typeface="Aptos"/>
                <a:cs typeface="Aptos"/>
              </a:rPr>
              <a:t>Open kitchen and community referrals that strengthen the network.</a:t>
            </a:r>
          </a:p>
        </p:txBody>
      </p:sp>
      <p:sp>
        <p:nvSpPr>
          <p:cNvPr id="14" name="s10-divider-1">
            <a:extLst xmlns:a="http://schemas.openxmlformats.org/drawingml/2006/main">
              <a:ext uri="{FF2B5EF4-FFF2-40B4-BE49-F238E27FC236}">
                <a16:creationId xmlns:a16="http://schemas.microsoft.com/office/drawing/2014/main" id="{4C34FB0D-D2D1-4C93-BFDB-70BEA5A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F0E8">
                <a:alpha val="22745"/>
              </a:srgbClr>
            </a:solidFill>
            <a:prstDash val="solid"/>
          </a:ln>
        </p:spPr>
      </p:sp>
      <p:sp>
        <p:nvSpPr>
          <p:cNvPr id="15" name="s10-circle-2">
            <a:extLst xmlns:a="http://schemas.openxmlformats.org/drawingml/2006/main">
              <a:ext uri="{FF2B5EF4-FFF2-40B4-BE49-F238E27FC236}">
                <a16:creationId xmlns:a16="http://schemas.microsoft.com/office/drawing/2014/main" id="{3AA8B3C8-F097-414B-8419-B04E3BF5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0765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19050">
            <a:solidFill>
              <a:srgbClr val="F4F0E8"/>
            </a:solidFill>
            <a:prstDash val="solid"/>
          </a:ln>
        </p:spPr>
      </p:sp>
      <p:sp>
        <p:nvSpPr>
          <p:cNvPr id="16" name="s10-num-2">
            <a:extLst xmlns:a="http://schemas.openxmlformats.org/drawingml/2006/main">
              <a:ext uri="{FF2B5EF4-FFF2-40B4-BE49-F238E27FC236}">
                <a16:creationId xmlns:a16="http://schemas.microsoft.com/office/drawing/2014/main" id="{0339F4F9-243A-4A9D-8CB8-546BFFD3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7" name="s10-title-2">
            <a:extLst xmlns:a="http://schemas.openxmlformats.org/drawingml/2006/main">
              <a:ext uri="{FF2B5EF4-FFF2-40B4-BE49-F238E27FC236}">
                <a16:creationId xmlns:a16="http://schemas.microsoft.com/office/drawing/2014/main" id="{C8973D6A-FE6C-4E84-848C-1D3D077F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99097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4F0E8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18" name="s10-copy-2">
            <a:extLst xmlns:a="http://schemas.openxmlformats.org/drawingml/2006/main">
              <a:ext uri="{FF2B5EF4-FFF2-40B4-BE49-F238E27FC236}">
                <a16:creationId xmlns:a16="http://schemas.microsoft.com/office/drawing/2014/main" id="{98F23CF2-AA06-4638-B086-D14575E9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6291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4F0E8">
                    <a:alpha val="7215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4F0E8">
                    <a:alpha val="72157"/>
                  </a:srgbClr>
                </a:solidFill>
                <a:latin typeface="Aptos"/>
                <a:ea typeface="Aptos"/>
                <a:cs typeface="Aptos"/>
              </a:rPr>
              <a:t>Review pilot signals and help define the next investment decision.</a:t>
            </a:r>
          </a:p>
        </p:txBody>
      </p:sp>
      <p:sp>
        <p:nvSpPr>
          <p:cNvPr id="19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493CE5B9-01B2-428D-9EB8-9623A36F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F0E8">
                <a:alpha val="30196"/>
              </a:srgbClr>
            </a:solidFill>
            <a:prstDash val="solid"/>
          </a:ln>
        </p:spPr>
      </p:sp>
      <p:sp>
        <p:nvSpPr>
          <p:cNvPr id="20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30A9DDC6-FF99-42E9-808E-BA1414AB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4F0E8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F4F0E8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21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8A44230D-557C-478F-AFCF-1B534D0B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F4F0E8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F4F0E8"/>
                </a:solidFill>
                <a:latin typeface="Aptos Mono"/>
                <a:ea typeface="Aptos Mono"/>
                <a:cs typeface="Aptos Mono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5313297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11">
            <a:extLst xmlns:a="http://schemas.openxmlformats.org/drawingml/2006/main">
              <a:ext uri="{FF2B5EF4-FFF2-40B4-BE49-F238E27FC236}">
                <a16:creationId xmlns:a16="http://schemas.microsoft.com/office/drawing/2014/main" id="{75CE9569-1B34-49E9-B870-565F57F4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eyebrow-11-THE DECISION">
            <a:extLst xmlns:a="http://schemas.openxmlformats.org/drawingml/2006/main">
              <a:ext uri="{FF2B5EF4-FFF2-40B4-BE49-F238E27FC236}">
                <a16:creationId xmlns:a16="http://schemas.microsoft.com/office/drawing/2014/main" id="{57DAD83B-670E-4CDC-83C6-E78EC4DF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THE DECISION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A62E0C01-219B-4F7A-8C05-1E14CE69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252"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427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A focused pilot needs three commitments.</a:t>
            </a:r>
          </a:p>
        </p:txBody>
      </p:sp>
      <p:sp>
        <p:nvSpPr>
          <p:cNvPr id="4" name="s11-rule-0">
            <a:extLst xmlns:a="http://schemas.openxmlformats.org/drawingml/2006/main">
              <a:ext uri="{FF2B5EF4-FFF2-40B4-BE49-F238E27FC236}">
                <a16:creationId xmlns:a16="http://schemas.microsoft.com/office/drawing/2014/main" id="{3EDF1D1B-F8BB-4D9D-9E77-FE77E62C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2745"/>
              </a:srgbClr>
            </a:solidFill>
            <a:prstDash val="solid"/>
          </a:ln>
        </p:spPr>
      </p:sp>
      <p:sp>
        <p:nvSpPr>
          <p:cNvPr id="5" name="s11-num-0">
            <a:extLst xmlns:a="http://schemas.openxmlformats.org/drawingml/2006/main">
              <a:ext uri="{FF2B5EF4-FFF2-40B4-BE49-F238E27FC236}">
                <a16:creationId xmlns:a16="http://schemas.microsoft.com/office/drawing/2014/main" id="{DD6C2671-B2E1-45BF-AF98-E113E418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71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6" name="s11-name-0">
            <a:extLst xmlns:a="http://schemas.openxmlformats.org/drawingml/2006/main">
              <a:ext uri="{FF2B5EF4-FFF2-40B4-BE49-F238E27FC236}">
                <a16:creationId xmlns:a16="http://schemas.microsoft.com/office/drawing/2014/main" id="{AC8931C9-A602-4B8A-9D2F-A5F19886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29146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A sponsor lead</a:t>
            </a:r>
          </a:p>
        </p:txBody>
      </p:sp>
      <p:sp>
        <p:nvSpPr>
          <p:cNvPr id="7" name="s11-copy-0">
            <a:extLst xmlns:a="http://schemas.openxmlformats.org/drawingml/2006/main">
              <a:ext uri="{FF2B5EF4-FFF2-40B4-BE49-F238E27FC236}">
                <a16:creationId xmlns:a16="http://schemas.microsoft.com/office/drawing/2014/main" id="{1CD4DEA7-13D9-4850-A8D5-284B3EB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9432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211A">
                    <a:alpha val="6588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11A">
                    <a:alpha val="65882"/>
                  </a:srgbClr>
                </a:solidFill>
                <a:latin typeface="Aptos"/>
                <a:ea typeface="Aptos"/>
                <a:cs typeface="Aptos"/>
              </a:rPr>
              <a:t>One accountable partner who can unblock decisions.</a:t>
            </a:r>
          </a:p>
        </p:txBody>
      </p:sp>
      <p:sp>
        <p:nvSpPr>
          <p:cNvPr id="8" name="s11-check-0">
            <a:extLst xmlns:a="http://schemas.openxmlformats.org/drawingml/2006/main">
              <a:ext uri="{FF2B5EF4-FFF2-40B4-BE49-F238E27FC236}">
                <a16:creationId xmlns:a16="http://schemas.microsoft.com/office/drawing/2014/main" id="{EB2482D8-A61C-42E7-979B-C487E251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9525">
            <a:solidFill>
              <a:srgbClr val="10211A"/>
            </a:solidFill>
            <a:prstDash val="solid"/>
          </a:ln>
        </p:spPr>
      </p:sp>
      <p:sp>
        <p:nvSpPr>
          <p:cNvPr id="9" name="s11-arrow-0">
            <a:extLst xmlns:a="http://schemas.openxmlformats.org/drawingml/2006/main">
              <a:ext uri="{FF2B5EF4-FFF2-40B4-BE49-F238E27FC236}">
                <a16:creationId xmlns:a16="http://schemas.microsoft.com/office/drawing/2014/main" id="{A64FA38C-9737-4AE1-8BE9-29630D7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2971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s11-rule-1">
            <a:extLst xmlns:a="http://schemas.openxmlformats.org/drawingml/2006/main">
              <a:ext uri="{FF2B5EF4-FFF2-40B4-BE49-F238E27FC236}">
                <a16:creationId xmlns:a16="http://schemas.microsoft.com/office/drawing/2014/main" id="{857E36D3-681A-4A95-AB64-E1C5943E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2745"/>
              </a:srgbClr>
            </a:solidFill>
            <a:prstDash val="solid"/>
          </a:ln>
        </p:spPr>
      </p:sp>
      <p:sp>
        <p:nvSpPr>
          <p:cNvPr id="11" name="s11-num-1">
            <a:extLst xmlns:a="http://schemas.openxmlformats.org/drawingml/2006/main">
              <a:ext uri="{FF2B5EF4-FFF2-40B4-BE49-F238E27FC236}">
                <a16:creationId xmlns:a16="http://schemas.microsoft.com/office/drawing/2014/main" id="{C26C0DEF-74CC-474E-AA65-4D5EBB8D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962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s11-name-1">
            <a:extLst xmlns:a="http://schemas.openxmlformats.org/drawingml/2006/main">
              <a:ext uri="{FF2B5EF4-FFF2-40B4-BE49-F238E27FC236}">
                <a16:creationId xmlns:a16="http://schemas.microsoft.com/office/drawing/2014/main" id="{2CD03588-B6A4-4053-B4CE-DCAF6914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3905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A pilot zone</a:t>
            </a:r>
          </a:p>
        </p:txBody>
      </p:sp>
      <p:sp>
        <p:nvSpPr>
          <p:cNvPr id="13" name="s11-copy-1">
            <a:extLst xmlns:a="http://schemas.openxmlformats.org/drawingml/2006/main">
              <a:ext uri="{FF2B5EF4-FFF2-40B4-BE49-F238E27FC236}">
                <a16:creationId xmlns:a16="http://schemas.microsoft.com/office/drawing/2014/main" id="{652CFFAA-0496-4ECF-9FAE-0F41C0E4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39338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211A">
                    <a:alpha val="6588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11A">
                    <a:alpha val="65882"/>
                  </a:srgbClr>
                </a:solidFill>
                <a:latin typeface="Aptos"/>
                <a:ea typeface="Aptos"/>
                <a:cs typeface="Aptos"/>
              </a:rPr>
              <a:t>A practical geography with real kitchen and community density.</a:t>
            </a:r>
          </a:p>
        </p:txBody>
      </p:sp>
      <p:sp>
        <p:nvSpPr>
          <p:cNvPr id="14" name="s11-check-1">
            <a:extLst xmlns:a="http://schemas.openxmlformats.org/drawingml/2006/main">
              <a:ext uri="{FF2B5EF4-FFF2-40B4-BE49-F238E27FC236}">
                <a16:creationId xmlns:a16="http://schemas.microsoft.com/office/drawing/2014/main" id="{67204910-EFF6-4C4E-A927-532C3D57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3933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9525">
            <a:solidFill>
              <a:srgbClr val="10211A"/>
            </a:solidFill>
            <a:prstDash val="solid"/>
          </a:ln>
        </p:spPr>
      </p:sp>
      <p:sp>
        <p:nvSpPr>
          <p:cNvPr id="15" name="s11-arrow-1">
            <a:extLst xmlns:a="http://schemas.openxmlformats.org/drawingml/2006/main">
              <a:ext uri="{FF2B5EF4-FFF2-40B4-BE49-F238E27FC236}">
                <a16:creationId xmlns:a16="http://schemas.microsoft.com/office/drawing/2014/main" id="{584E4D46-755B-4E9E-A9FB-065B1EAB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39624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s11-rule-2">
            <a:extLst xmlns:a="http://schemas.openxmlformats.org/drawingml/2006/main">
              <a:ext uri="{FF2B5EF4-FFF2-40B4-BE49-F238E27FC236}">
                <a16:creationId xmlns:a16="http://schemas.microsoft.com/office/drawing/2014/main" id="{D7172194-6EF5-4C67-B64B-320AF1CC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2745"/>
              </a:srgbClr>
            </a:solidFill>
            <a:prstDash val="solid"/>
          </a:ln>
        </p:spPr>
      </p:sp>
      <p:sp>
        <p:nvSpPr>
          <p:cNvPr id="17" name="s11-num-2">
            <a:extLst xmlns:a="http://schemas.openxmlformats.org/drawingml/2006/main">
              <a:ext uri="{FF2B5EF4-FFF2-40B4-BE49-F238E27FC236}">
                <a16:creationId xmlns:a16="http://schemas.microsoft.com/office/drawing/2014/main" id="{1E56F5E5-DD10-4905-81B4-F9224E2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953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defRPr>
            </a:pPr>
            <a:r>
              <a:rPr sz="1125" b="1" i="0">
                <a:solidFill>
                  <a:srgbClr val="F15B4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8" name="s11-name-2">
            <a:extLst xmlns:a="http://schemas.openxmlformats.org/drawingml/2006/main">
              <a:ext uri="{FF2B5EF4-FFF2-40B4-BE49-F238E27FC236}">
                <a16:creationId xmlns:a16="http://schemas.microsoft.com/office/drawing/2014/main" id="{F7A15230-9F3C-4BAA-BD33-710D3890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4895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A review cadence</a:t>
            </a:r>
          </a:p>
        </p:txBody>
      </p:sp>
      <p:sp>
        <p:nvSpPr>
          <p:cNvPr id="19" name="s11-copy-2">
            <a:extLst xmlns:a="http://schemas.openxmlformats.org/drawingml/2006/main">
              <a:ext uri="{FF2B5EF4-FFF2-40B4-BE49-F238E27FC236}">
                <a16:creationId xmlns:a16="http://schemas.microsoft.com/office/drawing/2014/main" id="{46201DE5-2A3C-4486-8139-D8226BCB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49244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211A">
                    <a:alpha val="6588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11A">
                    <a:alpha val="65882"/>
                  </a:srgbClr>
                </a:solidFill>
                <a:latin typeface="Aptos"/>
                <a:ea typeface="Aptos"/>
                <a:cs typeface="Aptos"/>
              </a:rPr>
              <a:t>A weekly operating review and an end-of-pilot decision session.</a:t>
            </a:r>
          </a:p>
        </p:txBody>
      </p:sp>
      <p:sp>
        <p:nvSpPr>
          <p:cNvPr id="20" name="s11-check-2">
            <a:extLst xmlns:a="http://schemas.openxmlformats.org/drawingml/2006/main">
              <a:ext uri="{FF2B5EF4-FFF2-40B4-BE49-F238E27FC236}">
                <a16:creationId xmlns:a16="http://schemas.microsoft.com/office/drawing/2014/main" id="{1D573E2E-93B3-4A12-A0B0-AD59ECF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4924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9525">
            <a:solidFill>
              <a:srgbClr val="10211A"/>
            </a:solidFill>
            <a:prstDash val="solid"/>
          </a:ln>
        </p:spPr>
      </p:sp>
      <p:sp>
        <p:nvSpPr>
          <p:cNvPr id="21" name="s11-arrow-2">
            <a:extLst xmlns:a="http://schemas.openxmlformats.org/drawingml/2006/main">
              <a:ext uri="{FF2B5EF4-FFF2-40B4-BE49-F238E27FC236}">
                <a16:creationId xmlns:a16="http://schemas.microsoft.com/office/drawing/2014/main" id="{559B8CB6-EA2B-4FAC-8B3D-0BBCF758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4953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s11-rule-end">
            <a:extLst xmlns:a="http://schemas.openxmlformats.org/drawingml/2006/main">
              <a:ext uri="{FF2B5EF4-FFF2-40B4-BE49-F238E27FC236}">
                <a16:creationId xmlns:a16="http://schemas.microsoft.com/office/drawing/2014/main" id="{C363962C-4F73-4516-8B81-8154B639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2745"/>
              </a:srgbClr>
            </a:solidFill>
            <a:prstDash val="solid"/>
          </a:ln>
        </p:spPr>
      </p:sp>
      <p:sp>
        <p:nvSpPr>
          <p:cNvPr id="2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794895D8-45C7-4B15-8F61-A5B00B79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11A">
                <a:alpha val="25098"/>
              </a:srgbClr>
            </a:solidFill>
            <a:prstDash val="solid"/>
          </a:ln>
        </p:spPr>
      </p:sp>
      <p:sp>
        <p:nvSpPr>
          <p:cNvPr id="24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EAC273AF-329A-402A-BFCC-0733A366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38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LOOPLINE° / PARTNERSHIP BRIEF</a:t>
            </a:r>
          </a:p>
        </p:txBody>
      </p:sp>
      <p:sp>
        <p:nvSpPr>
          <p:cNvPr id="2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8046E7AB-6AFA-4E94-AA9C-771517A0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4389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489468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C9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12">
            <a:extLst xmlns:a="http://schemas.openxmlformats.org/drawingml/2006/main">
              <a:ext uri="{FF2B5EF4-FFF2-40B4-BE49-F238E27FC236}">
                <a16:creationId xmlns:a16="http://schemas.microsoft.com/office/drawing/2014/main" id="{BC878676-6570-46F9-90ED-DF26EDD7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7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LOOPLINE°</a:t>
            </a:r>
          </a:p>
        </p:txBody>
      </p:sp>
      <p:sp>
        <p:nvSpPr>
          <p:cNvPr id="2" name="s12-meta">
            <a:extLst xmlns:a="http://schemas.openxmlformats.org/drawingml/2006/main">
              <a:ext uri="{FF2B5EF4-FFF2-40B4-BE49-F238E27FC236}">
                <a16:creationId xmlns:a16="http://schemas.microsoft.com/office/drawing/2014/main" id="{E76787CD-AEB8-41A9-920D-82A52D64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552450"/>
            <a:ext cx="331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7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NEXT STEP  /  PILOT DESIGN SESSION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0267C696-72AF-459F-ACF4-CE4816F4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762125"/>
            <a:ext cx="6667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675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675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HELP BUILD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6750" b="1" i="0">
                <a:solidFill>
                  <a:srgbClr val="10211A"/>
                </a:solidFill>
                <a:latin typeface="Aptos"/>
                <a:ea typeface="Aptos"/>
                <a:cs typeface="Aptos"/>
              </a:defRPr>
            </a:pPr>
            <a:r>
              <a:rPr sz="6750" b="1" i="0">
                <a:solidFill>
                  <a:srgbClr val="10211A"/>
                </a:solidFill>
                <a:latin typeface="Aptos"/>
                <a:ea typeface="Aptos"/>
                <a:cs typeface="Aptos"/>
              </a:rPr>
              <a:t>THE LOOP.</a:t>
            </a:r>
          </a:p>
        </p:txBody>
      </p:sp>
      <p:sp>
        <p:nvSpPr>
          <p:cNvPr id="4" name="s12-sub">
            <a:extLst xmlns:a="http://schemas.openxmlformats.org/drawingml/2006/main">
              <a:ext uri="{FF2B5EF4-FFF2-40B4-BE49-F238E27FC236}">
                <a16:creationId xmlns:a16="http://schemas.microsoft.com/office/drawing/2014/main" id="{A685DE5E-DD0F-4E92-9F73-15803D9F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1719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10211A">
                    <a:alpha val="70980"/>
                  </a:srgbClr>
                </a:solidFill>
                <a:latin typeface="Aptos"/>
                <a:ea typeface="Aptos"/>
                <a:cs typeface="Aptos"/>
              </a:rPr>
              <a:t>Approve a working session to select the pilot zone, sponsor lead, and operating assumptions.</a:t>
            </a:r>
          </a:p>
        </p:txBody>
      </p:sp>
      <p:sp>
        <p:nvSpPr>
          <p:cNvPr id="5" name="s12-action-rule">
            <a:extLst xmlns:a="http://schemas.openxmlformats.org/drawingml/2006/main">
              <a:ext uri="{FF2B5EF4-FFF2-40B4-BE49-F238E27FC236}">
                <a16:creationId xmlns:a16="http://schemas.microsoft.com/office/drawing/2014/main" id="{9A15A0FE-BC5C-45EA-84DF-7C58EE3B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1A"/>
            </a:solidFill>
            <a:prstDash val="solid"/>
          </a:ln>
        </p:spPr>
      </p:sp>
      <p:sp>
        <p:nvSpPr>
          <p:cNvPr id="6" name="s12-action">
            <a:extLst xmlns:a="http://schemas.openxmlformats.org/drawingml/2006/main">
              <a:ext uri="{FF2B5EF4-FFF2-40B4-BE49-F238E27FC236}">
                <a16:creationId xmlns:a16="http://schemas.microsoft.com/office/drawing/2014/main" id="{E340E1FE-F4A4-4130-AA39-25441AD9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572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12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GOOD FOOD  →  FURTHER</a:t>
            </a:r>
          </a:p>
        </p:txBody>
      </p:sp>
      <p:sp>
        <p:nvSpPr>
          <p:cNvPr id="7" name="route-ring-12-858">
            <a:extLst xmlns:a="http://schemas.openxmlformats.org/drawingml/2006/main">
              <a:ext uri="{FF2B5EF4-FFF2-40B4-BE49-F238E27FC236}">
                <a16:creationId xmlns:a16="http://schemas.microsoft.com/office/drawing/2014/main" id="{FCD49E4D-836E-4274-91B1-B4EF5C95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762125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3820">
            <a:solidFill>
              <a:srgbClr val="10211A"/>
            </a:solidFill>
            <a:prstDash val="solid"/>
          </a:ln>
        </p:spPr>
      </p:sp>
      <p:sp>
        <p:nvSpPr>
          <p:cNvPr id="8" name="route-gap-12-858">
            <a:extLst xmlns:a="http://schemas.openxmlformats.org/drawingml/2006/main">
              <a:ext uri="{FF2B5EF4-FFF2-40B4-BE49-F238E27FC236}">
                <a16:creationId xmlns:a16="http://schemas.microsoft.com/office/drawing/2014/main" id="{C2D436D0-283C-4F83-89A3-96BDB92D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8096250" y="1811655"/>
            <a:ext cx="7429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ute-turn-a-12-858">
            <a:extLst xmlns:a="http://schemas.openxmlformats.org/drawingml/2006/main">
              <a:ext uri="{FF2B5EF4-FFF2-40B4-BE49-F238E27FC236}">
                <a16:creationId xmlns:a16="http://schemas.microsoft.com/office/drawing/2014/main" id="{0A66BFB1-F98D-414F-A3BA-BB095BD2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0379" y="1880054"/>
            <a:ext cx="0" cy="595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820">
            <a:solidFill>
              <a:srgbClr val="10211A"/>
            </a:solidFill>
            <a:prstDash val="solid"/>
          </a:ln>
        </p:spPr>
      </p:sp>
      <p:sp>
        <p:nvSpPr>
          <p:cNvPr id="10" name="route-turn-b-12-858">
            <a:extLst xmlns:a="http://schemas.openxmlformats.org/drawingml/2006/main">
              <a:ext uri="{FF2B5EF4-FFF2-40B4-BE49-F238E27FC236}">
                <a16:creationId xmlns:a16="http://schemas.microsoft.com/office/drawing/2014/main" id="{8974A484-A6B5-4848-8CF8-4C45A07E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0379" y="1880054"/>
            <a:ext cx="5955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820">
            <a:solidFill>
              <a:srgbClr val="10211A"/>
            </a:solidFill>
            <a:prstDash val="solid"/>
          </a:ln>
        </p:spPr>
      </p:sp>
      <p:sp>
        <p:nvSpPr>
          <p:cNvPr id="11" name="route-node-a-12-858">
            <a:extLst xmlns:a="http://schemas.openxmlformats.org/drawingml/2006/main">
              <a:ext uri="{FF2B5EF4-FFF2-40B4-BE49-F238E27FC236}">
                <a16:creationId xmlns:a16="http://schemas.microsoft.com/office/drawing/2014/main" id="{9294D6A1-8F87-4952-98C1-782557F7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3181" y="2306956"/>
            <a:ext cx="297180" cy="297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B40"/>
          </a:solidFill>
          <a:ln xmlns:a="http://schemas.openxmlformats.org/drawingml/2006/main" w="28232">
            <a:solidFill>
              <a:srgbClr val="10211A"/>
            </a:solidFill>
            <a:prstDash val="solid"/>
          </a:ln>
        </p:spPr>
      </p:sp>
      <p:sp>
        <p:nvSpPr>
          <p:cNvPr id="12" name="route-node-b-12-858">
            <a:extLst xmlns:a="http://schemas.openxmlformats.org/drawingml/2006/main">
              <a:ext uri="{FF2B5EF4-FFF2-40B4-BE49-F238E27FC236}">
                <a16:creationId xmlns:a16="http://schemas.microsoft.com/office/drawing/2014/main" id="{E166BF51-B5C3-4870-A01C-CE271C9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7411" y="3891915"/>
            <a:ext cx="297180" cy="297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DCCB"/>
          </a:solidFill>
          <a:ln xmlns:a="http://schemas.openxmlformats.org/drawingml/2006/main" w="28232">
            <a:solidFill>
              <a:srgbClr val="10211A"/>
            </a:solidFill>
            <a:prstDash val="solid"/>
          </a:ln>
        </p:spPr>
      </p:sp>
      <p:sp>
        <p:nvSpPr>
          <p:cNvPr id="13" name="route-node-c-12-858">
            <a:extLst xmlns:a="http://schemas.openxmlformats.org/drawingml/2006/main">
              <a:ext uri="{FF2B5EF4-FFF2-40B4-BE49-F238E27FC236}">
                <a16:creationId xmlns:a16="http://schemas.microsoft.com/office/drawing/2014/main" id="{B4083AFA-EB0E-4B83-ABE9-2803D778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2921" y="3248026"/>
            <a:ext cx="297180" cy="297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28232">
            <a:solidFill>
              <a:srgbClr val="10211A"/>
            </a:solidFill>
            <a:prstDash val="solid"/>
          </a:ln>
        </p:spPr>
      </p:sp>
      <p:sp>
        <p:nvSpPr>
          <p:cNvPr id="14" name="s12-concept">
            <a:extLst xmlns:a="http://schemas.openxmlformats.org/drawingml/2006/main">
              <a:ext uri="{FF2B5EF4-FFF2-40B4-BE49-F238E27FC236}">
                <a16:creationId xmlns:a16="http://schemas.microsoft.com/office/drawing/2014/main" id="{937E262E-3151-41B9-B83C-B8616C9E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52578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825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LOOPLINE IS A FICTIONAL PORTFOLIO CONCEPT</a:t>
            </a:r>
          </a:p>
        </p:txBody>
      </p:sp>
      <p:sp>
        <p:nvSpPr>
          <p:cNvPr id="15" name="s12-designer">
            <a:extLst xmlns:a="http://schemas.openxmlformats.org/drawingml/2006/main">
              <a:ext uri="{FF2B5EF4-FFF2-40B4-BE49-F238E27FC236}">
                <a16:creationId xmlns:a16="http://schemas.microsoft.com/office/drawing/2014/main" id="{90C89541-4DEF-4B24-BA24-BCD3976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55245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defRPr>
            </a:pPr>
            <a:r>
              <a:rPr sz="900" b="1" i="0">
                <a:solidFill>
                  <a:srgbClr val="10211A"/>
                </a:solidFill>
                <a:latin typeface="Aptos Mono"/>
                <a:ea typeface="Aptos Mono"/>
                <a:cs typeface="Aptos Mono"/>
              </a:rPr>
              <a:t>DESIGNED BY JOCELYN MARTINEZ</a:t>
            </a:r>
          </a:p>
        </p:txBody>
      </p:sp>
    </p:spTree>
    <p:extLst>
      <p:ext uri="{BB962C8B-B14F-4D97-AF65-F5344CB8AC3E}">
        <p14:creationId xmlns:p14="http://schemas.microsoft.com/office/powerpoint/2010/main" val="614827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2026-07-30T20:10:58.1940000Z</dcterms:created>
  <dcterms:modified xsi:type="dcterms:W3CDTF">2026-07-30T20:10:58.1940000Z</dcterms:modified>
</coreProperties>
</file>